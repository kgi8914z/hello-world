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2834"/>
                </a:solidFill>
                <a:latin typeface="Arial"/>
              </a:defRPr>
            </a:pPr>
            <a:r>
              <a:rPr sz="1300" b="0" i="0" u="none" strike="noStrike">
                <a:solidFill>
                  <a:srgbClr val="232834"/>
                </a:solidFill>
                <a:latin typeface="Arial"/>
              </a:rPr>
              <a:t>다이 면적 vs. 수율 (Murphy 모델)</a:t>
            </a:r>
          </a:p>
        </c:rich>
      </c:tx>
      <c:layout/>
      <c:overlay val="0"/>
    </c:title>
    <c:autoTitleDeleted val="0"/>
    <c:plotArea>
      <c:layout/>
      <c:lineChart>
        <c:varyColors val="0"/>
        <c:ser>
          <c:idx val="0"/>
          <c:order val="0"/>
          <c:tx>
            <c:strRef>
              <c:f>Sheet1!$B$1</c:f>
              <c:strCache>
                <c:ptCount val="1"/>
                <c:pt idx="0">
                  <c:v>D₀ = 0.07 /cm²</c:v>
                </c:pt>
              </c:strCache>
            </c:strRef>
          </c:tx>
          <c:spPr>
            <a:solidFill>
              <a:srgbClr val="B25A22"/>
            </a:solidFill>
            <a:ln w="38100" cap="flat">
              <a:solidFill>
                <a:srgbClr val="B25A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25A22"/>
              </a:solidFill>
              <a:ln w="9525" cap="flat">
                <a:solidFill>
                  <a:srgbClr val="B25A22"/>
                </a:solidFill>
                <a:prstDash val="solid"/>
                <a:round/>
              </a:ln>
              <a:effectLst/>
            </c:spPr>
          </c:marker>
          <c:cat>
            <c:multiLvlStrRef>
              <c:f>Sheet1!$A$2:$A$10</c:f>
              <c:multiLvlStrCache>
                <c:ptCount val="9"/>
                <c:lvl>
                  <c:pt idx="0">
                    <c:v>50</c:v>
                  </c:pt>
                  <c:pt idx="1">
                    <c:v>100</c:v>
                  </c:pt>
                  <c:pt idx="2">
                    <c:v>200</c:v>
                  </c:pt>
                  <c:pt idx="3">
                    <c:v>300</c:v>
                  </c:pt>
                  <c:pt idx="4">
                    <c:v>400</c:v>
                  </c:pt>
                  <c:pt idx="5">
                    <c:v>500</c:v>
                  </c:pt>
                  <c:pt idx="6">
                    <c:v>600</c:v>
                  </c:pt>
                  <c:pt idx="7">
                    <c:v>700</c:v>
                  </c:pt>
                  <c:pt idx="8">
                    <c:v>858</c:v>
                  </c:pt>
                </c:lvl>
              </c:multiLvlStrCache>
            </c:multiLvlStrRef>
          </c:cat>
          <c:val>
            <c:numRef>
              <c:f>Sheet1!$B$2:$B$10</c:f>
              <c:numCache>
                <c:formatCode>General</c:formatCode>
                <c:ptCount val="9"/>
                <c:pt idx="0">
                  <c:v>96.6</c:v>
                </c:pt>
                <c:pt idx="1">
                  <c:v>93.3</c:v>
                </c:pt>
                <c:pt idx="2">
                  <c:v>87.1</c:v>
                </c:pt>
                <c:pt idx="3">
                  <c:v>81.4</c:v>
                </c:pt>
                <c:pt idx="4">
                  <c:v>76.1</c:v>
                </c:pt>
                <c:pt idx="5">
                  <c:v>71.2</c:v>
                </c:pt>
                <c:pt idx="6">
                  <c:v>66.7</c:v>
                </c:pt>
                <c:pt idx="7">
                  <c:v>62.5</c:v>
                </c:pt>
                <c:pt idx="8">
                  <c:v>56.5</c:v>
                </c:pt>
              </c:numCache>
            </c:numRef>
          </c:val>
          <c:smooth val="1"/>
        </c:ser>
        <c:ser>
          <c:idx val="1"/>
          <c:order val="1"/>
          <c:tx>
            <c:strRef>
              <c:f>Sheet1!$C$1</c:f>
              <c:strCache>
                <c:ptCount val="1"/>
                <c:pt idx="0">
                  <c:v>D₀ = 0.15 /cm²</c:v>
                </c:pt>
              </c:strCache>
            </c:strRef>
          </c:tx>
          <c:spPr>
            <a:solidFill>
              <a:srgbClr val="7C97A6"/>
            </a:solidFill>
            <a:ln w="38100" cap="flat">
              <a:solidFill>
                <a:srgbClr val="7C97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C97A6"/>
              </a:solidFill>
              <a:ln w="9525" cap="flat">
                <a:solidFill>
                  <a:srgbClr val="7C97A6"/>
                </a:solidFill>
                <a:prstDash val="solid"/>
                <a:round/>
              </a:ln>
              <a:effectLst/>
            </c:spPr>
          </c:marker>
          <c:cat>
            <c:multiLvlStrRef>
              <c:f>Sheet1!$A$2:$A$10</c:f>
              <c:multiLvlStrCache>
                <c:ptCount val="9"/>
                <c:lvl>
                  <c:pt idx="0">
                    <c:v>50</c:v>
                  </c:pt>
                  <c:pt idx="1">
                    <c:v>100</c:v>
                  </c:pt>
                  <c:pt idx="2">
                    <c:v>200</c:v>
                  </c:pt>
                  <c:pt idx="3">
                    <c:v>300</c:v>
                  </c:pt>
                  <c:pt idx="4">
                    <c:v>400</c:v>
                  </c:pt>
                  <c:pt idx="5">
                    <c:v>500</c:v>
                  </c:pt>
                  <c:pt idx="6">
                    <c:v>600</c:v>
                  </c:pt>
                  <c:pt idx="7">
                    <c:v>700</c:v>
                  </c:pt>
                  <c:pt idx="8">
                    <c:v>858</c:v>
                  </c:pt>
                </c:lvl>
              </c:multiLvlStrCache>
            </c:multiLvlStrRef>
          </c:cat>
          <c:val>
            <c:numRef>
              <c:f>Sheet1!$C$2:$C$10</c:f>
              <c:numCache>
                <c:formatCode>General</c:formatCode>
                <c:ptCount val="9"/>
                <c:pt idx="0">
                  <c:v>92.8</c:v>
                </c:pt>
                <c:pt idx="1">
                  <c:v>86.2</c:v>
                </c:pt>
                <c:pt idx="2">
                  <c:v>74.6</c:v>
                </c:pt>
                <c:pt idx="3">
                  <c:v>64.8</c:v>
                </c:pt>
                <c:pt idx="4">
                  <c:v>56.5</c:v>
                </c:pt>
                <c:pt idx="5">
                  <c:v>49.5</c:v>
                </c:pt>
                <c:pt idx="6">
                  <c:v>43.5</c:v>
                </c:pt>
                <c:pt idx="7">
                  <c:v>38.3</c:v>
                </c:pt>
                <c:pt idx="8">
                  <c:v>31.6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B7381"/>
                    </a:solidFill>
                    <a:latin typeface="Arial"/>
                  </a:defRPr>
                </a:pPr>
                <a:r>
                  <a:rPr sz="1000" b="0" i="0" u="none" strike="noStrike">
                    <a:solidFill>
                      <a:srgbClr val="6B7381"/>
                    </a:solidFill>
                    <a:latin typeface="Arial"/>
                  </a:rPr>
                  <a:t>다이 면적 (mm²)</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381"/>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4E7EC"/>
              </a:solidFill>
              <a:prstDash val="solid"/>
              <a:round/>
            </a:ln>
          </c:spPr>
        </c:majorGridlines>
        <c:title>
          <c:tx>
            <c:rich>
              <a:bodyPr/>
              <a:lstStyle/>
              <a:p>
                <a:pPr>
                  <a:defRPr sz="1000" b="0" i="0" u="none" strike="noStrike">
                    <a:solidFill>
                      <a:srgbClr val="6B7381"/>
                    </a:solidFill>
                    <a:latin typeface="Arial"/>
                  </a:defRPr>
                </a:pPr>
                <a:r>
                  <a:rPr sz="1000" b="0" i="0" u="none" strike="noStrike">
                    <a:solidFill>
                      <a:srgbClr val="6B7381"/>
                    </a:solidFill>
                    <a:latin typeface="Arial"/>
                  </a:rPr>
                  <a:t>수율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38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38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발표는 칩렛을 '왜 하게 되었는가 → 무엇인가 → 무엇을 얻고 잃는가 → 어떻게 붙이는가 → 실제 사례 → 남은 과제' 순서로 다룹니다. 표지 그림은 전형적인 2.5D 패키지 단면으로, 뒤에서 나오는 모든 용어(다이, 마이크로범프, 인터포저, TSV, C4, 기판)가 여기 다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논지: 다이를 키워서 성능을 올리는 길이 세 방향에서 동시에 막혔다. (1) 레티클이라는 물리적 상한, (2) 면적에 지수적으로 반응하는 수율, (3) 선단 노드의 mm²당 원가. Murphy 모델 Y = ((1-e^-AD)/AD)². 800 mm² 다이 하나 대신 100 mm² 다이 8개로 쪼개면 웨이퍼당 양품 실리콘 면적이 크게 늘어난다. 여기에 더해 SRAM과 아날로그/IO는 노드를 내려도 면적이 거의 안 줄기 때문에, 이들을 선단 노드에 태울 이유가 없다는 점이 칩렛의 두 번째 동기다.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칩렛은 '작게 만든 칩'이 아니라 '패키지 안에서 재조립하는 설계 방법론'입니다. 분할 경계를 어디에 두느냐가 설계의 핵심 — 대역폭 요구가 낮고 지연에 둔감한 경계를 찾아야 합니다. 통상 코어/캐시 사이보다는 코어 클러스터와 I/O 사이, 혹은 메모리 컨트롤러 앞단이 분할선이 됩니다. 오른쪽 그림처럼 노드를 섞는 것(이종 집적, heterogeneous integration)이 칩렛의 가장 큰 실익입니다.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 중 실무에서 가장 크게 체감되는 것은 '이종 집적'과 '제품 파생'입니다. 수율 이득은 다이가 충분히 클 때만 유의미하고, 작은 다이를 더 쪼개면 인터커넥트 오버헤드가 이득을 잡아먹습니다. AMD가 하나의 CCD 설계로 데스크톱부터 96코어 서버까지 커버한 것이 파생 효과의 대표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 판단의 실질적 기준: 경계를 넘는 대역폭 × pJ/bit 가 감당 가능한 전력 예산 안에 들어오는가. 코어와 L2 사이처럼 대역폭이 수십 TB/s인 경계는 절대 쪼갤 수 없고, 코어 클러스터와 메모리 컨트롤러 사이처럼 수 TB/s 수준이면 검토 대상이 됩니다. 수율 항목의 Yᴺ은 다이 N개가 모두 양품이어야 패키지가 살아남는다는 뜻으로, KGD 선별 정확도가 곧 패키지 수율입니다.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범프 피치가 이 슬라이드의 축입니다. 피치가 절반이 되면 단위 길이당 배선 수는 2배, 단위 면적당은 4배가 됩니다. 2D 유기 기판(~130 µm)에서 하이브리드 본딩(&lt;10 µm)까지 한 자릿수 이상 차이가 나고, 이것이 다음 장 UCIe 표준 패키지 / 어드밴스드 패키지 구분의 물리적 근거입니다. EMIB는 인터포저 전면을 실리콘으로 깔지 않고 필요한 구간만 브리지로 처리해 대면적 인터포저의 원가와 휨(warpage) 문제를 피하는 접근입니다. 하이브리드 본딩은 표면 평탄도(CMP)와 접합 정렬 정밀도, 그리고 적층 시 열 배출이 핵심 난제입니다.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UCIe의 의의는 물리 계층뿐 아니라 프로토콜(PCIe/CXL)과 어댑터 계층까지 한 번에 규정해 서로 다른 벤더의 다이가 실제로 상호운용될 수 있는 길을 열었다는 점입니다. 표준 패키지와 어드밴스드 패키지의 성능 차이는 결국 앞 장의 범프 피치에서 옵니다 — 피치가 좁으면 같은 다이 엣지 길이에 더 많은 레인을 넣을 수 있으므로 대역폭 밀도가 자릿수로 벌어집니다. UCIe 2.0에서 3D 본딩 프로파일과 시스템 관리(DFx) 아키텍처가 추가되었고, 3.0에서 레인당 데이터율이 48 GT/s로 확장되었습니다.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사례의 성격이 다릅니다. AMD는 원가와 SKU 파생이 동기(유기 기판 2D로 시작), NVIDIA와 Apple은 레티클 한계 돌파가 동기(고급 패키징 필수), Intel은 이종 공정 혼합이 동기입니다. 동기가 다르면 선택하는 패키징도 달라진다는 점이 요지입니다 — AMD EPYC은 대역폭 요구가 상대적으로 낮은 경계를 골랐기 때문에 값싼 유기 기판으로 충분했고, Apple UltraFusion은 다이 경계가 메모리 대역폭 경로에 걸리므로 실리콘 인터포저가 불가피했습니다.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과제 중 기술적으로 가장 급한 것은 열이고, 산업 전체로 가장 오래 걸릴 것은 상호운용성입니다. 현재 양산되는 칩렛은 사실상 전부 '한 회사가 자기 다이를 쪼갠 것'이며, 서로 다른 벤더의 다이를 사서 조립하는 진짜 칩렛 마켓플레이스는 아직 없습니다. 표준이 필요조건이지만 충분조건은 아니라는 점을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메시지: 칩렛은 미세화의 대안이 아니라 보완재입니다. 트랜지스터 밀도 개선이 느려진 만큼을 '같은 패키지 안에 실리콘을 더 많이, 더 싸게 넣는 것'으로 벌충하는 접근이고, 그래서 패키징 기술과 D2D 인터커넥트 효율이 앞으로 성능 경쟁의 축이 됩니다. 질의응답에서 나올 만한 것: 분할 기준, 열 문제, UCIe 실제 채택 현황, 칩렛 마켓플레이스 실현 가능성.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822960" y="2057400"/>
            <a:ext cx="6035040" cy="274320"/>
          </a:xfrm>
          <a:prstGeom prst="rect">
            <a:avLst/>
          </a:prstGeom>
          <a:noFill/>
          <a:ln/>
        </p:spPr>
        <p:txBody>
          <a:bodyPr wrap="square" lIns="0" tIns="0" rIns="0" bIns="0" rtlCol="0" anchor="ctr"/>
          <a:lstStyle/>
          <a:p>
            <a:pPr indent="0" marL="0">
              <a:buNone/>
            </a:pPr>
            <a:r>
              <a:rPr lang="en-US" sz="1200" b="1" spc="340" kern="0" dirty="0">
                <a:solidFill>
                  <a:srgbClr val="E09A5F"/>
                </a:solidFill>
                <a:latin typeface="Arial" pitchFamily="34" charset="0"/>
                <a:ea typeface="Arial" pitchFamily="34" charset="-122"/>
                <a:cs typeface="Arial" pitchFamily="34" charset="-120"/>
              </a:rPr>
              <a:t>CHIPLET TECHNOLOGY OVERVIEW</a:t>
            </a:r>
            <a:endParaRPr lang="en-US" sz="1200" dirty="0"/>
          </a:p>
        </p:txBody>
      </p:sp>
      <p:sp>
        <p:nvSpPr>
          <p:cNvPr id="3" name="Text 1"/>
          <p:cNvSpPr/>
          <p:nvPr/>
        </p:nvSpPr>
        <p:spPr>
          <a:xfrm>
            <a:off x="822960" y="2386584"/>
            <a:ext cx="6035040" cy="7772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칩렛 기술 개요</a:t>
            </a:r>
            <a:endParaRPr lang="en-US" sz="4400" dirty="0"/>
          </a:p>
        </p:txBody>
      </p:sp>
      <p:sp>
        <p:nvSpPr>
          <p:cNvPr id="4" name="Text 2"/>
          <p:cNvSpPr/>
          <p:nvPr/>
        </p:nvSpPr>
        <p:spPr>
          <a:xfrm>
            <a:off x="822960" y="3246120"/>
            <a:ext cx="6035040" cy="365760"/>
          </a:xfrm>
          <a:prstGeom prst="rect">
            <a:avLst/>
          </a:prstGeom>
          <a:noFill/>
          <a:ln/>
        </p:spPr>
        <p:txBody>
          <a:bodyPr wrap="square" lIns="0" tIns="0" rIns="0" bIns="0" rtlCol="0" anchor="ctr"/>
          <a:lstStyle/>
          <a:p>
            <a:pPr indent="0" marL="0">
              <a:buNone/>
            </a:pPr>
            <a:r>
              <a:rPr lang="en-US" sz="1700" dirty="0">
                <a:solidFill>
                  <a:srgbClr val="E7EAF0"/>
                </a:solidFill>
                <a:latin typeface="Calibri" pitchFamily="34" charset="0"/>
                <a:ea typeface="Calibri" pitchFamily="34" charset="-122"/>
                <a:cs typeface="Calibri" pitchFamily="34" charset="-120"/>
              </a:rPr>
              <a:t>모놀리식 SoC의 한계와 분할 다이 · 어드밴스드 패키징</a:t>
            </a:r>
            <a:endParaRPr lang="en-US" sz="1700" dirty="0"/>
          </a:p>
        </p:txBody>
      </p:sp>
      <p:sp>
        <p:nvSpPr>
          <p:cNvPr id="5" name="Text 3"/>
          <p:cNvSpPr/>
          <p:nvPr/>
        </p:nvSpPr>
        <p:spPr>
          <a:xfrm>
            <a:off x="822960" y="3630168"/>
            <a:ext cx="6035040" cy="320040"/>
          </a:xfrm>
          <a:prstGeom prst="rect">
            <a:avLst/>
          </a:prstGeom>
          <a:noFill/>
          <a:ln/>
        </p:spPr>
        <p:txBody>
          <a:bodyPr wrap="square" lIns="0" tIns="0" rIns="0" bIns="0" rtlCol="0" anchor="ctr"/>
          <a:lstStyle/>
          <a:p>
            <a:pPr indent="0" marL="0">
              <a:buNone/>
            </a:pPr>
            <a:r>
              <a:rPr lang="en-US" sz="1250" i="1" dirty="0">
                <a:solidFill>
                  <a:srgbClr val="97A0B0"/>
                </a:solidFill>
                <a:latin typeface="Calibri" pitchFamily="34" charset="0"/>
                <a:ea typeface="Calibri" pitchFamily="34" charset="-122"/>
                <a:cs typeface="Calibri" pitchFamily="34" charset="-120"/>
              </a:rPr>
              <a:t>Beyond the Monolithic SoC — Disaggregated Dies and Advanced Packaging</a:t>
            </a:r>
            <a:endParaRPr lang="en-US" sz="1250" dirty="0"/>
          </a:p>
        </p:txBody>
      </p:sp>
      <p:sp>
        <p:nvSpPr>
          <p:cNvPr id="6" name="Shape 4"/>
          <p:cNvSpPr/>
          <p:nvPr/>
        </p:nvSpPr>
        <p:spPr>
          <a:xfrm>
            <a:off x="822960" y="4389120"/>
            <a:ext cx="164592" cy="164592"/>
          </a:xfrm>
          <a:prstGeom prst="roundRect">
            <a:avLst>
              <a:gd name="adj" fmla="val 111111"/>
            </a:avLst>
          </a:prstGeom>
          <a:solidFill>
            <a:srgbClr val="B25A22"/>
          </a:solidFill>
          <a:ln w="12700">
            <a:solidFill>
              <a:srgbClr val="B25A22"/>
            </a:solidFill>
            <a:prstDash val="solid"/>
          </a:ln>
        </p:spPr>
      </p:sp>
      <p:sp>
        <p:nvSpPr>
          <p:cNvPr id="7" name="Text 5"/>
          <p:cNvSpPr/>
          <p:nvPr/>
        </p:nvSpPr>
        <p:spPr>
          <a:xfrm>
            <a:off x="1115568" y="4306824"/>
            <a:ext cx="5760720" cy="292608"/>
          </a:xfrm>
          <a:prstGeom prst="rect">
            <a:avLst/>
          </a:prstGeom>
          <a:noFill/>
          <a:ln/>
        </p:spPr>
        <p:txBody>
          <a:bodyPr wrap="square" lIns="0" tIns="0" rIns="0" bIns="0" rtlCol="0" anchor="ctr"/>
          <a:lstStyle/>
          <a:p>
            <a:pPr indent="0" marL="0">
              <a:buNone/>
            </a:pPr>
            <a:r>
              <a:rPr lang="en-US" sz="1200" dirty="0">
                <a:solidFill>
                  <a:srgbClr val="97A0B0"/>
                </a:solidFill>
                <a:latin typeface="Calibri" pitchFamily="34" charset="0"/>
                <a:ea typeface="Calibri" pitchFamily="34" charset="-122"/>
                <a:cs typeface="Calibri" pitchFamily="34" charset="-120"/>
              </a:rPr>
              <a:t>대상: 반도체 설계 · 패키징 엔지니어    |    2026. 08</a:t>
            </a:r>
            <a:endParaRPr lang="en-US" sz="1200" dirty="0"/>
          </a:p>
        </p:txBody>
      </p:sp>
      <p:sp>
        <p:nvSpPr>
          <p:cNvPr id="8" name="Shape 6"/>
          <p:cNvSpPr/>
          <p:nvPr/>
        </p:nvSpPr>
        <p:spPr>
          <a:xfrm>
            <a:off x="7196328" y="2852928"/>
            <a:ext cx="1298448" cy="603504"/>
          </a:xfrm>
          <a:prstGeom prst="roundRect">
            <a:avLst>
              <a:gd name="adj" fmla="val 18182"/>
            </a:avLst>
          </a:prstGeom>
          <a:solidFill>
            <a:srgbClr val="B25A22"/>
          </a:solidFill>
          <a:ln w="9525">
            <a:solidFill>
              <a:srgbClr val="FFFFFF"/>
            </a:solidFill>
            <a:prstDash val="solid"/>
          </a:ln>
        </p:spPr>
      </p:sp>
      <p:sp>
        <p:nvSpPr>
          <p:cNvPr id="9" name="Text 7"/>
          <p:cNvSpPr/>
          <p:nvPr/>
        </p:nvSpPr>
        <p:spPr>
          <a:xfrm>
            <a:off x="7196328" y="2852928"/>
            <a:ext cx="1298448" cy="60350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CPU</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N3</a:t>
            </a:r>
            <a:endParaRPr lang="en-US" sz="800" dirty="0"/>
          </a:p>
        </p:txBody>
      </p:sp>
      <p:sp>
        <p:nvSpPr>
          <p:cNvPr id="10" name="Shape 8"/>
          <p:cNvSpPr/>
          <p:nvPr/>
        </p:nvSpPr>
        <p:spPr>
          <a:xfrm>
            <a:off x="7254784" y="3474720"/>
            <a:ext cx="68580" cy="68580"/>
          </a:xfrm>
          <a:prstGeom prst="ellipse">
            <a:avLst/>
          </a:prstGeom>
          <a:solidFill>
            <a:srgbClr val="E09A5F"/>
          </a:solidFill>
          <a:ln w="12700">
            <a:solidFill>
              <a:srgbClr val="E09A5F"/>
            </a:solidFill>
            <a:prstDash val="solid"/>
          </a:ln>
        </p:spPr>
      </p:sp>
      <p:sp>
        <p:nvSpPr>
          <p:cNvPr id="11" name="Shape 9"/>
          <p:cNvSpPr/>
          <p:nvPr/>
        </p:nvSpPr>
        <p:spPr>
          <a:xfrm>
            <a:off x="7440277" y="3474720"/>
            <a:ext cx="68580" cy="68580"/>
          </a:xfrm>
          <a:prstGeom prst="ellipse">
            <a:avLst/>
          </a:prstGeom>
          <a:solidFill>
            <a:srgbClr val="E09A5F"/>
          </a:solidFill>
          <a:ln w="12700">
            <a:solidFill>
              <a:srgbClr val="E09A5F"/>
            </a:solidFill>
            <a:prstDash val="solid"/>
          </a:ln>
        </p:spPr>
      </p:sp>
      <p:sp>
        <p:nvSpPr>
          <p:cNvPr id="12" name="Shape 10"/>
          <p:cNvSpPr/>
          <p:nvPr/>
        </p:nvSpPr>
        <p:spPr>
          <a:xfrm>
            <a:off x="7625769" y="3474720"/>
            <a:ext cx="68580" cy="68580"/>
          </a:xfrm>
          <a:prstGeom prst="ellipse">
            <a:avLst/>
          </a:prstGeom>
          <a:solidFill>
            <a:srgbClr val="E09A5F"/>
          </a:solidFill>
          <a:ln w="12700">
            <a:solidFill>
              <a:srgbClr val="E09A5F"/>
            </a:solidFill>
            <a:prstDash val="solid"/>
          </a:ln>
        </p:spPr>
      </p:sp>
      <p:sp>
        <p:nvSpPr>
          <p:cNvPr id="13" name="Shape 11"/>
          <p:cNvSpPr/>
          <p:nvPr/>
        </p:nvSpPr>
        <p:spPr>
          <a:xfrm>
            <a:off x="7811262" y="3474720"/>
            <a:ext cx="68580" cy="68580"/>
          </a:xfrm>
          <a:prstGeom prst="ellipse">
            <a:avLst/>
          </a:prstGeom>
          <a:solidFill>
            <a:srgbClr val="E09A5F"/>
          </a:solidFill>
          <a:ln w="12700">
            <a:solidFill>
              <a:srgbClr val="E09A5F"/>
            </a:solidFill>
            <a:prstDash val="solid"/>
          </a:ln>
        </p:spPr>
      </p:sp>
      <p:sp>
        <p:nvSpPr>
          <p:cNvPr id="14" name="Shape 12"/>
          <p:cNvSpPr/>
          <p:nvPr/>
        </p:nvSpPr>
        <p:spPr>
          <a:xfrm>
            <a:off x="7996755" y="3474720"/>
            <a:ext cx="68580" cy="68580"/>
          </a:xfrm>
          <a:prstGeom prst="ellipse">
            <a:avLst/>
          </a:prstGeom>
          <a:solidFill>
            <a:srgbClr val="E09A5F"/>
          </a:solidFill>
          <a:ln w="12700">
            <a:solidFill>
              <a:srgbClr val="E09A5F"/>
            </a:solidFill>
            <a:prstDash val="solid"/>
          </a:ln>
        </p:spPr>
      </p:sp>
      <p:sp>
        <p:nvSpPr>
          <p:cNvPr id="15" name="Shape 13"/>
          <p:cNvSpPr/>
          <p:nvPr/>
        </p:nvSpPr>
        <p:spPr>
          <a:xfrm>
            <a:off x="8182247" y="3474720"/>
            <a:ext cx="68580" cy="68580"/>
          </a:xfrm>
          <a:prstGeom prst="ellipse">
            <a:avLst/>
          </a:prstGeom>
          <a:solidFill>
            <a:srgbClr val="E09A5F"/>
          </a:solidFill>
          <a:ln w="12700">
            <a:solidFill>
              <a:srgbClr val="E09A5F"/>
            </a:solidFill>
            <a:prstDash val="solid"/>
          </a:ln>
        </p:spPr>
      </p:sp>
      <p:sp>
        <p:nvSpPr>
          <p:cNvPr id="16" name="Shape 14"/>
          <p:cNvSpPr/>
          <p:nvPr/>
        </p:nvSpPr>
        <p:spPr>
          <a:xfrm>
            <a:off x="8367740" y="3474720"/>
            <a:ext cx="68580" cy="68580"/>
          </a:xfrm>
          <a:prstGeom prst="ellipse">
            <a:avLst/>
          </a:prstGeom>
          <a:solidFill>
            <a:srgbClr val="E09A5F"/>
          </a:solidFill>
          <a:ln w="12700">
            <a:solidFill>
              <a:srgbClr val="E09A5F"/>
            </a:solidFill>
            <a:prstDash val="solid"/>
          </a:ln>
        </p:spPr>
      </p:sp>
      <p:sp>
        <p:nvSpPr>
          <p:cNvPr id="17" name="Shape 15"/>
          <p:cNvSpPr/>
          <p:nvPr/>
        </p:nvSpPr>
        <p:spPr>
          <a:xfrm>
            <a:off x="8714232" y="2852928"/>
            <a:ext cx="1298448" cy="603504"/>
          </a:xfrm>
          <a:prstGeom prst="roundRect">
            <a:avLst>
              <a:gd name="adj" fmla="val 18182"/>
            </a:avLst>
          </a:prstGeom>
          <a:solidFill>
            <a:srgbClr val="3F5A6B"/>
          </a:solidFill>
          <a:ln w="9525">
            <a:solidFill>
              <a:srgbClr val="FFFFFF"/>
            </a:solidFill>
            <a:prstDash val="solid"/>
          </a:ln>
        </p:spPr>
      </p:sp>
      <p:sp>
        <p:nvSpPr>
          <p:cNvPr id="18" name="Text 16"/>
          <p:cNvSpPr/>
          <p:nvPr/>
        </p:nvSpPr>
        <p:spPr>
          <a:xfrm>
            <a:off x="8714232" y="2852928"/>
            <a:ext cx="1298448" cy="60350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GPU</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N3</a:t>
            </a:r>
            <a:endParaRPr lang="en-US" sz="800" dirty="0"/>
          </a:p>
        </p:txBody>
      </p:sp>
      <p:sp>
        <p:nvSpPr>
          <p:cNvPr id="19" name="Shape 17"/>
          <p:cNvSpPr/>
          <p:nvPr/>
        </p:nvSpPr>
        <p:spPr>
          <a:xfrm>
            <a:off x="8772688" y="3474720"/>
            <a:ext cx="68580" cy="68580"/>
          </a:xfrm>
          <a:prstGeom prst="ellipse">
            <a:avLst/>
          </a:prstGeom>
          <a:solidFill>
            <a:srgbClr val="E09A5F"/>
          </a:solidFill>
          <a:ln w="12700">
            <a:solidFill>
              <a:srgbClr val="E09A5F"/>
            </a:solidFill>
            <a:prstDash val="solid"/>
          </a:ln>
        </p:spPr>
      </p:sp>
      <p:sp>
        <p:nvSpPr>
          <p:cNvPr id="20" name="Shape 18"/>
          <p:cNvSpPr/>
          <p:nvPr/>
        </p:nvSpPr>
        <p:spPr>
          <a:xfrm>
            <a:off x="8958181" y="3474720"/>
            <a:ext cx="68580" cy="68580"/>
          </a:xfrm>
          <a:prstGeom prst="ellipse">
            <a:avLst/>
          </a:prstGeom>
          <a:solidFill>
            <a:srgbClr val="E09A5F"/>
          </a:solidFill>
          <a:ln w="12700">
            <a:solidFill>
              <a:srgbClr val="E09A5F"/>
            </a:solidFill>
            <a:prstDash val="solid"/>
          </a:ln>
        </p:spPr>
      </p:sp>
      <p:sp>
        <p:nvSpPr>
          <p:cNvPr id="21" name="Shape 19"/>
          <p:cNvSpPr/>
          <p:nvPr/>
        </p:nvSpPr>
        <p:spPr>
          <a:xfrm>
            <a:off x="9143673" y="3474720"/>
            <a:ext cx="68580" cy="68580"/>
          </a:xfrm>
          <a:prstGeom prst="ellipse">
            <a:avLst/>
          </a:prstGeom>
          <a:solidFill>
            <a:srgbClr val="E09A5F"/>
          </a:solidFill>
          <a:ln w="12700">
            <a:solidFill>
              <a:srgbClr val="E09A5F"/>
            </a:solidFill>
            <a:prstDash val="solid"/>
          </a:ln>
        </p:spPr>
      </p:sp>
      <p:sp>
        <p:nvSpPr>
          <p:cNvPr id="22" name="Shape 20"/>
          <p:cNvSpPr/>
          <p:nvPr/>
        </p:nvSpPr>
        <p:spPr>
          <a:xfrm>
            <a:off x="9329166" y="3474720"/>
            <a:ext cx="68580" cy="68580"/>
          </a:xfrm>
          <a:prstGeom prst="ellipse">
            <a:avLst/>
          </a:prstGeom>
          <a:solidFill>
            <a:srgbClr val="E09A5F"/>
          </a:solidFill>
          <a:ln w="12700">
            <a:solidFill>
              <a:srgbClr val="E09A5F"/>
            </a:solidFill>
            <a:prstDash val="solid"/>
          </a:ln>
        </p:spPr>
      </p:sp>
      <p:sp>
        <p:nvSpPr>
          <p:cNvPr id="23" name="Shape 21"/>
          <p:cNvSpPr/>
          <p:nvPr/>
        </p:nvSpPr>
        <p:spPr>
          <a:xfrm>
            <a:off x="9514659" y="3474720"/>
            <a:ext cx="68580" cy="68580"/>
          </a:xfrm>
          <a:prstGeom prst="ellipse">
            <a:avLst/>
          </a:prstGeom>
          <a:solidFill>
            <a:srgbClr val="E09A5F"/>
          </a:solidFill>
          <a:ln w="12700">
            <a:solidFill>
              <a:srgbClr val="E09A5F"/>
            </a:solidFill>
            <a:prstDash val="solid"/>
          </a:ln>
        </p:spPr>
      </p:sp>
      <p:sp>
        <p:nvSpPr>
          <p:cNvPr id="24" name="Shape 22"/>
          <p:cNvSpPr/>
          <p:nvPr/>
        </p:nvSpPr>
        <p:spPr>
          <a:xfrm>
            <a:off x="9700151" y="3474720"/>
            <a:ext cx="68580" cy="68580"/>
          </a:xfrm>
          <a:prstGeom prst="ellipse">
            <a:avLst/>
          </a:prstGeom>
          <a:solidFill>
            <a:srgbClr val="E09A5F"/>
          </a:solidFill>
          <a:ln w="12700">
            <a:solidFill>
              <a:srgbClr val="E09A5F"/>
            </a:solidFill>
            <a:prstDash val="solid"/>
          </a:ln>
        </p:spPr>
      </p:sp>
      <p:sp>
        <p:nvSpPr>
          <p:cNvPr id="25" name="Shape 23"/>
          <p:cNvSpPr/>
          <p:nvPr/>
        </p:nvSpPr>
        <p:spPr>
          <a:xfrm>
            <a:off x="9885644" y="3474720"/>
            <a:ext cx="68580" cy="68580"/>
          </a:xfrm>
          <a:prstGeom prst="ellipse">
            <a:avLst/>
          </a:prstGeom>
          <a:solidFill>
            <a:srgbClr val="E09A5F"/>
          </a:solidFill>
          <a:ln w="12700">
            <a:solidFill>
              <a:srgbClr val="E09A5F"/>
            </a:solidFill>
            <a:prstDash val="solid"/>
          </a:ln>
        </p:spPr>
      </p:sp>
      <p:sp>
        <p:nvSpPr>
          <p:cNvPr id="26" name="Shape 24"/>
          <p:cNvSpPr/>
          <p:nvPr/>
        </p:nvSpPr>
        <p:spPr>
          <a:xfrm>
            <a:off x="10232136" y="2852928"/>
            <a:ext cx="1298448" cy="603504"/>
          </a:xfrm>
          <a:prstGeom prst="roundRect">
            <a:avLst>
              <a:gd name="adj" fmla="val 18182"/>
            </a:avLst>
          </a:prstGeom>
          <a:solidFill>
            <a:srgbClr val="56707E"/>
          </a:solidFill>
          <a:ln w="9525">
            <a:solidFill>
              <a:srgbClr val="FFFFFF"/>
            </a:solidFill>
            <a:prstDash val="solid"/>
          </a:ln>
        </p:spPr>
      </p:sp>
      <p:sp>
        <p:nvSpPr>
          <p:cNvPr id="27" name="Text 25"/>
          <p:cNvSpPr/>
          <p:nvPr/>
        </p:nvSpPr>
        <p:spPr>
          <a:xfrm>
            <a:off x="10232136" y="2852928"/>
            <a:ext cx="1298448" cy="60350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I/O · SerDes</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N6</a:t>
            </a:r>
            <a:endParaRPr lang="en-US" sz="800" dirty="0"/>
          </a:p>
        </p:txBody>
      </p:sp>
      <p:sp>
        <p:nvSpPr>
          <p:cNvPr id="28" name="Shape 26"/>
          <p:cNvSpPr/>
          <p:nvPr/>
        </p:nvSpPr>
        <p:spPr>
          <a:xfrm>
            <a:off x="10290592" y="3474720"/>
            <a:ext cx="68580" cy="68580"/>
          </a:xfrm>
          <a:prstGeom prst="ellipse">
            <a:avLst/>
          </a:prstGeom>
          <a:solidFill>
            <a:srgbClr val="E09A5F"/>
          </a:solidFill>
          <a:ln w="12700">
            <a:solidFill>
              <a:srgbClr val="E09A5F"/>
            </a:solidFill>
            <a:prstDash val="solid"/>
          </a:ln>
        </p:spPr>
      </p:sp>
      <p:sp>
        <p:nvSpPr>
          <p:cNvPr id="29" name="Shape 27"/>
          <p:cNvSpPr/>
          <p:nvPr/>
        </p:nvSpPr>
        <p:spPr>
          <a:xfrm>
            <a:off x="10476085" y="3474720"/>
            <a:ext cx="68580" cy="68580"/>
          </a:xfrm>
          <a:prstGeom prst="ellipse">
            <a:avLst/>
          </a:prstGeom>
          <a:solidFill>
            <a:srgbClr val="E09A5F"/>
          </a:solidFill>
          <a:ln w="12700">
            <a:solidFill>
              <a:srgbClr val="E09A5F"/>
            </a:solidFill>
            <a:prstDash val="solid"/>
          </a:ln>
        </p:spPr>
      </p:sp>
      <p:sp>
        <p:nvSpPr>
          <p:cNvPr id="30" name="Shape 28"/>
          <p:cNvSpPr/>
          <p:nvPr/>
        </p:nvSpPr>
        <p:spPr>
          <a:xfrm>
            <a:off x="10661577" y="3474720"/>
            <a:ext cx="68580" cy="68580"/>
          </a:xfrm>
          <a:prstGeom prst="ellipse">
            <a:avLst/>
          </a:prstGeom>
          <a:solidFill>
            <a:srgbClr val="E09A5F"/>
          </a:solidFill>
          <a:ln w="12700">
            <a:solidFill>
              <a:srgbClr val="E09A5F"/>
            </a:solidFill>
            <a:prstDash val="solid"/>
          </a:ln>
        </p:spPr>
      </p:sp>
      <p:sp>
        <p:nvSpPr>
          <p:cNvPr id="31" name="Shape 29"/>
          <p:cNvSpPr/>
          <p:nvPr/>
        </p:nvSpPr>
        <p:spPr>
          <a:xfrm>
            <a:off x="10847070" y="3474720"/>
            <a:ext cx="68580" cy="68580"/>
          </a:xfrm>
          <a:prstGeom prst="ellipse">
            <a:avLst/>
          </a:prstGeom>
          <a:solidFill>
            <a:srgbClr val="E09A5F"/>
          </a:solidFill>
          <a:ln w="12700">
            <a:solidFill>
              <a:srgbClr val="E09A5F"/>
            </a:solidFill>
            <a:prstDash val="solid"/>
          </a:ln>
        </p:spPr>
      </p:sp>
      <p:sp>
        <p:nvSpPr>
          <p:cNvPr id="32" name="Shape 30"/>
          <p:cNvSpPr/>
          <p:nvPr/>
        </p:nvSpPr>
        <p:spPr>
          <a:xfrm>
            <a:off x="11032563" y="3474720"/>
            <a:ext cx="68580" cy="68580"/>
          </a:xfrm>
          <a:prstGeom prst="ellipse">
            <a:avLst/>
          </a:prstGeom>
          <a:solidFill>
            <a:srgbClr val="E09A5F"/>
          </a:solidFill>
          <a:ln w="12700">
            <a:solidFill>
              <a:srgbClr val="E09A5F"/>
            </a:solidFill>
            <a:prstDash val="solid"/>
          </a:ln>
        </p:spPr>
      </p:sp>
      <p:sp>
        <p:nvSpPr>
          <p:cNvPr id="33" name="Shape 31"/>
          <p:cNvSpPr/>
          <p:nvPr/>
        </p:nvSpPr>
        <p:spPr>
          <a:xfrm>
            <a:off x="11218055" y="3474720"/>
            <a:ext cx="68580" cy="68580"/>
          </a:xfrm>
          <a:prstGeom prst="ellipse">
            <a:avLst/>
          </a:prstGeom>
          <a:solidFill>
            <a:srgbClr val="E09A5F"/>
          </a:solidFill>
          <a:ln w="12700">
            <a:solidFill>
              <a:srgbClr val="E09A5F"/>
            </a:solidFill>
            <a:prstDash val="solid"/>
          </a:ln>
        </p:spPr>
      </p:sp>
      <p:sp>
        <p:nvSpPr>
          <p:cNvPr id="34" name="Shape 32"/>
          <p:cNvSpPr/>
          <p:nvPr/>
        </p:nvSpPr>
        <p:spPr>
          <a:xfrm>
            <a:off x="11403548" y="3474720"/>
            <a:ext cx="68580" cy="68580"/>
          </a:xfrm>
          <a:prstGeom prst="ellipse">
            <a:avLst/>
          </a:prstGeom>
          <a:solidFill>
            <a:srgbClr val="E09A5F"/>
          </a:solidFill>
          <a:ln w="12700">
            <a:solidFill>
              <a:srgbClr val="E09A5F"/>
            </a:solidFill>
            <a:prstDash val="solid"/>
          </a:ln>
        </p:spPr>
      </p:sp>
      <p:sp>
        <p:nvSpPr>
          <p:cNvPr id="35" name="Shape 33"/>
          <p:cNvSpPr/>
          <p:nvPr/>
        </p:nvSpPr>
        <p:spPr>
          <a:xfrm>
            <a:off x="7031736" y="3584448"/>
            <a:ext cx="4315968" cy="219456"/>
          </a:xfrm>
          <a:prstGeom prst="rect">
            <a:avLst/>
          </a:prstGeom>
          <a:solidFill>
            <a:srgbClr val="3F5A6B"/>
          </a:solidFill>
          <a:ln w="6350">
            <a:solidFill>
              <a:srgbClr val="7C97A6"/>
            </a:solidFill>
            <a:prstDash val="solid"/>
          </a:ln>
        </p:spPr>
      </p:sp>
      <p:sp>
        <p:nvSpPr>
          <p:cNvPr id="36" name="Shape 34"/>
          <p:cNvSpPr/>
          <p:nvPr/>
        </p:nvSpPr>
        <p:spPr>
          <a:xfrm>
            <a:off x="7414038" y="3611880"/>
            <a:ext cx="20117" cy="164592"/>
          </a:xfrm>
          <a:prstGeom prst="rect">
            <a:avLst/>
          </a:prstGeom>
          <a:solidFill>
            <a:srgbClr val="6E8A99"/>
          </a:solidFill>
          <a:ln w="12700">
            <a:solidFill>
              <a:srgbClr val="6E8A99"/>
            </a:solidFill>
            <a:prstDash val="solid"/>
          </a:ln>
        </p:spPr>
      </p:sp>
      <p:sp>
        <p:nvSpPr>
          <p:cNvPr id="37" name="Shape 35"/>
          <p:cNvSpPr/>
          <p:nvPr/>
        </p:nvSpPr>
        <p:spPr>
          <a:xfrm>
            <a:off x="7806399" y="3611880"/>
            <a:ext cx="20117" cy="164592"/>
          </a:xfrm>
          <a:prstGeom prst="rect">
            <a:avLst/>
          </a:prstGeom>
          <a:solidFill>
            <a:srgbClr val="6E8A99"/>
          </a:solidFill>
          <a:ln w="12700">
            <a:solidFill>
              <a:srgbClr val="6E8A99"/>
            </a:solidFill>
            <a:prstDash val="solid"/>
          </a:ln>
        </p:spPr>
      </p:sp>
      <p:sp>
        <p:nvSpPr>
          <p:cNvPr id="38" name="Shape 36"/>
          <p:cNvSpPr/>
          <p:nvPr/>
        </p:nvSpPr>
        <p:spPr>
          <a:xfrm>
            <a:off x="8198760" y="3611880"/>
            <a:ext cx="20117" cy="164592"/>
          </a:xfrm>
          <a:prstGeom prst="rect">
            <a:avLst/>
          </a:prstGeom>
          <a:solidFill>
            <a:srgbClr val="6E8A99"/>
          </a:solidFill>
          <a:ln w="12700">
            <a:solidFill>
              <a:srgbClr val="6E8A99"/>
            </a:solidFill>
            <a:prstDash val="solid"/>
          </a:ln>
        </p:spPr>
      </p:sp>
      <p:sp>
        <p:nvSpPr>
          <p:cNvPr id="39" name="Shape 37"/>
          <p:cNvSpPr/>
          <p:nvPr/>
        </p:nvSpPr>
        <p:spPr>
          <a:xfrm>
            <a:off x="8591121" y="3611880"/>
            <a:ext cx="20117" cy="164592"/>
          </a:xfrm>
          <a:prstGeom prst="rect">
            <a:avLst/>
          </a:prstGeom>
          <a:solidFill>
            <a:srgbClr val="6E8A99"/>
          </a:solidFill>
          <a:ln w="12700">
            <a:solidFill>
              <a:srgbClr val="6E8A99"/>
            </a:solidFill>
            <a:prstDash val="solid"/>
          </a:ln>
        </p:spPr>
      </p:sp>
      <p:sp>
        <p:nvSpPr>
          <p:cNvPr id="40" name="Shape 38"/>
          <p:cNvSpPr/>
          <p:nvPr/>
        </p:nvSpPr>
        <p:spPr>
          <a:xfrm>
            <a:off x="8983481" y="3611880"/>
            <a:ext cx="20117" cy="164592"/>
          </a:xfrm>
          <a:prstGeom prst="rect">
            <a:avLst/>
          </a:prstGeom>
          <a:solidFill>
            <a:srgbClr val="6E8A99"/>
          </a:solidFill>
          <a:ln w="12700">
            <a:solidFill>
              <a:srgbClr val="6E8A99"/>
            </a:solidFill>
            <a:prstDash val="solid"/>
          </a:ln>
        </p:spPr>
      </p:sp>
      <p:sp>
        <p:nvSpPr>
          <p:cNvPr id="41" name="Shape 39"/>
          <p:cNvSpPr/>
          <p:nvPr/>
        </p:nvSpPr>
        <p:spPr>
          <a:xfrm>
            <a:off x="9375842" y="3611880"/>
            <a:ext cx="20117" cy="164592"/>
          </a:xfrm>
          <a:prstGeom prst="rect">
            <a:avLst/>
          </a:prstGeom>
          <a:solidFill>
            <a:srgbClr val="6E8A99"/>
          </a:solidFill>
          <a:ln w="12700">
            <a:solidFill>
              <a:srgbClr val="6E8A99"/>
            </a:solidFill>
            <a:prstDash val="solid"/>
          </a:ln>
        </p:spPr>
      </p:sp>
      <p:sp>
        <p:nvSpPr>
          <p:cNvPr id="42" name="Shape 40"/>
          <p:cNvSpPr/>
          <p:nvPr/>
        </p:nvSpPr>
        <p:spPr>
          <a:xfrm>
            <a:off x="9768203" y="3611880"/>
            <a:ext cx="20117" cy="164592"/>
          </a:xfrm>
          <a:prstGeom prst="rect">
            <a:avLst/>
          </a:prstGeom>
          <a:solidFill>
            <a:srgbClr val="6E8A99"/>
          </a:solidFill>
          <a:ln w="12700">
            <a:solidFill>
              <a:srgbClr val="6E8A99"/>
            </a:solidFill>
            <a:prstDash val="solid"/>
          </a:ln>
        </p:spPr>
      </p:sp>
      <p:sp>
        <p:nvSpPr>
          <p:cNvPr id="43" name="Shape 41"/>
          <p:cNvSpPr/>
          <p:nvPr/>
        </p:nvSpPr>
        <p:spPr>
          <a:xfrm>
            <a:off x="10160563" y="3611880"/>
            <a:ext cx="20117" cy="164592"/>
          </a:xfrm>
          <a:prstGeom prst="rect">
            <a:avLst/>
          </a:prstGeom>
          <a:solidFill>
            <a:srgbClr val="6E8A99"/>
          </a:solidFill>
          <a:ln w="12700">
            <a:solidFill>
              <a:srgbClr val="6E8A99"/>
            </a:solidFill>
            <a:prstDash val="solid"/>
          </a:ln>
        </p:spPr>
      </p:sp>
      <p:sp>
        <p:nvSpPr>
          <p:cNvPr id="44" name="Shape 42"/>
          <p:cNvSpPr/>
          <p:nvPr/>
        </p:nvSpPr>
        <p:spPr>
          <a:xfrm>
            <a:off x="10552924" y="3611880"/>
            <a:ext cx="20117" cy="164592"/>
          </a:xfrm>
          <a:prstGeom prst="rect">
            <a:avLst/>
          </a:prstGeom>
          <a:solidFill>
            <a:srgbClr val="6E8A99"/>
          </a:solidFill>
          <a:ln w="12700">
            <a:solidFill>
              <a:srgbClr val="6E8A99"/>
            </a:solidFill>
            <a:prstDash val="solid"/>
          </a:ln>
        </p:spPr>
      </p:sp>
      <p:sp>
        <p:nvSpPr>
          <p:cNvPr id="45" name="Shape 43"/>
          <p:cNvSpPr/>
          <p:nvPr/>
        </p:nvSpPr>
        <p:spPr>
          <a:xfrm>
            <a:off x="10945285" y="3611880"/>
            <a:ext cx="20117" cy="164592"/>
          </a:xfrm>
          <a:prstGeom prst="rect">
            <a:avLst/>
          </a:prstGeom>
          <a:solidFill>
            <a:srgbClr val="6E8A99"/>
          </a:solidFill>
          <a:ln w="12700">
            <a:solidFill>
              <a:srgbClr val="6E8A99"/>
            </a:solidFill>
            <a:prstDash val="solid"/>
          </a:ln>
        </p:spPr>
      </p:sp>
      <p:sp>
        <p:nvSpPr>
          <p:cNvPr id="46" name="Shape 44"/>
          <p:cNvSpPr/>
          <p:nvPr/>
        </p:nvSpPr>
        <p:spPr>
          <a:xfrm>
            <a:off x="7165848" y="3840480"/>
            <a:ext cx="91440" cy="91440"/>
          </a:xfrm>
          <a:prstGeom prst="ellipse">
            <a:avLst/>
          </a:prstGeom>
          <a:solidFill>
            <a:srgbClr val="C9CFD8"/>
          </a:solidFill>
          <a:ln w="12700">
            <a:solidFill>
              <a:srgbClr val="C9CFD8"/>
            </a:solidFill>
            <a:prstDash val="solid"/>
          </a:ln>
        </p:spPr>
      </p:sp>
      <p:sp>
        <p:nvSpPr>
          <p:cNvPr id="47" name="Shape 45"/>
          <p:cNvSpPr/>
          <p:nvPr/>
        </p:nvSpPr>
        <p:spPr>
          <a:xfrm>
            <a:off x="7525512" y="3840480"/>
            <a:ext cx="91440" cy="91440"/>
          </a:xfrm>
          <a:prstGeom prst="ellipse">
            <a:avLst/>
          </a:prstGeom>
          <a:solidFill>
            <a:srgbClr val="C9CFD8"/>
          </a:solidFill>
          <a:ln w="12700">
            <a:solidFill>
              <a:srgbClr val="C9CFD8"/>
            </a:solidFill>
            <a:prstDash val="solid"/>
          </a:ln>
        </p:spPr>
      </p:sp>
      <p:sp>
        <p:nvSpPr>
          <p:cNvPr id="48" name="Shape 46"/>
          <p:cNvSpPr/>
          <p:nvPr/>
        </p:nvSpPr>
        <p:spPr>
          <a:xfrm>
            <a:off x="7885176" y="3840480"/>
            <a:ext cx="91440" cy="91440"/>
          </a:xfrm>
          <a:prstGeom prst="ellipse">
            <a:avLst/>
          </a:prstGeom>
          <a:solidFill>
            <a:srgbClr val="C9CFD8"/>
          </a:solidFill>
          <a:ln w="12700">
            <a:solidFill>
              <a:srgbClr val="C9CFD8"/>
            </a:solidFill>
            <a:prstDash val="solid"/>
          </a:ln>
        </p:spPr>
      </p:sp>
      <p:sp>
        <p:nvSpPr>
          <p:cNvPr id="49" name="Shape 47"/>
          <p:cNvSpPr/>
          <p:nvPr/>
        </p:nvSpPr>
        <p:spPr>
          <a:xfrm>
            <a:off x="8244840" y="3840480"/>
            <a:ext cx="91440" cy="91440"/>
          </a:xfrm>
          <a:prstGeom prst="ellipse">
            <a:avLst/>
          </a:prstGeom>
          <a:solidFill>
            <a:srgbClr val="C9CFD8"/>
          </a:solidFill>
          <a:ln w="12700">
            <a:solidFill>
              <a:srgbClr val="C9CFD8"/>
            </a:solidFill>
            <a:prstDash val="solid"/>
          </a:ln>
        </p:spPr>
      </p:sp>
      <p:sp>
        <p:nvSpPr>
          <p:cNvPr id="50" name="Shape 48"/>
          <p:cNvSpPr/>
          <p:nvPr/>
        </p:nvSpPr>
        <p:spPr>
          <a:xfrm>
            <a:off x="8604504" y="3840480"/>
            <a:ext cx="91440" cy="91440"/>
          </a:xfrm>
          <a:prstGeom prst="ellipse">
            <a:avLst/>
          </a:prstGeom>
          <a:solidFill>
            <a:srgbClr val="C9CFD8"/>
          </a:solidFill>
          <a:ln w="12700">
            <a:solidFill>
              <a:srgbClr val="C9CFD8"/>
            </a:solidFill>
            <a:prstDash val="solid"/>
          </a:ln>
        </p:spPr>
      </p:sp>
      <p:sp>
        <p:nvSpPr>
          <p:cNvPr id="51" name="Shape 49"/>
          <p:cNvSpPr/>
          <p:nvPr/>
        </p:nvSpPr>
        <p:spPr>
          <a:xfrm>
            <a:off x="8964168" y="3840480"/>
            <a:ext cx="91440" cy="91440"/>
          </a:xfrm>
          <a:prstGeom prst="ellipse">
            <a:avLst/>
          </a:prstGeom>
          <a:solidFill>
            <a:srgbClr val="C9CFD8"/>
          </a:solidFill>
          <a:ln w="12700">
            <a:solidFill>
              <a:srgbClr val="C9CFD8"/>
            </a:solidFill>
            <a:prstDash val="solid"/>
          </a:ln>
        </p:spPr>
      </p:sp>
      <p:sp>
        <p:nvSpPr>
          <p:cNvPr id="52" name="Shape 50"/>
          <p:cNvSpPr/>
          <p:nvPr/>
        </p:nvSpPr>
        <p:spPr>
          <a:xfrm>
            <a:off x="9323832" y="3840480"/>
            <a:ext cx="91440" cy="91440"/>
          </a:xfrm>
          <a:prstGeom prst="ellipse">
            <a:avLst/>
          </a:prstGeom>
          <a:solidFill>
            <a:srgbClr val="C9CFD8"/>
          </a:solidFill>
          <a:ln w="12700">
            <a:solidFill>
              <a:srgbClr val="C9CFD8"/>
            </a:solidFill>
            <a:prstDash val="solid"/>
          </a:ln>
        </p:spPr>
      </p:sp>
      <p:sp>
        <p:nvSpPr>
          <p:cNvPr id="53" name="Shape 51"/>
          <p:cNvSpPr/>
          <p:nvPr/>
        </p:nvSpPr>
        <p:spPr>
          <a:xfrm>
            <a:off x="9683496" y="3840480"/>
            <a:ext cx="91440" cy="91440"/>
          </a:xfrm>
          <a:prstGeom prst="ellipse">
            <a:avLst/>
          </a:prstGeom>
          <a:solidFill>
            <a:srgbClr val="C9CFD8"/>
          </a:solidFill>
          <a:ln w="12700">
            <a:solidFill>
              <a:srgbClr val="C9CFD8"/>
            </a:solidFill>
            <a:prstDash val="solid"/>
          </a:ln>
        </p:spPr>
      </p:sp>
      <p:sp>
        <p:nvSpPr>
          <p:cNvPr id="54" name="Shape 52"/>
          <p:cNvSpPr/>
          <p:nvPr/>
        </p:nvSpPr>
        <p:spPr>
          <a:xfrm>
            <a:off x="10043160" y="3840480"/>
            <a:ext cx="91440" cy="91440"/>
          </a:xfrm>
          <a:prstGeom prst="ellipse">
            <a:avLst/>
          </a:prstGeom>
          <a:solidFill>
            <a:srgbClr val="C9CFD8"/>
          </a:solidFill>
          <a:ln w="12700">
            <a:solidFill>
              <a:srgbClr val="C9CFD8"/>
            </a:solidFill>
            <a:prstDash val="solid"/>
          </a:ln>
        </p:spPr>
      </p:sp>
      <p:sp>
        <p:nvSpPr>
          <p:cNvPr id="55" name="Shape 53"/>
          <p:cNvSpPr/>
          <p:nvPr/>
        </p:nvSpPr>
        <p:spPr>
          <a:xfrm>
            <a:off x="10402824" y="3840480"/>
            <a:ext cx="91440" cy="91440"/>
          </a:xfrm>
          <a:prstGeom prst="ellipse">
            <a:avLst/>
          </a:prstGeom>
          <a:solidFill>
            <a:srgbClr val="C9CFD8"/>
          </a:solidFill>
          <a:ln w="12700">
            <a:solidFill>
              <a:srgbClr val="C9CFD8"/>
            </a:solidFill>
            <a:prstDash val="solid"/>
          </a:ln>
        </p:spPr>
      </p:sp>
      <p:sp>
        <p:nvSpPr>
          <p:cNvPr id="56" name="Shape 54"/>
          <p:cNvSpPr/>
          <p:nvPr/>
        </p:nvSpPr>
        <p:spPr>
          <a:xfrm>
            <a:off x="10762488" y="3840480"/>
            <a:ext cx="91440" cy="91440"/>
          </a:xfrm>
          <a:prstGeom prst="ellipse">
            <a:avLst/>
          </a:prstGeom>
          <a:solidFill>
            <a:srgbClr val="C9CFD8"/>
          </a:solidFill>
          <a:ln w="12700">
            <a:solidFill>
              <a:srgbClr val="C9CFD8"/>
            </a:solidFill>
            <a:prstDash val="solid"/>
          </a:ln>
        </p:spPr>
      </p:sp>
      <p:sp>
        <p:nvSpPr>
          <p:cNvPr id="57" name="Shape 55"/>
          <p:cNvSpPr/>
          <p:nvPr/>
        </p:nvSpPr>
        <p:spPr>
          <a:xfrm>
            <a:off x="11122152" y="3840480"/>
            <a:ext cx="91440" cy="91440"/>
          </a:xfrm>
          <a:prstGeom prst="ellipse">
            <a:avLst/>
          </a:prstGeom>
          <a:solidFill>
            <a:srgbClr val="C9CFD8"/>
          </a:solidFill>
          <a:ln w="12700">
            <a:solidFill>
              <a:srgbClr val="C9CFD8"/>
            </a:solidFill>
            <a:prstDash val="solid"/>
          </a:ln>
        </p:spPr>
      </p:sp>
      <p:sp>
        <p:nvSpPr>
          <p:cNvPr id="58" name="Shape 56"/>
          <p:cNvSpPr/>
          <p:nvPr/>
        </p:nvSpPr>
        <p:spPr>
          <a:xfrm>
            <a:off x="6903720" y="3986784"/>
            <a:ext cx="4572000" cy="329184"/>
          </a:xfrm>
          <a:prstGeom prst="rect">
            <a:avLst/>
          </a:prstGeom>
          <a:solidFill>
            <a:srgbClr val="2B3444"/>
          </a:solidFill>
          <a:ln w="6350">
            <a:solidFill>
              <a:srgbClr val="4A566B"/>
            </a:solidFill>
            <a:prstDash val="solid"/>
          </a:ln>
        </p:spPr>
      </p:sp>
      <p:sp>
        <p:nvSpPr>
          <p:cNvPr id="59" name="Shape 57"/>
          <p:cNvSpPr/>
          <p:nvPr/>
        </p:nvSpPr>
        <p:spPr>
          <a:xfrm>
            <a:off x="7177387" y="4334256"/>
            <a:ext cx="118872" cy="118872"/>
          </a:xfrm>
          <a:prstGeom prst="ellipse">
            <a:avLst/>
          </a:prstGeom>
          <a:solidFill>
            <a:srgbClr val="8A94A6"/>
          </a:solidFill>
          <a:ln w="12700">
            <a:solidFill>
              <a:srgbClr val="8A94A6"/>
            </a:solidFill>
            <a:prstDash val="solid"/>
          </a:ln>
        </p:spPr>
      </p:sp>
      <p:sp>
        <p:nvSpPr>
          <p:cNvPr id="60" name="Shape 58"/>
          <p:cNvSpPr/>
          <p:nvPr/>
        </p:nvSpPr>
        <p:spPr>
          <a:xfrm>
            <a:off x="7477833" y="4334256"/>
            <a:ext cx="118872" cy="118872"/>
          </a:xfrm>
          <a:prstGeom prst="ellipse">
            <a:avLst/>
          </a:prstGeom>
          <a:solidFill>
            <a:srgbClr val="8A94A6"/>
          </a:solidFill>
          <a:ln w="12700">
            <a:solidFill>
              <a:srgbClr val="8A94A6"/>
            </a:solidFill>
            <a:prstDash val="solid"/>
          </a:ln>
        </p:spPr>
      </p:sp>
      <p:sp>
        <p:nvSpPr>
          <p:cNvPr id="61" name="Shape 59"/>
          <p:cNvSpPr/>
          <p:nvPr/>
        </p:nvSpPr>
        <p:spPr>
          <a:xfrm>
            <a:off x="7778278" y="4334256"/>
            <a:ext cx="118872" cy="118872"/>
          </a:xfrm>
          <a:prstGeom prst="ellipse">
            <a:avLst/>
          </a:prstGeom>
          <a:solidFill>
            <a:srgbClr val="8A94A6"/>
          </a:solidFill>
          <a:ln w="12700">
            <a:solidFill>
              <a:srgbClr val="8A94A6"/>
            </a:solidFill>
            <a:prstDash val="solid"/>
          </a:ln>
        </p:spPr>
      </p:sp>
      <p:sp>
        <p:nvSpPr>
          <p:cNvPr id="62" name="Shape 60"/>
          <p:cNvSpPr/>
          <p:nvPr/>
        </p:nvSpPr>
        <p:spPr>
          <a:xfrm>
            <a:off x="8078724" y="4334256"/>
            <a:ext cx="118872" cy="118872"/>
          </a:xfrm>
          <a:prstGeom prst="ellipse">
            <a:avLst/>
          </a:prstGeom>
          <a:solidFill>
            <a:srgbClr val="8A94A6"/>
          </a:solidFill>
          <a:ln w="12700">
            <a:solidFill>
              <a:srgbClr val="8A94A6"/>
            </a:solidFill>
            <a:prstDash val="solid"/>
          </a:ln>
        </p:spPr>
      </p:sp>
      <p:sp>
        <p:nvSpPr>
          <p:cNvPr id="63" name="Shape 61"/>
          <p:cNvSpPr/>
          <p:nvPr/>
        </p:nvSpPr>
        <p:spPr>
          <a:xfrm>
            <a:off x="8379170" y="4334256"/>
            <a:ext cx="118872" cy="118872"/>
          </a:xfrm>
          <a:prstGeom prst="ellipse">
            <a:avLst/>
          </a:prstGeom>
          <a:solidFill>
            <a:srgbClr val="8A94A6"/>
          </a:solidFill>
          <a:ln w="12700">
            <a:solidFill>
              <a:srgbClr val="8A94A6"/>
            </a:solidFill>
            <a:prstDash val="solid"/>
          </a:ln>
        </p:spPr>
      </p:sp>
      <p:sp>
        <p:nvSpPr>
          <p:cNvPr id="64" name="Shape 62"/>
          <p:cNvSpPr/>
          <p:nvPr/>
        </p:nvSpPr>
        <p:spPr>
          <a:xfrm>
            <a:off x="8679615" y="4334256"/>
            <a:ext cx="118872" cy="118872"/>
          </a:xfrm>
          <a:prstGeom prst="ellipse">
            <a:avLst/>
          </a:prstGeom>
          <a:solidFill>
            <a:srgbClr val="8A94A6"/>
          </a:solidFill>
          <a:ln w="12700">
            <a:solidFill>
              <a:srgbClr val="8A94A6"/>
            </a:solidFill>
            <a:prstDash val="solid"/>
          </a:ln>
        </p:spPr>
      </p:sp>
      <p:sp>
        <p:nvSpPr>
          <p:cNvPr id="65" name="Shape 63"/>
          <p:cNvSpPr/>
          <p:nvPr/>
        </p:nvSpPr>
        <p:spPr>
          <a:xfrm>
            <a:off x="8980061" y="4334256"/>
            <a:ext cx="118872" cy="118872"/>
          </a:xfrm>
          <a:prstGeom prst="ellipse">
            <a:avLst/>
          </a:prstGeom>
          <a:solidFill>
            <a:srgbClr val="8A94A6"/>
          </a:solidFill>
          <a:ln w="12700">
            <a:solidFill>
              <a:srgbClr val="8A94A6"/>
            </a:solidFill>
            <a:prstDash val="solid"/>
          </a:ln>
        </p:spPr>
      </p:sp>
      <p:sp>
        <p:nvSpPr>
          <p:cNvPr id="66" name="Shape 64"/>
          <p:cNvSpPr/>
          <p:nvPr/>
        </p:nvSpPr>
        <p:spPr>
          <a:xfrm>
            <a:off x="9280507" y="4334256"/>
            <a:ext cx="118872" cy="118872"/>
          </a:xfrm>
          <a:prstGeom prst="ellipse">
            <a:avLst/>
          </a:prstGeom>
          <a:solidFill>
            <a:srgbClr val="8A94A6"/>
          </a:solidFill>
          <a:ln w="12700">
            <a:solidFill>
              <a:srgbClr val="8A94A6"/>
            </a:solidFill>
            <a:prstDash val="solid"/>
          </a:ln>
        </p:spPr>
      </p:sp>
      <p:sp>
        <p:nvSpPr>
          <p:cNvPr id="67" name="Shape 65"/>
          <p:cNvSpPr/>
          <p:nvPr/>
        </p:nvSpPr>
        <p:spPr>
          <a:xfrm>
            <a:off x="9580953" y="4334256"/>
            <a:ext cx="118872" cy="118872"/>
          </a:xfrm>
          <a:prstGeom prst="ellipse">
            <a:avLst/>
          </a:prstGeom>
          <a:solidFill>
            <a:srgbClr val="8A94A6"/>
          </a:solidFill>
          <a:ln w="12700">
            <a:solidFill>
              <a:srgbClr val="8A94A6"/>
            </a:solidFill>
            <a:prstDash val="solid"/>
          </a:ln>
        </p:spPr>
      </p:sp>
      <p:sp>
        <p:nvSpPr>
          <p:cNvPr id="68" name="Shape 66"/>
          <p:cNvSpPr/>
          <p:nvPr/>
        </p:nvSpPr>
        <p:spPr>
          <a:xfrm>
            <a:off x="9881398" y="4334256"/>
            <a:ext cx="118872" cy="118872"/>
          </a:xfrm>
          <a:prstGeom prst="ellipse">
            <a:avLst/>
          </a:prstGeom>
          <a:solidFill>
            <a:srgbClr val="8A94A6"/>
          </a:solidFill>
          <a:ln w="12700">
            <a:solidFill>
              <a:srgbClr val="8A94A6"/>
            </a:solidFill>
            <a:prstDash val="solid"/>
          </a:ln>
        </p:spPr>
      </p:sp>
      <p:sp>
        <p:nvSpPr>
          <p:cNvPr id="69" name="Shape 67"/>
          <p:cNvSpPr/>
          <p:nvPr/>
        </p:nvSpPr>
        <p:spPr>
          <a:xfrm>
            <a:off x="10181844" y="4334256"/>
            <a:ext cx="118872" cy="118872"/>
          </a:xfrm>
          <a:prstGeom prst="ellipse">
            <a:avLst/>
          </a:prstGeom>
          <a:solidFill>
            <a:srgbClr val="8A94A6"/>
          </a:solidFill>
          <a:ln w="12700">
            <a:solidFill>
              <a:srgbClr val="8A94A6"/>
            </a:solidFill>
            <a:prstDash val="solid"/>
          </a:ln>
        </p:spPr>
      </p:sp>
      <p:sp>
        <p:nvSpPr>
          <p:cNvPr id="70" name="Shape 68"/>
          <p:cNvSpPr/>
          <p:nvPr/>
        </p:nvSpPr>
        <p:spPr>
          <a:xfrm>
            <a:off x="10482290" y="4334256"/>
            <a:ext cx="118872" cy="118872"/>
          </a:xfrm>
          <a:prstGeom prst="ellipse">
            <a:avLst/>
          </a:prstGeom>
          <a:solidFill>
            <a:srgbClr val="8A94A6"/>
          </a:solidFill>
          <a:ln w="12700">
            <a:solidFill>
              <a:srgbClr val="8A94A6"/>
            </a:solidFill>
            <a:prstDash val="solid"/>
          </a:ln>
        </p:spPr>
      </p:sp>
      <p:sp>
        <p:nvSpPr>
          <p:cNvPr id="71" name="Shape 69"/>
          <p:cNvSpPr/>
          <p:nvPr/>
        </p:nvSpPr>
        <p:spPr>
          <a:xfrm>
            <a:off x="10782735" y="4334256"/>
            <a:ext cx="118872" cy="118872"/>
          </a:xfrm>
          <a:prstGeom prst="ellipse">
            <a:avLst/>
          </a:prstGeom>
          <a:solidFill>
            <a:srgbClr val="8A94A6"/>
          </a:solidFill>
          <a:ln w="12700">
            <a:solidFill>
              <a:srgbClr val="8A94A6"/>
            </a:solidFill>
            <a:prstDash val="solid"/>
          </a:ln>
        </p:spPr>
      </p:sp>
      <p:sp>
        <p:nvSpPr>
          <p:cNvPr id="72" name="Shape 70"/>
          <p:cNvSpPr/>
          <p:nvPr/>
        </p:nvSpPr>
        <p:spPr>
          <a:xfrm>
            <a:off x="11083181" y="4334256"/>
            <a:ext cx="118872" cy="118872"/>
          </a:xfrm>
          <a:prstGeom prst="ellipse">
            <a:avLst/>
          </a:prstGeom>
          <a:solidFill>
            <a:srgbClr val="8A94A6"/>
          </a:solidFill>
          <a:ln w="12700">
            <a:solidFill>
              <a:srgbClr val="8A94A6"/>
            </a:solidFill>
            <a:prstDash val="solid"/>
          </a:ln>
        </p:spPr>
      </p:sp>
      <p:sp>
        <p:nvSpPr>
          <p:cNvPr id="73" name="Text 71"/>
          <p:cNvSpPr/>
          <p:nvPr/>
        </p:nvSpPr>
        <p:spPr>
          <a:xfrm>
            <a:off x="6720840" y="4617720"/>
            <a:ext cx="4937760" cy="274320"/>
          </a:xfrm>
          <a:prstGeom prst="rect">
            <a:avLst/>
          </a:prstGeom>
          <a:noFill/>
          <a:ln/>
        </p:spPr>
        <p:txBody>
          <a:bodyPr wrap="square" lIns="0" tIns="0" rIns="0" bIns="0" rtlCol="0" anchor="ctr"/>
          <a:lstStyle/>
          <a:p>
            <a:pPr algn="ctr" indent="0" marL="0">
              <a:buNone/>
            </a:pPr>
            <a:r>
              <a:rPr lang="en-US" sz="1000" dirty="0">
                <a:solidFill>
                  <a:srgbClr val="97A0B0"/>
                </a:solidFill>
                <a:latin typeface="Calibri" pitchFamily="34" charset="0"/>
                <a:ea typeface="Calibri" pitchFamily="34" charset="-122"/>
                <a:cs typeface="Calibri" pitchFamily="34" charset="-120"/>
              </a:rPr>
              <a:t>Die  ·  µBump  ·  Interposer(TSV)  ·  C4  ·  Substrate  ·  BGA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02</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MOTIVATION</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왜 칩렛인가</a:t>
            </a:r>
            <a:endParaRPr lang="en-US" sz="2900" dirty="0"/>
          </a:p>
        </p:txBody>
      </p:sp>
      <p:sp>
        <p:nvSpPr>
          <p:cNvPr id="5" name="Shape 3"/>
          <p:cNvSpPr/>
          <p:nvPr/>
        </p:nvSpPr>
        <p:spPr>
          <a:xfrm>
            <a:off x="640080" y="1371600"/>
            <a:ext cx="4983480" cy="1481328"/>
          </a:xfrm>
          <a:prstGeom prst="roundRect">
            <a:avLst>
              <a:gd name="adj" fmla="val 3704"/>
            </a:avLst>
          </a:prstGeom>
          <a:solidFill>
            <a:srgbClr val="F1F2F5"/>
          </a:solidFill>
          <a:ln w="9525">
            <a:solidFill>
              <a:srgbClr val="D5D9E0"/>
            </a:solidFill>
            <a:prstDash val="solid"/>
          </a:ln>
        </p:spPr>
      </p:sp>
      <p:sp>
        <p:nvSpPr>
          <p:cNvPr id="6" name="Text 4"/>
          <p:cNvSpPr/>
          <p:nvPr/>
        </p:nvSpPr>
        <p:spPr>
          <a:xfrm>
            <a:off x="932688" y="1517904"/>
            <a:ext cx="1874520" cy="566928"/>
          </a:xfrm>
          <a:prstGeom prst="rect">
            <a:avLst/>
          </a:prstGeom>
          <a:noFill/>
          <a:ln/>
        </p:spPr>
        <p:txBody>
          <a:bodyPr wrap="square" lIns="0" tIns="0" rIns="0" bIns="0" rtlCol="0" anchor="ctr"/>
          <a:lstStyle/>
          <a:p>
            <a:pPr indent="0" marL="0">
              <a:buNone/>
            </a:pPr>
            <a:r>
              <a:rPr lang="en-US" sz="3000" b="1" dirty="0">
                <a:solidFill>
                  <a:srgbClr val="B25A22"/>
                </a:solidFill>
                <a:latin typeface="Arial" pitchFamily="34" charset="0"/>
                <a:ea typeface="Arial" pitchFamily="34" charset="-122"/>
                <a:cs typeface="Arial" pitchFamily="34" charset="-120"/>
              </a:rPr>
              <a:t>858 mm²</a:t>
            </a:r>
            <a:endParaRPr lang="en-US" sz="3000" dirty="0"/>
          </a:p>
        </p:txBody>
      </p:sp>
      <p:sp>
        <p:nvSpPr>
          <p:cNvPr id="7" name="Text 5"/>
          <p:cNvSpPr/>
          <p:nvPr/>
        </p:nvSpPr>
        <p:spPr>
          <a:xfrm>
            <a:off x="2852928" y="1609344"/>
            <a:ext cx="2560320" cy="365760"/>
          </a:xfrm>
          <a:prstGeom prst="rect">
            <a:avLst/>
          </a:prstGeom>
          <a:noFill/>
          <a:ln/>
        </p:spPr>
        <p:txBody>
          <a:bodyPr wrap="square" lIns="0" tIns="0" rIns="0" bIns="0" rtlCol="0" anchor="ctr"/>
          <a:lstStyle/>
          <a:p>
            <a:pPr indent="0" marL="0">
              <a:buNone/>
            </a:pPr>
            <a:r>
              <a:rPr lang="en-US" sz="1250" b="1" dirty="0">
                <a:solidFill>
                  <a:srgbClr val="232834"/>
                </a:solidFill>
                <a:latin typeface="Arial" pitchFamily="34" charset="0"/>
                <a:ea typeface="Arial" pitchFamily="34" charset="-122"/>
                <a:cs typeface="Arial" pitchFamily="34" charset="-120"/>
              </a:rPr>
              <a:t>레티클 한계 (Reticle Limit)</a:t>
            </a:r>
            <a:endParaRPr lang="en-US" sz="1250" dirty="0"/>
          </a:p>
        </p:txBody>
      </p:sp>
      <p:sp>
        <p:nvSpPr>
          <p:cNvPr id="8" name="Text 6"/>
          <p:cNvSpPr/>
          <p:nvPr/>
        </p:nvSpPr>
        <p:spPr>
          <a:xfrm>
            <a:off x="932688" y="2121408"/>
            <a:ext cx="4416552" cy="603504"/>
          </a:xfrm>
          <a:prstGeom prst="rect">
            <a:avLst/>
          </a:prstGeom>
          <a:noFill/>
          <a:ln/>
        </p:spPr>
        <p:txBody>
          <a:bodyPr wrap="square" lIns="0" tIns="0" rIns="0" bIns="0" rtlCol="0" anchor="ctr"/>
          <a:lstStyle/>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26 × 33 mm. 단일 다이는 물리적으로 이보다 커질 수 없다.</a:t>
            </a:r>
            <a:endParaRPr lang="en-US" sz="1150" dirty="0"/>
          </a:p>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High-NA EUV는 하프필드로 429 mm²까지 축소된다.</a:t>
            </a:r>
            <a:endParaRPr lang="en-US" sz="1150" dirty="0"/>
          </a:p>
        </p:txBody>
      </p:sp>
      <p:sp>
        <p:nvSpPr>
          <p:cNvPr id="9" name="Shape 7"/>
          <p:cNvSpPr/>
          <p:nvPr/>
        </p:nvSpPr>
        <p:spPr>
          <a:xfrm>
            <a:off x="640080" y="2999232"/>
            <a:ext cx="4983480" cy="1481328"/>
          </a:xfrm>
          <a:prstGeom prst="roundRect">
            <a:avLst>
              <a:gd name="adj" fmla="val 3704"/>
            </a:avLst>
          </a:prstGeom>
          <a:solidFill>
            <a:srgbClr val="F1F2F5"/>
          </a:solidFill>
          <a:ln w="9525">
            <a:solidFill>
              <a:srgbClr val="D5D9E0"/>
            </a:solidFill>
            <a:prstDash val="solid"/>
          </a:ln>
        </p:spPr>
      </p:sp>
      <p:sp>
        <p:nvSpPr>
          <p:cNvPr id="10" name="Text 8"/>
          <p:cNvSpPr/>
          <p:nvPr/>
        </p:nvSpPr>
        <p:spPr>
          <a:xfrm>
            <a:off x="932688" y="3145536"/>
            <a:ext cx="1874520" cy="566928"/>
          </a:xfrm>
          <a:prstGeom prst="rect">
            <a:avLst/>
          </a:prstGeom>
          <a:noFill/>
          <a:ln/>
        </p:spPr>
        <p:txBody>
          <a:bodyPr wrap="square" lIns="0" tIns="0" rIns="0" bIns="0" rtlCol="0" anchor="ctr"/>
          <a:lstStyle/>
          <a:p>
            <a:pPr indent="0" marL="0">
              <a:buNone/>
            </a:pPr>
            <a:r>
              <a:rPr lang="en-US" sz="3000" b="1" dirty="0">
                <a:solidFill>
                  <a:srgbClr val="B25A22"/>
                </a:solidFill>
                <a:latin typeface="Arial" pitchFamily="34" charset="0"/>
                <a:ea typeface="Arial" pitchFamily="34" charset="-122"/>
                <a:cs typeface="Arial" pitchFamily="34" charset="-120"/>
              </a:rPr>
              <a:t>59 %</a:t>
            </a:r>
            <a:endParaRPr lang="en-US" sz="3000" dirty="0"/>
          </a:p>
        </p:txBody>
      </p:sp>
      <p:sp>
        <p:nvSpPr>
          <p:cNvPr id="11" name="Text 9"/>
          <p:cNvSpPr/>
          <p:nvPr/>
        </p:nvSpPr>
        <p:spPr>
          <a:xfrm>
            <a:off x="2852928" y="3236976"/>
            <a:ext cx="2560320" cy="365760"/>
          </a:xfrm>
          <a:prstGeom prst="rect">
            <a:avLst/>
          </a:prstGeom>
          <a:noFill/>
          <a:ln/>
        </p:spPr>
        <p:txBody>
          <a:bodyPr wrap="square" lIns="0" tIns="0" rIns="0" bIns="0" rtlCol="0" anchor="ctr"/>
          <a:lstStyle/>
          <a:p>
            <a:pPr indent="0" marL="0">
              <a:buNone/>
            </a:pPr>
            <a:r>
              <a:rPr lang="en-US" sz="1250" b="1" dirty="0">
                <a:solidFill>
                  <a:srgbClr val="232834"/>
                </a:solidFill>
                <a:latin typeface="Arial" pitchFamily="34" charset="0"/>
                <a:ea typeface="Arial" pitchFamily="34" charset="-122"/>
                <a:cs typeface="Arial" pitchFamily="34" charset="-120"/>
              </a:rPr>
              <a:t>800 mm² 다이의 수율</a:t>
            </a:r>
            <a:endParaRPr lang="en-US" sz="1250" dirty="0"/>
          </a:p>
        </p:txBody>
      </p:sp>
      <p:sp>
        <p:nvSpPr>
          <p:cNvPr id="12" name="Text 10"/>
          <p:cNvSpPr/>
          <p:nvPr/>
        </p:nvSpPr>
        <p:spPr>
          <a:xfrm>
            <a:off x="932688" y="3749040"/>
            <a:ext cx="4416552" cy="603504"/>
          </a:xfrm>
          <a:prstGeom prst="rect">
            <a:avLst/>
          </a:prstGeom>
          <a:noFill/>
          <a:ln/>
        </p:spPr>
        <p:txBody>
          <a:bodyPr wrap="square" lIns="0" tIns="0" rIns="0" bIns="0" rtlCol="0" anchor="ctr"/>
          <a:lstStyle/>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D₀ = 0.07/cm² 가정. 같은 조건의 100 mm² 다이는 88 %.</a:t>
            </a:r>
            <a:endParaRPr lang="en-US" sz="1150" dirty="0"/>
          </a:p>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면적에 대해 수율은 지수적으로 무너진다.</a:t>
            </a:r>
            <a:endParaRPr lang="en-US" sz="1150" dirty="0"/>
          </a:p>
        </p:txBody>
      </p:sp>
      <p:sp>
        <p:nvSpPr>
          <p:cNvPr id="13" name="Shape 11"/>
          <p:cNvSpPr/>
          <p:nvPr/>
        </p:nvSpPr>
        <p:spPr>
          <a:xfrm>
            <a:off x="640080" y="4626864"/>
            <a:ext cx="4983480" cy="1481328"/>
          </a:xfrm>
          <a:prstGeom prst="roundRect">
            <a:avLst>
              <a:gd name="adj" fmla="val 3704"/>
            </a:avLst>
          </a:prstGeom>
          <a:solidFill>
            <a:srgbClr val="F1F2F5"/>
          </a:solidFill>
          <a:ln w="9525">
            <a:solidFill>
              <a:srgbClr val="D5D9E0"/>
            </a:solidFill>
            <a:prstDash val="solid"/>
          </a:ln>
        </p:spPr>
      </p:sp>
      <p:sp>
        <p:nvSpPr>
          <p:cNvPr id="14" name="Text 12"/>
          <p:cNvSpPr/>
          <p:nvPr/>
        </p:nvSpPr>
        <p:spPr>
          <a:xfrm>
            <a:off x="932688" y="4773168"/>
            <a:ext cx="1874520" cy="566928"/>
          </a:xfrm>
          <a:prstGeom prst="rect">
            <a:avLst/>
          </a:prstGeom>
          <a:noFill/>
          <a:ln/>
        </p:spPr>
        <p:txBody>
          <a:bodyPr wrap="square" lIns="0" tIns="0" rIns="0" bIns="0" rtlCol="0" anchor="ctr"/>
          <a:lstStyle/>
          <a:p>
            <a:pPr indent="0" marL="0">
              <a:buNone/>
            </a:pPr>
            <a:r>
              <a:rPr lang="en-US" sz="3000" b="1" dirty="0">
                <a:solidFill>
                  <a:srgbClr val="B25A22"/>
                </a:solidFill>
                <a:latin typeface="Arial" pitchFamily="34" charset="0"/>
                <a:ea typeface="Arial" pitchFamily="34" charset="-122"/>
                <a:cs typeface="Arial" pitchFamily="34" charset="-120"/>
              </a:rPr>
              <a:t>× 2 ~ 3</a:t>
            </a:r>
            <a:endParaRPr lang="en-US" sz="3000" dirty="0"/>
          </a:p>
        </p:txBody>
      </p:sp>
      <p:sp>
        <p:nvSpPr>
          <p:cNvPr id="15" name="Text 13"/>
          <p:cNvSpPr/>
          <p:nvPr/>
        </p:nvSpPr>
        <p:spPr>
          <a:xfrm>
            <a:off x="2852928" y="4864608"/>
            <a:ext cx="2560320" cy="365760"/>
          </a:xfrm>
          <a:prstGeom prst="rect">
            <a:avLst/>
          </a:prstGeom>
          <a:noFill/>
          <a:ln/>
        </p:spPr>
        <p:txBody>
          <a:bodyPr wrap="square" lIns="0" tIns="0" rIns="0" bIns="0" rtlCol="0" anchor="ctr"/>
          <a:lstStyle/>
          <a:p>
            <a:pPr indent="0" marL="0">
              <a:buNone/>
            </a:pPr>
            <a:r>
              <a:rPr lang="en-US" sz="1250" b="1" dirty="0">
                <a:solidFill>
                  <a:srgbClr val="232834"/>
                </a:solidFill>
                <a:latin typeface="Arial" pitchFamily="34" charset="0"/>
                <a:ea typeface="Arial" pitchFamily="34" charset="-122"/>
                <a:cs typeface="Arial" pitchFamily="34" charset="-120"/>
              </a:rPr>
              <a:t>노드당 웨이퍼 단가 상승</a:t>
            </a:r>
            <a:endParaRPr lang="en-US" sz="1250" dirty="0"/>
          </a:p>
        </p:txBody>
      </p:sp>
      <p:sp>
        <p:nvSpPr>
          <p:cNvPr id="16" name="Text 14"/>
          <p:cNvSpPr/>
          <p:nvPr/>
        </p:nvSpPr>
        <p:spPr>
          <a:xfrm>
            <a:off x="932688" y="5376672"/>
            <a:ext cx="4416552" cy="603504"/>
          </a:xfrm>
          <a:prstGeom prst="rect">
            <a:avLst/>
          </a:prstGeom>
          <a:noFill/>
          <a:ln/>
        </p:spPr>
        <p:txBody>
          <a:bodyPr wrap="square" lIns="0" tIns="0" rIns="0" bIns="0" rtlCol="0" anchor="ctr"/>
          <a:lstStyle/>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N7 → N5 → N3로 갈수록 mm²당 원가가 오른다.</a:t>
            </a:r>
            <a:endParaRPr lang="en-US" sz="1150" dirty="0"/>
          </a:p>
          <a:p>
            <a:pPr indent="0" marL="0">
              <a:lnSpc>
                <a:spcPct val="105000"/>
              </a:lnSpc>
              <a:buNone/>
            </a:pPr>
            <a:r>
              <a:rPr lang="en-US" sz="1150" dirty="0">
                <a:solidFill>
                  <a:srgbClr val="6B7381"/>
                </a:solidFill>
                <a:latin typeface="Calibri" pitchFamily="34" charset="0"/>
                <a:ea typeface="Calibri" pitchFamily="34" charset="-122"/>
                <a:cs typeface="Calibri" pitchFamily="34" charset="-120"/>
              </a:rPr>
              <a:t>SRAM · 아날로그 · I/O는 미세화 이득이 거의 없다.</a:t>
            </a:r>
            <a:endParaRPr lang="en-US" sz="1150" dirty="0"/>
          </a:p>
        </p:txBody>
      </p:sp>
      <p:graphicFrame>
        <p:nvGraphicFramePr>
          <p:cNvPr id="17" name="Chart 0" descr=""/>
          <p:cNvGraphicFramePr/>
          <p:nvPr/>
        </p:nvGraphicFramePr>
        <p:xfrm>
          <a:off x="5989320" y="1371600"/>
          <a:ext cx="5577840"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03</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WHAT IS A CHIPLET</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칩렛이란 무엇인가</a:t>
            </a:r>
            <a:endParaRPr lang="en-US" sz="2900" dirty="0"/>
          </a:p>
        </p:txBody>
      </p:sp>
      <p:sp>
        <p:nvSpPr>
          <p:cNvPr id="5" name="Text 3"/>
          <p:cNvSpPr/>
          <p:nvPr/>
        </p:nvSpPr>
        <p:spPr>
          <a:xfrm>
            <a:off x="640080" y="1207008"/>
            <a:ext cx="10881360" cy="274320"/>
          </a:xfrm>
          <a:prstGeom prst="rect">
            <a:avLst/>
          </a:prstGeom>
          <a:noFill/>
          <a:ln/>
        </p:spPr>
        <p:txBody>
          <a:bodyPr wrap="square" lIns="0" tIns="0" rIns="0" bIns="0" rtlCol="0" anchor="ctr"/>
          <a:lstStyle/>
          <a:p>
            <a:pPr indent="0" marL="0">
              <a:buNone/>
            </a:pPr>
            <a:r>
              <a:rPr lang="en-US" sz="1300" dirty="0">
                <a:solidFill>
                  <a:srgbClr val="6B7381"/>
                </a:solidFill>
                <a:latin typeface="Calibri" pitchFamily="34" charset="0"/>
                <a:ea typeface="Calibri" pitchFamily="34" charset="-122"/>
                <a:cs typeface="Calibri" pitchFamily="34" charset="-120"/>
              </a:rPr>
              <a:t>하나의 SoC가 담당하던 기능을 여러 개의 작은 다이로 분할하고, 이를 한 패키지 안에서 고밀도 인터커넥트로 다시 이어 붙인 것.</a:t>
            </a:r>
            <a:endParaRPr lang="en-US" sz="1300" dirty="0"/>
          </a:p>
        </p:txBody>
      </p:sp>
      <p:sp>
        <p:nvSpPr>
          <p:cNvPr id="6" name="Shape 4"/>
          <p:cNvSpPr/>
          <p:nvPr/>
        </p:nvSpPr>
        <p:spPr>
          <a:xfrm>
            <a:off x="640080" y="1627632"/>
            <a:ext cx="5294376" cy="3931920"/>
          </a:xfrm>
          <a:prstGeom prst="roundRect">
            <a:avLst>
              <a:gd name="adj" fmla="val 1395"/>
            </a:avLst>
          </a:prstGeom>
          <a:solidFill>
            <a:srgbClr val="F1F2F5"/>
          </a:solidFill>
          <a:ln w="9525">
            <a:solidFill>
              <a:srgbClr val="D5D9E0"/>
            </a:solidFill>
            <a:prstDash val="solid"/>
          </a:ln>
        </p:spPr>
      </p:sp>
      <p:sp>
        <p:nvSpPr>
          <p:cNvPr id="7" name="Shape 5"/>
          <p:cNvSpPr/>
          <p:nvPr/>
        </p:nvSpPr>
        <p:spPr>
          <a:xfrm>
            <a:off x="6254496" y="1627632"/>
            <a:ext cx="5294376" cy="3931920"/>
          </a:xfrm>
          <a:prstGeom prst="roundRect">
            <a:avLst>
              <a:gd name="adj" fmla="val 1395"/>
            </a:avLst>
          </a:prstGeom>
          <a:solidFill>
            <a:srgbClr val="F1F2F5"/>
          </a:solidFill>
          <a:ln w="9525">
            <a:solidFill>
              <a:srgbClr val="D5D9E0"/>
            </a:solidFill>
            <a:prstDash val="solid"/>
          </a:ln>
        </p:spPr>
      </p:sp>
      <p:sp>
        <p:nvSpPr>
          <p:cNvPr id="8" name="Text 6"/>
          <p:cNvSpPr/>
          <p:nvPr/>
        </p:nvSpPr>
        <p:spPr>
          <a:xfrm>
            <a:off x="960120" y="1828800"/>
            <a:ext cx="3108960" cy="292608"/>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모놀리식 SoC</a:t>
            </a:r>
            <a:endParaRPr lang="en-US" sz="1500" dirty="0"/>
          </a:p>
        </p:txBody>
      </p:sp>
      <p:sp>
        <p:nvSpPr>
          <p:cNvPr id="9" name="Text 7"/>
          <p:cNvSpPr/>
          <p:nvPr/>
        </p:nvSpPr>
        <p:spPr>
          <a:xfrm>
            <a:off x="960120" y="2130552"/>
            <a:ext cx="3108960" cy="237744"/>
          </a:xfrm>
          <a:prstGeom prst="rect">
            <a:avLst/>
          </a:prstGeom>
          <a:noFill/>
          <a:ln/>
        </p:spPr>
        <p:txBody>
          <a:bodyPr wrap="square" lIns="0" tIns="0" rIns="0" bIns="0" rtlCol="0" anchor="ctr"/>
          <a:lstStyle/>
          <a:p>
            <a:pPr indent="0" marL="0">
              <a:buNone/>
            </a:pPr>
            <a:r>
              <a:rPr lang="en-US" sz="1050" dirty="0">
                <a:solidFill>
                  <a:srgbClr val="6B7381"/>
                </a:solidFill>
                <a:latin typeface="Calibri" pitchFamily="34" charset="0"/>
                <a:ea typeface="Calibri" pitchFamily="34" charset="-122"/>
                <a:cs typeface="Calibri" pitchFamily="34" charset="-120"/>
              </a:rPr>
              <a:t>Monolithic SoC</a:t>
            </a:r>
            <a:endParaRPr lang="en-US" sz="1050" dirty="0"/>
          </a:p>
        </p:txBody>
      </p:sp>
      <p:sp>
        <p:nvSpPr>
          <p:cNvPr id="10" name="Text 8"/>
          <p:cNvSpPr/>
          <p:nvPr/>
        </p:nvSpPr>
        <p:spPr>
          <a:xfrm>
            <a:off x="6574536" y="1828800"/>
            <a:ext cx="3108960" cy="292608"/>
          </a:xfrm>
          <a:prstGeom prst="rect">
            <a:avLst/>
          </a:prstGeom>
          <a:noFill/>
          <a:ln/>
        </p:spPr>
        <p:txBody>
          <a:bodyPr wrap="square" lIns="0" tIns="0" rIns="0" bIns="0" rtlCol="0" anchor="ctr"/>
          <a:lstStyle/>
          <a:p>
            <a:pPr indent="0" marL="0">
              <a:buNone/>
            </a:pPr>
            <a:r>
              <a:rPr lang="en-US" sz="1500" b="1" dirty="0">
                <a:solidFill>
                  <a:srgbClr val="B25A22"/>
                </a:solidFill>
                <a:latin typeface="Arial" pitchFamily="34" charset="0"/>
                <a:ea typeface="Arial" pitchFamily="34" charset="-122"/>
                <a:cs typeface="Arial" pitchFamily="34" charset="-120"/>
              </a:rPr>
              <a:t>칩렛 (분할 다이)</a:t>
            </a:r>
            <a:endParaRPr lang="en-US" sz="1500" dirty="0"/>
          </a:p>
        </p:txBody>
      </p:sp>
      <p:sp>
        <p:nvSpPr>
          <p:cNvPr id="11" name="Text 9"/>
          <p:cNvSpPr/>
          <p:nvPr/>
        </p:nvSpPr>
        <p:spPr>
          <a:xfrm>
            <a:off x="6574536" y="2130552"/>
            <a:ext cx="3108960" cy="237744"/>
          </a:xfrm>
          <a:prstGeom prst="rect">
            <a:avLst/>
          </a:prstGeom>
          <a:noFill/>
          <a:ln/>
        </p:spPr>
        <p:txBody>
          <a:bodyPr wrap="square" lIns="0" tIns="0" rIns="0" bIns="0" rtlCol="0" anchor="ctr"/>
          <a:lstStyle/>
          <a:p>
            <a:pPr indent="0" marL="0">
              <a:buNone/>
            </a:pPr>
            <a:r>
              <a:rPr lang="en-US" sz="1050" dirty="0">
                <a:solidFill>
                  <a:srgbClr val="6B7381"/>
                </a:solidFill>
                <a:latin typeface="Calibri" pitchFamily="34" charset="0"/>
                <a:ea typeface="Calibri" pitchFamily="34" charset="-122"/>
                <a:cs typeface="Calibri" pitchFamily="34" charset="-120"/>
              </a:rPr>
              <a:t>Disaggregated Chiplets</a:t>
            </a:r>
            <a:endParaRPr lang="en-US" sz="1050" dirty="0"/>
          </a:p>
        </p:txBody>
      </p:sp>
      <p:sp>
        <p:nvSpPr>
          <p:cNvPr id="12" name="Shape 10"/>
          <p:cNvSpPr/>
          <p:nvPr/>
        </p:nvSpPr>
        <p:spPr>
          <a:xfrm>
            <a:off x="1207008" y="2542032"/>
            <a:ext cx="4160520" cy="1645920"/>
          </a:xfrm>
          <a:prstGeom prst="roundRect">
            <a:avLst>
              <a:gd name="adj" fmla="val 2778"/>
            </a:avLst>
          </a:prstGeom>
          <a:solidFill>
            <a:srgbClr val="3F5A6B"/>
          </a:solidFill>
          <a:ln w="12700">
            <a:solidFill>
              <a:srgbClr val="2C4351"/>
            </a:solidFill>
            <a:prstDash val="solid"/>
          </a:ln>
        </p:spPr>
      </p:sp>
      <p:sp>
        <p:nvSpPr>
          <p:cNvPr id="13" name="Shape 11"/>
          <p:cNvSpPr/>
          <p:nvPr/>
        </p:nvSpPr>
        <p:spPr>
          <a:xfrm>
            <a:off x="1371600" y="2706624"/>
            <a:ext cx="1149096" cy="603504"/>
          </a:xfrm>
          <a:prstGeom prst="roundRect">
            <a:avLst>
              <a:gd name="adj" fmla="val 18182"/>
            </a:avLst>
          </a:prstGeom>
          <a:solidFill>
            <a:srgbClr val="56707E"/>
          </a:solidFill>
          <a:ln w="9525">
            <a:solidFill>
              <a:srgbClr val="FFFFFF"/>
            </a:solidFill>
            <a:prstDash val="solid"/>
          </a:ln>
        </p:spPr>
      </p:sp>
      <p:sp>
        <p:nvSpPr>
          <p:cNvPr id="14" name="Text 12"/>
          <p:cNvSpPr/>
          <p:nvPr/>
        </p:nvSpPr>
        <p:spPr>
          <a:xfrm>
            <a:off x="1371600" y="270662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CPU</a:t>
            </a:r>
            <a:endParaRPr lang="en-US" sz="900" dirty="0"/>
          </a:p>
        </p:txBody>
      </p:sp>
      <p:sp>
        <p:nvSpPr>
          <p:cNvPr id="15" name="Shape 13"/>
          <p:cNvSpPr/>
          <p:nvPr/>
        </p:nvSpPr>
        <p:spPr>
          <a:xfrm>
            <a:off x="2648712" y="2706624"/>
            <a:ext cx="1149096" cy="603504"/>
          </a:xfrm>
          <a:prstGeom prst="roundRect">
            <a:avLst>
              <a:gd name="adj" fmla="val 18182"/>
            </a:avLst>
          </a:prstGeom>
          <a:solidFill>
            <a:srgbClr val="56707E"/>
          </a:solidFill>
          <a:ln w="9525">
            <a:solidFill>
              <a:srgbClr val="FFFFFF"/>
            </a:solidFill>
            <a:prstDash val="solid"/>
          </a:ln>
        </p:spPr>
      </p:sp>
      <p:sp>
        <p:nvSpPr>
          <p:cNvPr id="16" name="Text 14"/>
          <p:cNvSpPr/>
          <p:nvPr/>
        </p:nvSpPr>
        <p:spPr>
          <a:xfrm>
            <a:off x="2648712" y="270662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GPU</a:t>
            </a:r>
            <a:endParaRPr lang="en-US" sz="900" dirty="0"/>
          </a:p>
        </p:txBody>
      </p:sp>
      <p:sp>
        <p:nvSpPr>
          <p:cNvPr id="17" name="Shape 15"/>
          <p:cNvSpPr/>
          <p:nvPr/>
        </p:nvSpPr>
        <p:spPr>
          <a:xfrm>
            <a:off x="3925824" y="2706624"/>
            <a:ext cx="1149096" cy="603504"/>
          </a:xfrm>
          <a:prstGeom prst="roundRect">
            <a:avLst>
              <a:gd name="adj" fmla="val 18182"/>
            </a:avLst>
          </a:prstGeom>
          <a:solidFill>
            <a:srgbClr val="56707E"/>
          </a:solidFill>
          <a:ln w="9525">
            <a:solidFill>
              <a:srgbClr val="FFFFFF"/>
            </a:solidFill>
            <a:prstDash val="solid"/>
          </a:ln>
        </p:spPr>
      </p:sp>
      <p:sp>
        <p:nvSpPr>
          <p:cNvPr id="18" name="Text 16"/>
          <p:cNvSpPr/>
          <p:nvPr/>
        </p:nvSpPr>
        <p:spPr>
          <a:xfrm>
            <a:off x="3925824" y="270662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NPU</a:t>
            </a:r>
            <a:endParaRPr lang="en-US" sz="900" dirty="0"/>
          </a:p>
        </p:txBody>
      </p:sp>
      <p:sp>
        <p:nvSpPr>
          <p:cNvPr id="19" name="Shape 17"/>
          <p:cNvSpPr/>
          <p:nvPr/>
        </p:nvSpPr>
        <p:spPr>
          <a:xfrm>
            <a:off x="1371600" y="3438144"/>
            <a:ext cx="1149096" cy="603504"/>
          </a:xfrm>
          <a:prstGeom prst="roundRect">
            <a:avLst>
              <a:gd name="adj" fmla="val 18182"/>
            </a:avLst>
          </a:prstGeom>
          <a:solidFill>
            <a:srgbClr val="56707E"/>
          </a:solidFill>
          <a:ln w="9525">
            <a:solidFill>
              <a:srgbClr val="FFFFFF"/>
            </a:solidFill>
            <a:prstDash val="solid"/>
          </a:ln>
        </p:spPr>
      </p:sp>
      <p:sp>
        <p:nvSpPr>
          <p:cNvPr id="20" name="Text 18"/>
          <p:cNvSpPr/>
          <p:nvPr/>
        </p:nvSpPr>
        <p:spPr>
          <a:xfrm>
            <a:off x="1371600" y="343814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I/O</a:t>
            </a:r>
            <a:endParaRPr lang="en-US" sz="900" dirty="0"/>
          </a:p>
        </p:txBody>
      </p:sp>
      <p:sp>
        <p:nvSpPr>
          <p:cNvPr id="21" name="Shape 19"/>
          <p:cNvSpPr/>
          <p:nvPr/>
        </p:nvSpPr>
        <p:spPr>
          <a:xfrm>
            <a:off x="2648712" y="3438144"/>
            <a:ext cx="1149096" cy="603504"/>
          </a:xfrm>
          <a:prstGeom prst="roundRect">
            <a:avLst>
              <a:gd name="adj" fmla="val 18182"/>
            </a:avLst>
          </a:prstGeom>
          <a:solidFill>
            <a:srgbClr val="56707E"/>
          </a:solidFill>
          <a:ln w="9525">
            <a:solidFill>
              <a:srgbClr val="FFFFFF"/>
            </a:solidFill>
            <a:prstDash val="solid"/>
          </a:ln>
        </p:spPr>
      </p:sp>
      <p:sp>
        <p:nvSpPr>
          <p:cNvPr id="22" name="Text 20"/>
          <p:cNvSpPr/>
          <p:nvPr/>
        </p:nvSpPr>
        <p:spPr>
          <a:xfrm>
            <a:off x="2648712" y="343814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SerDes</a:t>
            </a:r>
            <a:endParaRPr lang="en-US" sz="900" dirty="0"/>
          </a:p>
        </p:txBody>
      </p:sp>
      <p:sp>
        <p:nvSpPr>
          <p:cNvPr id="23" name="Shape 21"/>
          <p:cNvSpPr/>
          <p:nvPr/>
        </p:nvSpPr>
        <p:spPr>
          <a:xfrm>
            <a:off x="3925824" y="3438144"/>
            <a:ext cx="1149096" cy="603504"/>
          </a:xfrm>
          <a:prstGeom prst="roundRect">
            <a:avLst>
              <a:gd name="adj" fmla="val 18182"/>
            </a:avLst>
          </a:prstGeom>
          <a:solidFill>
            <a:srgbClr val="56707E"/>
          </a:solidFill>
          <a:ln w="9525">
            <a:solidFill>
              <a:srgbClr val="FFFFFF"/>
            </a:solidFill>
            <a:prstDash val="solid"/>
          </a:ln>
        </p:spPr>
      </p:sp>
      <p:sp>
        <p:nvSpPr>
          <p:cNvPr id="24" name="Text 22"/>
          <p:cNvSpPr/>
          <p:nvPr/>
        </p:nvSpPr>
        <p:spPr>
          <a:xfrm>
            <a:off x="3925824" y="3438144"/>
            <a:ext cx="1149096" cy="60350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Memory Ctrl</a:t>
            </a:r>
            <a:endParaRPr lang="en-US" sz="900" dirty="0"/>
          </a:p>
        </p:txBody>
      </p:sp>
      <p:sp>
        <p:nvSpPr>
          <p:cNvPr id="25" name="Text 23"/>
          <p:cNvSpPr/>
          <p:nvPr/>
        </p:nvSpPr>
        <p:spPr>
          <a:xfrm>
            <a:off x="1207008" y="4261104"/>
            <a:ext cx="4160520" cy="237744"/>
          </a:xfrm>
          <a:prstGeom prst="rect">
            <a:avLst/>
          </a:prstGeom>
          <a:noFill/>
          <a:ln/>
        </p:spPr>
        <p:txBody>
          <a:bodyPr wrap="square" lIns="0" tIns="0" rIns="0" bIns="0" rtlCol="0" anchor="ctr"/>
          <a:lstStyle/>
          <a:p>
            <a:pPr algn="ctr" indent="0" marL="0">
              <a:buNone/>
            </a:pPr>
            <a:r>
              <a:rPr lang="en-US" sz="1050" i="1" dirty="0">
                <a:solidFill>
                  <a:srgbClr val="6B7381"/>
                </a:solidFill>
                <a:latin typeface="Calibri" pitchFamily="34" charset="0"/>
                <a:ea typeface="Calibri" pitchFamily="34" charset="-122"/>
                <a:cs typeface="Calibri" pitchFamily="34" charset="-120"/>
              </a:rPr>
              <a:t>전 블록이 하나의 공정 노드 · 하나의 다이</a:t>
            </a:r>
            <a:endParaRPr lang="en-US" sz="1050" dirty="0"/>
          </a:p>
        </p:txBody>
      </p:sp>
      <p:sp>
        <p:nvSpPr>
          <p:cNvPr id="26" name="Shape 24"/>
          <p:cNvSpPr/>
          <p:nvPr/>
        </p:nvSpPr>
        <p:spPr>
          <a:xfrm>
            <a:off x="987552" y="4818888"/>
            <a:ext cx="82296" cy="82296"/>
          </a:xfrm>
          <a:prstGeom prst="roundRect">
            <a:avLst>
              <a:gd name="adj" fmla="val 222222"/>
            </a:avLst>
          </a:prstGeom>
          <a:solidFill>
            <a:srgbClr val="7C97A6"/>
          </a:solidFill>
          <a:ln w="12700">
            <a:solidFill>
              <a:srgbClr val="7C97A6"/>
            </a:solidFill>
            <a:prstDash val="solid"/>
          </a:ln>
        </p:spPr>
      </p:sp>
      <p:sp>
        <p:nvSpPr>
          <p:cNvPr id="27" name="Text 25"/>
          <p:cNvSpPr/>
          <p:nvPr/>
        </p:nvSpPr>
        <p:spPr>
          <a:xfrm>
            <a:off x="1170432" y="4754880"/>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다이가 커질수록 수율 하락 · 원가 급증</a:t>
            </a:r>
            <a:endParaRPr lang="en-US" sz="1050" dirty="0"/>
          </a:p>
        </p:txBody>
      </p:sp>
      <p:sp>
        <p:nvSpPr>
          <p:cNvPr id="28" name="Shape 26"/>
          <p:cNvSpPr/>
          <p:nvPr/>
        </p:nvSpPr>
        <p:spPr>
          <a:xfrm>
            <a:off x="987552" y="5038344"/>
            <a:ext cx="82296" cy="82296"/>
          </a:xfrm>
          <a:prstGeom prst="roundRect">
            <a:avLst>
              <a:gd name="adj" fmla="val 222222"/>
            </a:avLst>
          </a:prstGeom>
          <a:solidFill>
            <a:srgbClr val="7C97A6"/>
          </a:solidFill>
          <a:ln w="12700">
            <a:solidFill>
              <a:srgbClr val="7C97A6"/>
            </a:solidFill>
            <a:prstDash val="solid"/>
          </a:ln>
        </p:spPr>
      </p:sp>
      <p:sp>
        <p:nvSpPr>
          <p:cNvPr id="29" name="Text 27"/>
          <p:cNvSpPr/>
          <p:nvPr/>
        </p:nvSpPr>
        <p:spPr>
          <a:xfrm>
            <a:off x="1170432" y="4974336"/>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아날로그 / I/O도 선단 노드 비용을 그대로 부담</a:t>
            </a:r>
            <a:endParaRPr lang="en-US" sz="1050" dirty="0"/>
          </a:p>
        </p:txBody>
      </p:sp>
      <p:sp>
        <p:nvSpPr>
          <p:cNvPr id="30" name="Shape 28"/>
          <p:cNvSpPr/>
          <p:nvPr/>
        </p:nvSpPr>
        <p:spPr>
          <a:xfrm>
            <a:off x="987552" y="5257800"/>
            <a:ext cx="82296" cy="82296"/>
          </a:xfrm>
          <a:prstGeom prst="roundRect">
            <a:avLst>
              <a:gd name="adj" fmla="val 222222"/>
            </a:avLst>
          </a:prstGeom>
          <a:solidFill>
            <a:srgbClr val="7C97A6"/>
          </a:solidFill>
          <a:ln w="12700">
            <a:solidFill>
              <a:srgbClr val="7C97A6"/>
            </a:solidFill>
            <a:prstDash val="solid"/>
          </a:ln>
        </p:spPr>
      </p:sp>
      <p:sp>
        <p:nvSpPr>
          <p:cNvPr id="31" name="Text 29"/>
          <p:cNvSpPr/>
          <p:nvPr/>
        </p:nvSpPr>
        <p:spPr>
          <a:xfrm>
            <a:off x="1170432" y="5193792"/>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제품 파생마다 전체 다이를 새로 설계</a:t>
            </a:r>
            <a:endParaRPr lang="en-US" sz="1050" dirty="0"/>
          </a:p>
        </p:txBody>
      </p:sp>
      <p:sp>
        <p:nvSpPr>
          <p:cNvPr id="32" name="Shape 30"/>
          <p:cNvSpPr/>
          <p:nvPr/>
        </p:nvSpPr>
        <p:spPr>
          <a:xfrm>
            <a:off x="6821424" y="2542032"/>
            <a:ext cx="2007108" cy="731520"/>
          </a:xfrm>
          <a:prstGeom prst="roundRect">
            <a:avLst>
              <a:gd name="adj" fmla="val 15000"/>
            </a:avLst>
          </a:prstGeom>
          <a:solidFill>
            <a:srgbClr val="B25A22"/>
          </a:solidFill>
          <a:ln w="9525">
            <a:solidFill>
              <a:srgbClr val="FFFFFF"/>
            </a:solidFill>
            <a:prstDash val="solid"/>
          </a:ln>
        </p:spPr>
      </p:sp>
      <p:sp>
        <p:nvSpPr>
          <p:cNvPr id="33" name="Text 31"/>
          <p:cNvSpPr/>
          <p:nvPr/>
        </p:nvSpPr>
        <p:spPr>
          <a:xfrm>
            <a:off x="6821424" y="2651760"/>
            <a:ext cx="200710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CPU 코어</a:t>
            </a:r>
            <a:endParaRPr lang="en-US" sz="1000" dirty="0"/>
          </a:p>
        </p:txBody>
      </p:sp>
      <p:sp>
        <p:nvSpPr>
          <p:cNvPr id="34" name="Text 32"/>
          <p:cNvSpPr/>
          <p:nvPr/>
        </p:nvSpPr>
        <p:spPr>
          <a:xfrm>
            <a:off x="6821424" y="2889504"/>
            <a:ext cx="2007108" cy="219456"/>
          </a:xfrm>
          <a:prstGeom prst="rect">
            <a:avLst/>
          </a:prstGeom>
          <a:noFill/>
          <a:ln/>
        </p:spPr>
        <p:txBody>
          <a:bodyPr wrap="square" lIns="0" tIns="0" rIns="0" bIns="0" rtlCol="0" anchor="ctr"/>
          <a:lstStyle/>
          <a:p>
            <a:pPr algn="ctr" indent="0" marL="0">
              <a:buNone/>
            </a:pPr>
            <a:r>
              <a:rPr lang="en-US" sz="950" dirty="0">
                <a:solidFill>
                  <a:srgbClr val="F0DCCB"/>
                </a:solidFill>
                <a:latin typeface="Calibri" pitchFamily="34" charset="0"/>
                <a:ea typeface="Calibri" pitchFamily="34" charset="-122"/>
                <a:cs typeface="Calibri" pitchFamily="34" charset="-120"/>
              </a:rPr>
              <a:t>N3</a:t>
            </a:r>
            <a:endParaRPr lang="en-US" sz="950" dirty="0"/>
          </a:p>
        </p:txBody>
      </p:sp>
      <p:sp>
        <p:nvSpPr>
          <p:cNvPr id="35" name="Shape 33"/>
          <p:cNvSpPr/>
          <p:nvPr/>
        </p:nvSpPr>
        <p:spPr>
          <a:xfrm>
            <a:off x="6919436" y="3291840"/>
            <a:ext cx="54864" cy="54864"/>
          </a:xfrm>
          <a:prstGeom prst="ellipse">
            <a:avLst/>
          </a:prstGeom>
          <a:solidFill>
            <a:srgbClr val="E09A5F"/>
          </a:solidFill>
          <a:ln w="12700">
            <a:solidFill>
              <a:srgbClr val="E09A5F"/>
            </a:solidFill>
            <a:prstDash val="solid"/>
          </a:ln>
        </p:spPr>
      </p:sp>
      <p:sp>
        <p:nvSpPr>
          <p:cNvPr id="36" name="Shape 34"/>
          <p:cNvSpPr/>
          <p:nvPr/>
        </p:nvSpPr>
        <p:spPr>
          <a:xfrm>
            <a:off x="7170325" y="3291840"/>
            <a:ext cx="54864" cy="54864"/>
          </a:xfrm>
          <a:prstGeom prst="ellipse">
            <a:avLst/>
          </a:prstGeom>
          <a:solidFill>
            <a:srgbClr val="E09A5F"/>
          </a:solidFill>
          <a:ln w="12700">
            <a:solidFill>
              <a:srgbClr val="E09A5F"/>
            </a:solidFill>
            <a:prstDash val="solid"/>
          </a:ln>
        </p:spPr>
      </p:sp>
      <p:sp>
        <p:nvSpPr>
          <p:cNvPr id="37" name="Shape 35"/>
          <p:cNvSpPr/>
          <p:nvPr/>
        </p:nvSpPr>
        <p:spPr>
          <a:xfrm>
            <a:off x="7421213" y="3291840"/>
            <a:ext cx="54864" cy="54864"/>
          </a:xfrm>
          <a:prstGeom prst="ellipse">
            <a:avLst/>
          </a:prstGeom>
          <a:solidFill>
            <a:srgbClr val="E09A5F"/>
          </a:solidFill>
          <a:ln w="12700">
            <a:solidFill>
              <a:srgbClr val="E09A5F"/>
            </a:solidFill>
            <a:prstDash val="solid"/>
          </a:ln>
        </p:spPr>
      </p:sp>
      <p:sp>
        <p:nvSpPr>
          <p:cNvPr id="38" name="Shape 36"/>
          <p:cNvSpPr/>
          <p:nvPr/>
        </p:nvSpPr>
        <p:spPr>
          <a:xfrm>
            <a:off x="7672102" y="3291840"/>
            <a:ext cx="54864" cy="54864"/>
          </a:xfrm>
          <a:prstGeom prst="ellipse">
            <a:avLst/>
          </a:prstGeom>
          <a:solidFill>
            <a:srgbClr val="E09A5F"/>
          </a:solidFill>
          <a:ln w="12700">
            <a:solidFill>
              <a:srgbClr val="E09A5F"/>
            </a:solidFill>
            <a:prstDash val="solid"/>
          </a:ln>
        </p:spPr>
      </p:sp>
      <p:sp>
        <p:nvSpPr>
          <p:cNvPr id="39" name="Shape 37"/>
          <p:cNvSpPr/>
          <p:nvPr/>
        </p:nvSpPr>
        <p:spPr>
          <a:xfrm>
            <a:off x="7922990" y="3291840"/>
            <a:ext cx="54864" cy="54864"/>
          </a:xfrm>
          <a:prstGeom prst="ellipse">
            <a:avLst/>
          </a:prstGeom>
          <a:solidFill>
            <a:srgbClr val="E09A5F"/>
          </a:solidFill>
          <a:ln w="12700">
            <a:solidFill>
              <a:srgbClr val="E09A5F"/>
            </a:solidFill>
            <a:prstDash val="solid"/>
          </a:ln>
        </p:spPr>
      </p:sp>
      <p:sp>
        <p:nvSpPr>
          <p:cNvPr id="40" name="Shape 38"/>
          <p:cNvSpPr/>
          <p:nvPr/>
        </p:nvSpPr>
        <p:spPr>
          <a:xfrm>
            <a:off x="8173879" y="3291840"/>
            <a:ext cx="54864" cy="54864"/>
          </a:xfrm>
          <a:prstGeom prst="ellipse">
            <a:avLst/>
          </a:prstGeom>
          <a:solidFill>
            <a:srgbClr val="E09A5F"/>
          </a:solidFill>
          <a:ln w="12700">
            <a:solidFill>
              <a:srgbClr val="E09A5F"/>
            </a:solidFill>
            <a:prstDash val="solid"/>
          </a:ln>
        </p:spPr>
      </p:sp>
      <p:sp>
        <p:nvSpPr>
          <p:cNvPr id="41" name="Shape 39"/>
          <p:cNvSpPr/>
          <p:nvPr/>
        </p:nvSpPr>
        <p:spPr>
          <a:xfrm>
            <a:off x="8424767" y="3291840"/>
            <a:ext cx="54864" cy="54864"/>
          </a:xfrm>
          <a:prstGeom prst="ellipse">
            <a:avLst/>
          </a:prstGeom>
          <a:solidFill>
            <a:srgbClr val="E09A5F"/>
          </a:solidFill>
          <a:ln w="12700">
            <a:solidFill>
              <a:srgbClr val="E09A5F"/>
            </a:solidFill>
            <a:prstDash val="solid"/>
          </a:ln>
        </p:spPr>
      </p:sp>
      <p:sp>
        <p:nvSpPr>
          <p:cNvPr id="42" name="Shape 40"/>
          <p:cNvSpPr/>
          <p:nvPr/>
        </p:nvSpPr>
        <p:spPr>
          <a:xfrm>
            <a:off x="8675656" y="3291840"/>
            <a:ext cx="54864" cy="54864"/>
          </a:xfrm>
          <a:prstGeom prst="ellipse">
            <a:avLst/>
          </a:prstGeom>
          <a:solidFill>
            <a:srgbClr val="E09A5F"/>
          </a:solidFill>
          <a:ln w="12700">
            <a:solidFill>
              <a:srgbClr val="E09A5F"/>
            </a:solidFill>
            <a:prstDash val="solid"/>
          </a:ln>
        </p:spPr>
      </p:sp>
      <p:sp>
        <p:nvSpPr>
          <p:cNvPr id="43" name="Shape 41"/>
          <p:cNvSpPr/>
          <p:nvPr/>
        </p:nvSpPr>
        <p:spPr>
          <a:xfrm>
            <a:off x="8974836" y="2542032"/>
            <a:ext cx="2007108" cy="731520"/>
          </a:xfrm>
          <a:prstGeom prst="roundRect">
            <a:avLst>
              <a:gd name="adj" fmla="val 15000"/>
            </a:avLst>
          </a:prstGeom>
          <a:solidFill>
            <a:srgbClr val="B25A22"/>
          </a:solidFill>
          <a:ln w="9525">
            <a:solidFill>
              <a:srgbClr val="FFFFFF"/>
            </a:solidFill>
            <a:prstDash val="solid"/>
          </a:ln>
        </p:spPr>
      </p:sp>
      <p:sp>
        <p:nvSpPr>
          <p:cNvPr id="44" name="Text 42"/>
          <p:cNvSpPr/>
          <p:nvPr/>
        </p:nvSpPr>
        <p:spPr>
          <a:xfrm>
            <a:off x="8974836" y="2651760"/>
            <a:ext cx="200710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GPU / NPU</a:t>
            </a:r>
            <a:endParaRPr lang="en-US" sz="1000" dirty="0"/>
          </a:p>
        </p:txBody>
      </p:sp>
      <p:sp>
        <p:nvSpPr>
          <p:cNvPr id="45" name="Text 43"/>
          <p:cNvSpPr/>
          <p:nvPr/>
        </p:nvSpPr>
        <p:spPr>
          <a:xfrm>
            <a:off x="8974836" y="2889504"/>
            <a:ext cx="2007108" cy="219456"/>
          </a:xfrm>
          <a:prstGeom prst="rect">
            <a:avLst/>
          </a:prstGeom>
          <a:noFill/>
          <a:ln/>
        </p:spPr>
        <p:txBody>
          <a:bodyPr wrap="square" lIns="0" tIns="0" rIns="0" bIns="0" rtlCol="0" anchor="ctr"/>
          <a:lstStyle/>
          <a:p>
            <a:pPr algn="ctr" indent="0" marL="0">
              <a:buNone/>
            </a:pPr>
            <a:r>
              <a:rPr lang="en-US" sz="950" dirty="0">
                <a:solidFill>
                  <a:srgbClr val="F0DCCB"/>
                </a:solidFill>
                <a:latin typeface="Calibri" pitchFamily="34" charset="0"/>
                <a:ea typeface="Calibri" pitchFamily="34" charset="-122"/>
                <a:cs typeface="Calibri" pitchFamily="34" charset="-120"/>
              </a:rPr>
              <a:t>N3</a:t>
            </a:r>
            <a:endParaRPr lang="en-US" sz="950" dirty="0"/>
          </a:p>
        </p:txBody>
      </p:sp>
      <p:sp>
        <p:nvSpPr>
          <p:cNvPr id="46" name="Shape 44"/>
          <p:cNvSpPr/>
          <p:nvPr/>
        </p:nvSpPr>
        <p:spPr>
          <a:xfrm>
            <a:off x="9072848" y="3291840"/>
            <a:ext cx="54864" cy="54864"/>
          </a:xfrm>
          <a:prstGeom prst="ellipse">
            <a:avLst/>
          </a:prstGeom>
          <a:solidFill>
            <a:srgbClr val="E09A5F"/>
          </a:solidFill>
          <a:ln w="12700">
            <a:solidFill>
              <a:srgbClr val="E09A5F"/>
            </a:solidFill>
            <a:prstDash val="solid"/>
          </a:ln>
        </p:spPr>
      </p:sp>
      <p:sp>
        <p:nvSpPr>
          <p:cNvPr id="47" name="Shape 45"/>
          <p:cNvSpPr/>
          <p:nvPr/>
        </p:nvSpPr>
        <p:spPr>
          <a:xfrm>
            <a:off x="9323737" y="3291840"/>
            <a:ext cx="54864" cy="54864"/>
          </a:xfrm>
          <a:prstGeom prst="ellipse">
            <a:avLst/>
          </a:prstGeom>
          <a:solidFill>
            <a:srgbClr val="E09A5F"/>
          </a:solidFill>
          <a:ln w="12700">
            <a:solidFill>
              <a:srgbClr val="E09A5F"/>
            </a:solidFill>
            <a:prstDash val="solid"/>
          </a:ln>
        </p:spPr>
      </p:sp>
      <p:sp>
        <p:nvSpPr>
          <p:cNvPr id="48" name="Shape 46"/>
          <p:cNvSpPr/>
          <p:nvPr/>
        </p:nvSpPr>
        <p:spPr>
          <a:xfrm>
            <a:off x="9574625" y="3291840"/>
            <a:ext cx="54864" cy="54864"/>
          </a:xfrm>
          <a:prstGeom prst="ellipse">
            <a:avLst/>
          </a:prstGeom>
          <a:solidFill>
            <a:srgbClr val="E09A5F"/>
          </a:solidFill>
          <a:ln w="12700">
            <a:solidFill>
              <a:srgbClr val="E09A5F"/>
            </a:solidFill>
            <a:prstDash val="solid"/>
          </a:ln>
        </p:spPr>
      </p:sp>
      <p:sp>
        <p:nvSpPr>
          <p:cNvPr id="49" name="Shape 47"/>
          <p:cNvSpPr/>
          <p:nvPr/>
        </p:nvSpPr>
        <p:spPr>
          <a:xfrm>
            <a:off x="9825514" y="3291840"/>
            <a:ext cx="54864" cy="54864"/>
          </a:xfrm>
          <a:prstGeom prst="ellipse">
            <a:avLst/>
          </a:prstGeom>
          <a:solidFill>
            <a:srgbClr val="E09A5F"/>
          </a:solidFill>
          <a:ln w="12700">
            <a:solidFill>
              <a:srgbClr val="E09A5F"/>
            </a:solidFill>
            <a:prstDash val="solid"/>
          </a:ln>
        </p:spPr>
      </p:sp>
      <p:sp>
        <p:nvSpPr>
          <p:cNvPr id="50" name="Shape 48"/>
          <p:cNvSpPr/>
          <p:nvPr/>
        </p:nvSpPr>
        <p:spPr>
          <a:xfrm>
            <a:off x="10076402" y="3291840"/>
            <a:ext cx="54864" cy="54864"/>
          </a:xfrm>
          <a:prstGeom prst="ellipse">
            <a:avLst/>
          </a:prstGeom>
          <a:solidFill>
            <a:srgbClr val="E09A5F"/>
          </a:solidFill>
          <a:ln w="12700">
            <a:solidFill>
              <a:srgbClr val="E09A5F"/>
            </a:solidFill>
            <a:prstDash val="solid"/>
          </a:ln>
        </p:spPr>
      </p:sp>
      <p:sp>
        <p:nvSpPr>
          <p:cNvPr id="51" name="Shape 49"/>
          <p:cNvSpPr/>
          <p:nvPr/>
        </p:nvSpPr>
        <p:spPr>
          <a:xfrm>
            <a:off x="10327291" y="3291840"/>
            <a:ext cx="54864" cy="54864"/>
          </a:xfrm>
          <a:prstGeom prst="ellipse">
            <a:avLst/>
          </a:prstGeom>
          <a:solidFill>
            <a:srgbClr val="E09A5F"/>
          </a:solidFill>
          <a:ln w="12700">
            <a:solidFill>
              <a:srgbClr val="E09A5F"/>
            </a:solidFill>
            <a:prstDash val="solid"/>
          </a:ln>
        </p:spPr>
      </p:sp>
      <p:sp>
        <p:nvSpPr>
          <p:cNvPr id="52" name="Shape 50"/>
          <p:cNvSpPr/>
          <p:nvPr/>
        </p:nvSpPr>
        <p:spPr>
          <a:xfrm>
            <a:off x="10578179" y="3291840"/>
            <a:ext cx="54864" cy="54864"/>
          </a:xfrm>
          <a:prstGeom prst="ellipse">
            <a:avLst/>
          </a:prstGeom>
          <a:solidFill>
            <a:srgbClr val="E09A5F"/>
          </a:solidFill>
          <a:ln w="12700">
            <a:solidFill>
              <a:srgbClr val="E09A5F"/>
            </a:solidFill>
            <a:prstDash val="solid"/>
          </a:ln>
        </p:spPr>
      </p:sp>
      <p:sp>
        <p:nvSpPr>
          <p:cNvPr id="53" name="Shape 51"/>
          <p:cNvSpPr/>
          <p:nvPr/>
        </p:nvSpPr>
        <p:spPr>
          <a:xfrm>
            <a:off x="10829068" y="3291840"/>
            <a:ext cx="54864" cy="54864"/>
          </a:xfrm>
          <a:prstGeom prst="ellipse">
            <a:avLst/>
          </a:prstGeom>
          <a:solidFill>
            <a:srgbClr val="E09A5F"/>
          </a:solidFill>
          <a:ln w="12700">
            <a:solidFill>
              <a:srgbClr val="E09A5F"/>
            </a:solidFill>
            <a:prstDash val="solid"/>
          </a:ln>
        </p:spPr>
      </p:sp>
      <p:sp>
        <p:nvSpPr>
          <p:cNvPr id="54" name="Shape 52"/>
          <p:cNvSpPr/>
          <p:nvPr/>
        </p:nvSpPr>
        <p:spPr>
          <a:xfrm>
            <a:off x="6821424" y="3401568"/>
            <a:ext cx="2007108" cy="731520"/>
          </a:xfrm>
          <a:prstGeom prst="roundRect">
            <a:avLst>
              <a:gd name="adj" fmla="val 15000"/>
            </a:avLst>
          </a:prstGeom>
          <a:solidFill>
            <a:srgbClr val="56707E"/>
          </a:solidFill>
          <a:ln w="9525">
            <a:solidFill>
              <a:srgbClr val="FFFFFF"/>
            </a:solidFill>
            <a:prstDash val="solid"/>
          </a:ln>
        </p:spPr>
      </p:sp>
      <p:sp>
        <p:nvSpPr>
          <p:cNvPr id="55" name="Text 53"/>
          <p:cNvSpPr/>
          <p:nvPr/>
        </p:nvSpPr>
        <p:spPr>
          <a:xfrm>
            <a:off x="6821424" y="3511296"/>
            <a:ext cx="200710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I/O · 아날로그</a:t>
            </a:r>
            <a:endParaRPr lang="en-US" sz="1000" dirty="0"/>
          </a:p>
        </p:txBody>
      </p:sp>
      <p:sp>
        <p:nvSpPr>
          <p:cNvPr id="56" name="Text 54"/>
          <p:cNvSpPr/>
          <p:nvPr/>
        </p:nvSpPr>
        <p:spPr>
          <a:xfrm>
            <a:off x="6821424" y="3749040"/>
            <a:ext cx="2007108" cy="219456"/>
          </a:xfrm>
          <a:prstGeom prst="rect">
            <a:avLst/>
          </a:prstGeom>
          <a:noFill/>
          <a:ln/>
        </p:spPr>
        <p:txBody>
          <a:bodyPr wrap="square" lIns="0" tIns="0" rIns="0" bIns="0" rtlCol="0" anchor="ctr"/>
          <a:lstStyle/>
          <a:p>
            <a:pPr algn="ctr" indent="0" marL="0">
              <a:buNone/>
            </a:pPr>
            <a:r>
              <a:rPr lang="en-US" sz="950" dirty="0">
                <a:solidFill>
                  <a:srgbClr val="F0DCCB"/>
                </a:solidFill>
                <a:latin typeface="Calibri" pitchFamily="34" charset="0"/>
                <a:ea typeface="Calibri" pitchFamily="34" charset="-122"/>
                <a:cs typeface="Calibri" pitchFamily="34" charset="-120"/>
              </a:rPr>
              <a:t>N6</a:t>
            </a:r>
            <a:endParaRPr lang="en-US" sz="950" dirty="0"/>
          </a:p>
        </p:txBody>
      </p:sp>
      <p:sp>
        <p:nvSpPr>
          <p:cNvPr id="57" name="Shape 55"/>
          <p:cNvSpPr/>
          <p:nvPr/>
        </p:nvSpPr>
        <p:spPr>
          <a:xfrm>
            <a:off x="6919436" y="4151376"/>
            <a:ext cx="54864" cy="54864"/>
          </a:xfrm>
          <a:prstGeom prst="ellipse">
            <a:avLst/>
          </a:prstGeom>
          <a:solidFill>
            <a:srgbClr val="E09A5F"/>
          </a:solidFill>
          <a:ln w="12700">
            <a:solidFill>
              <a:srgbClr val="E09A5F"/>
            </a:solidFill>
            <a:prstDash val="solid"/>
          </a:ln>
        </p:spPr>
      </p:sp>
      <p:sp>
        <p:nvSpPr>
          <p:cNvPr id="58" name="Shape 56"/>
          <p:cNvSpPr/>
          <p:nvPr/>
        </p:nvSpPr>
        <p:spPr>
          <a:xfrm>
            <a:off x="7170325" y="4151376"/>
            <a:ext cx="54864" cy="54864"/>
          </a:xfrm>
          <a:prstGeom prst="ellipse">
            <a:avLst/>
          </a:prstGeom>
          <a:solidFill>
            <a:srgbClr val="E09A5F"/>
          </a:solidFill>
          <a:ln w="12700">
            <a:solidFill>
              <a:srgbClr val="E09A5F"/>
            </a:solidFill>
            <a:prstDash val="solid"/>
          </a:ln>
        </p:spPr>
      </p:sp>
      <p:sp>
        <p:nvSpPr>
          <p:cNvPr id="59" name="Shape 57"/>
          <p:cNvSpPr/>
          <p:nvPr/>
        </p:nvSpPr>
        <p:spPr>
          <a:xfrm>
            <a:off x="7421213" y="4151376"/>
            <a:ext cx="54864" cy="54864"/>
          </a:xfrm>
          <a:prstGeom prst="ellipse">
            <a:avLst/>
          </a:prstGeom>
          <a:solidFill>
            <a:srgbClr val="E09A5F"/>
          </a:solidFill>
          <a:ln w="12700">
            <a:solidFill>
              <a:srgbClr val="E09A5F"/>
            </a:solidFill>
            <a:prstDash val="solid"/>
          </a:ln>
        </p:spPr>
      </p:sp>
      <p:sp>
        <p:nvSpPr>
          <p:cNvPr id="60" name="Shape 58"/>
          <p:cNvSpPr/>
          <p:nvPr/>
        </p:nvSpPr>
        <p:spPr>
          <a:xfrm>
            <a:off x="7672102" y="4151376"/>
            <a:ext cx="54864" cy="54864"/>
          </a:xfrm>
          <a:prstGeom prst="ellipse">
            <a:avLst/>
          </a:prstGeom>
          <a:solidFill>
            <a:srgbClr val="E09A5F"/>
          </a:solidFill>
          <a:ln w="12700">
            <a:solidFill>
              <a:srgbClr val="E09A5F"/>
            </a:solidFill>
            <a:prstDash val="solid"/>
          </a:ln>
        </p:spPr>
      </p:sp>
      <p:sp>
        <p:nvSpPr>
          <p:cNvPr id="61" name="Shape 59"/>
          <p:cNvSpPr/>
          <p:nvPr/>
        </p:nvSpPr>
        <p:spPr>
          <a:xfrm>
            <a:off x="7922990" y="4151376"/>
            <a:ext cx="54864" cy="54864"/>
          </a:xfrm>
          <a:prstGeom prst="ellipse">
            <a:avLst/>
          </a:prstGeom>
          <a:solidFill>
            <a:srgbClr val="E09A5F"/>
          </a:solidFill>
          <a:ln w="12700">
            <a:solidFill>
              <a:srgbClr val="E09A5F"/>
            </a:solidFill>
            <a:prstDash val="solid"/>
          </a:ln>
        </p:spPr>
      </p:sp>
      <p:sp>
        <p:nvSpPr>
          <p:cNvPr id="62" name="Shape 60"/>
          <p:cNvSpPr/>
          <p:nvPr/>
        </p:nvSpPr>
        <p:spPr>
          <a:xfrm>
            <a:off x="8173879" y="4151376"/>
            <a:ext cx="54864" cy="54864"/>
          </a:xfrm>
          <a:prstGeom prst="ellipse">
            <a:avLst/>
          </a:prstGeom>
          <a:solidFill>
            <a:srgbClr val="E09A5F"/>
          </a:solidFill>
          <a:ln w="12700">
            <a:solidFill>
              <a:srgbClr val="E09A5F"/>
            </a:solidFill>
            <a:prstDash val="solid"/>
          </a:ln>
        </p:spPr>
      </p:sp>
      <p:sp>
        <p:nvSpPr>
          <p:cNvPr id="63" name="Shape 61"/>
          <p:cNvSpPr/>
          <p:nvPr/>
        </p:nvSpPr>
        <p:spPr>
          <a:xfrm>
            <a:off x="8424767" y="4151376"/>
            <a:ext cx="54864" cy="54864"/>
          </a:xfrm>
          <a:prstGeom prst="ellipse">
            <a:avLst/>
          </a:prstGeom>
          <a:solidFill>
            <a:srgbClr val="E09A5F"/>
          </a:solidFill>
          <a:ln w="12700">
            <a:solidFill>
              <a:srgbClr val="E09A5F"/>
            </a:solidFill>
            <a:prstDash val="solid"/>
          </a:ln>
        </p:spPr>
      </p:sp>
      <p:sp>
        <p:nvSpPr>
          <p:cNvPr id="64" name="Shape 62"/>
          <p:cNvSpPr/>
          <p:nvPr/>
        </p:nvSpPr>
        <p:spPr>
          <a:xfrm>
            <a:off x="8675656" y="4151376"/>
            <a:ext cx="54864" cy="54864"/>
          </a:xfrm>
          <a:prstGeom prst="ellipse">
            <a:avLst/>
          </a:prstGeom>
          <a:solidFill>
            <a:srgbClr val="E09A5F"/>
          </a:solidFill>
          <a:ln w="12700">
            <a:solidFill>
              <a:srgbClr val="E09A5F"/>
            </a:solidFill>
            <a:prstDash val="solid"/>
          </a:ln>
        </p:spPr>
      </p:sp>
      <p:sp>
        <p:nvSpPr>
          <p:cNvPr id="65" name="Shape 63"/>
          <p:cNvSpPr/>
          <p:nvPr/>
        </p:nvSpPr>
        <p:spPr>
          <a:xfrm>
            <a:off x="8974836" y="3401568"/>
            <a:ext cx="2007108" cy="731520"/>
          </a:xfrm>
          <a:prstGeom prst="roundRect">
            <a:avLst>
              <a:gd name="adj" fmla="val 15000"/>
            </a:avLst>
          </a:prstGeom>
          <a:solidFill>
            <a:srgbClr val="3F5A6B"/>
          </a:solidFill>
          <a:ln w="9525">
            <a:solidFill>
              <a:srgbClr val="FFFFFF"/>
            </a:solidFill>
            <a:prstDash val="solid"/>
          </a:ln>
        </p:spPr>
      </p:sp>
      <p:sp>
        <p:nvSpPr>
          <p:cNvPr id="66" name="Text 64"/>
          <p:cNvSpPr/>
          <p:nvPr/>
        </p:nvSpPr>
        <p:spPr>
          <a:xfrm>
            <a:off x="8974836" y="3511296"/>
            <a:ext cx="200710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SRAM 캐시</a:t>
            </a:r>
            <a:endParaRPr lang="en-US" sz="1000" dirty="0"/>
          </a:p>
        </p:txBody>
      </p:sp>
      <p:sp>
        <p:nvSpPr>
          <p:cNvPr id="67" name="Text 65"/>
          <p:cNvSpPr/>
          <p:nvPr/>
        </p:nvSpPr>
        <p:spPr>
          <a:xfrm>
            <a:off x="8974836" y="3749040"/>
            <a:ext cx="2007108" cy="219456"/>
          </a:xfrm>
          <a:prstGeom prst="rect">
            <a:avLst/>
          </a:prstGeom>
          <a:noFill/>
          <a:ln/>
        </p:spPr>
        <p:txBody>
          <a:bodyPr wrap="square" lIns="0" tIns="0" rIns="0" bIns="0" rtlCol="0" anchor="ctr"/>
          <a:lstStyle/>
          <a:p>
            <a:pPr algn="ctr" indent="0" marL="0">
              <a:buNone/>
            </a:pPr>
            <a:r>
              <a:rPr lang="en-US" sz="950" dirty="0">
                <a:solidFill>
                  <a:srgbClr val="F0DCCB"/>
                </a:solidFill>
                <a:latin typeface="Calibri" pitchFamily="34" charset="0"/>
                <a:ea typeface="Calibri" pitchFamily="34" charset="-122"/>
                <a:cs typeface="Calibri" pitchFamily="34" charset="-120"/>
              </a:rPr>
              <a:t>N5</a:t>
            </a:r>
            <a:endParaRPr lang="en-US" sz="950" dirty="0"/>
          </a:p>
        </p:txBody>
      </p:sp>
      <p:sp>
        <p:nvSpPr>
          <p:cNvPr id="68" name="Shape 66"/>
          <p:cNvSpPr/>
          <p:nvPr/>
        </p:nvSpPr>
        <p:spPr>
          <a:xfrm>
            <a:off x="9072848" y="4151376"/>
            <a:ext cx="54864" cy="54864"/>
          </a:xfrm>
          <a:prstGeom prst="ellipse">
            <a:avLst/>
          </a:prstGeom>
          <a:solidFill>
            <a:srgbClr val="E09A5F"/>
          </a:solidFill>
          <a:ln w="12700">
            <a:solidFill>
              <a:srgbClr val="E09A5F"/>
            </a:solidFill>
            <a:prstDash val="solid"/>
          </a:ln>
        </p:spPr>
      </p:sp>
      <p:sp>
        <p:nvSpPr>
          <p:cNvPr id="69" name="Shape 67"/>
          <p:cNvSpPr/>
          <p:nvPr/>
        </p:nvSpPr>
        <p:spPr>
          <a:xfrm>
            <a:off x="9323737" y="4151376"/>
            <a:ext cx="54864" cy="54864"/>
          </a:xfrm>
          <a:prstGeom prst="ellipse">
            <a:avLst/>
          </a:prstGeom>
          <a:solidFill>
            <a:srgbClr val="E09A5F"/>
          </a:solidFill>
          <a:ln w="12700">
            <a:solidFill>
              <a:srgbClr val="E09A5F"/>
            </a:solidFill>
            <a:prstDash val="solid"/>
          </a:ln>
        </p:spPr>
      </p:sp>
      <p:sp>
        <p:nvSpPr>
          <p:cNvPr id="70" name="Shape 68"/>
          <p:cNvSpPr/>
          <p:nvPr/>
        </p:nvSpPr>
        <p:spPr>
          <a:xfrm>
            <a:off x="9574625" y="4151376"/>
            <a:ext cx="54864" cy="54864"/>
          </a:xfrm>
          <a:prstGeom prst="ellipse">
            <a:avLst/>
          </a:prstGeom>
          <a:solidFill>
            <a:srgbClr val="E09A5F"/>
          </a:solidFill>
          <a:ln w="12700">
            <a:solidFill>
              <a:srgbClr val="E09A5F"/>
            </a:solidFill>
            <a:prstDash val="solid"/>
          </a:ln>
        </p:spPr>
      </p:sp>
      <p:sp>
        <p:nvSpPr>
          <p:cNvPr id="71" name="Shape 69"/>
          <p:cNvSpPr/>
          <p:nvPr/>
        </p:nvSpPr>
        <p:spPr>
          <a:xfrm>
            <a:off x="9825514" y="4151376"/>
            <a:ext cx="54864" cy="54864"/>
          </a:xfrm>
          <a:prstGeom prst="ellipse">
            <a:avLst/>
          </a:prstGeom>
          <a:solidFill>
            <a:srgbClr val="E09A5F"/>
          </a:solidFill>
          <a:ln w="12700">
            <a:solidFill>
              <a:srgbClr val="E09A5F"/>
            </a:solidFill>
            <a:prstDash val="solid"/>
          </a:ln>
        </p:spPr>
      </p:sp>
      <p:sp>
        <p:nvSpPr>
          <p:cNvPr id="72" name="Shape 70"/>
          <p:cNvSpPr/>
          <p:nvPr/>
        </p:nvSpPr>
        <p:spPr>
          <a:xfrm>
            <a:off x="10076402" y="4151376"/>
            <a:ext cx="54864" cy="54864"/>
          </a:xfrm>
          <a:prstGeom prst="ellipse">
            <a:avLst/>
          </a:prstGeom>
          <a:solidFill>
            <a:srgbClr val="E09A5F"/>
          </a:solidFill>
          <a:ln w="12700">
            <a:solidFill>
              <a:srgbClr val="E09A5F"/>
            </a:solidFill>
            <a:prstDash val="solid"/>
          </a:ln>
        </p:spPr>
      </p:sp>
      <p:sp>
        <p:nvSpPr>
          <p:cNvPr id="73" name="Shape 71"/>
          <p:cNvSpPr/>
          <p:nvPr/>
        </p:nvSpPr>
        <p:spPr>
          <a:xfrm>
            <a:off x="10327291" y="4151376"/>
            <a:ext cx="54864" cy="54864"/>
          </a:xfrm>
          <a:prstGeom prst="ellipse">
            <a:avLst/>
          </a:prstGeom>
          <a:solidFill>
            <a:srgbClr val="E09A5F"/>
          </a:solidFill>
          <a:ln w="12700">
            <a:solidFill>
              <a:srgbClr val="E09A5F"/>
            </a:solidFill>
            <a:prstDash val="solid"/>
          </a:ln>
        </p:spPr>
      </p:sp>
      <p:sp>
        <p:nvSpPr>
          <p:cNvPr id="74" name="Shape 72"/>
          <p:cNvSpPr/>
          <p:nvPr/>
        </p:nvSpPr>
        <p:spPr>
          <a:xfrm>
            <a:off x="10578179" y="4151376"/>
            <a:ext cx="54864" cy="54864"/>
          </a:xfrm>
          <a:prstGeom prst="ellipse">
            <a:avLst/>
          </a:prstGeom>
          <a:solidFill>
            <a:srgbClr val="E09A5F"/>
          </a:solidFill>
          <a:ln w="12700">
            <a:solidFill>
              <a:srgbClr val="E09A5F"/>
            </a:solidFill>
            <a:prstDash val="solid"/>
          </a:ln>
        </p:spPr>
      </p:sp>
      <p:sp>
        <p:nvSpPr>
          <p:cNvPr id="75" name="Shape 73"/>
          <p:cNvSpPr/>
          <p:nvPr/>
        </p:nvSpPr>
        <p:spPr>
          <a:xfrm>
            <a:off x="10829068" y="4151376"/>
            <a:ext cx="54864" cy="54864"/>
          </a:xfrm>
          <a:prstGeom prst="ellipse">
            <a:avLst/>
          </a:prstGeom>
          <a:solidFill>
            <a:srgbClr val="E09A5F"/>
          </a:solidFill>
          <a:ln w="12700">
            <a:solidFill>
              <a:srgbClr val="E09A5F"/>
            </a:solidFill>
            <a:prstDash val="solid"/>
          </a:ln>
        </p:spPr>
      </p:sp>
      <p:sp>
        <p:nvSpPr>
          <p:cNvPr id="76" name="Shape 74"/>
          <p:cNvSpPr/>
          <p:nvPr/>
        </p:nvSpPr>
        <p:spPr>
          <a:xfrm>
            <a:off x="6711696" y="4297680"/>
            <a:ext cx="4379976" cy="201168"/>
          </a:xfrm>
          <a:prstGeom prst="rect">
            <a:avLst/>
          </a:prstGeom>
          <a:solidFill>
            <a:srgbClr val="2C4351"/>
          </a:solidFill>
          <a:ln w="6350">
            <a:solidFill>
              <a:srgbClr val="7C97A6"/>
            </a:solidFill>
            <a:prstDash val="solid"/>
          </a:ln>
        </p:spPr>
      </p:sp>
      <p:sp>
        <p:nvSpPr>
          <p:cNvPr id="77" name="Text 75"/>
          <p:cNvSpPr/>
          <p:nvPr/>
        </p:nvSpPr>
        <p:spPr>
          <a:xfrm>
            <a:off x="6711696" y="4297680"/>
            <a:ext cx="4379976" cy="201168"/>
          </a:xfrm>
          <a:prstGeom prst="rect">
            <a:avLst/>
          </a:prstGeom>
          <a:noFill/>
          <a:ln/>
        </p:spPr>
        <p:txBody>
          <a:bodyPr wrap="square" lIns="0" tIns="0" rIns="0" bIns="0" rtlCol="0" anchor="ctr"/>
          <a:lstStyle/>
          <a:p>
            <a:pPr algn="ctr" indent="0" marL="0">
              <a:buNone/>
            </a:pPr>
            <a:r>
              <a:rPr lang="en-US" sz="900" dirty="0">
                <a:solidFill>
                  <a:srgbClr val="CFDBE2"/>
                </a:solidFill>
                <a:latin typeface="Calibri" pitchFamily="34" charset="0"/>
                <a:ea typeface="Calibri" pitchFamily="34" charset="-122"/>
                <a:cs typeface="Calibri" pitchFamily="34" charset="-120"/>
              </a:rPr>
              <a:t>Interposer / Substrate  —  D2D 인터커넥트</a:t>
            </a:r>
            <a:endParaRPr lang="en-US" sz="900" dirty="0"/>
          </a:p>
        </p:txBody>
      </p:sp>
      <p:sp>
        <p:nvSpPr>
          <p:cNvPr id="78" name="Shape 76"/>
          <p:cNvSpPr/>
          <p:nvPr/>
        </p:nvSpPr>
        <p:spPr>
          <a:xfrm>
            <a:off x="6601968" y="4818888"/>
            <a:ext cx="82296" cy="82296"/>
          </a:xfrm>
          <a:prstGeom prst="roundRect">
            <a:avLst>
              <a:gd name="adj" fmla="val 222222"/>
            </a:avLst>
          </a:prstGeom>
          <a:solidFill>
            <a:srgbClr val="B25A22"/>
          </a:solidFill>
          <a:ln w="12700">
            <a:solidFill>
              <a:srgbClr val="B25A22"/>
            </a:solidFill>
            <a:prstDash val="solid"/>
          </a:ln>
        </p:spPr>
      </p:sp>
      <p:sp>
        <p:nvSpPr>
          <p:cNvPr id="79" name="Text 77"/>
          <p:cNvSpPr/>
          <p:nvPr/>
        </p:nvSpPr>
        <p:spPr>
          <a:xfrm>
            <a:off x="6784848" y="4754880"/>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기능별로 최적 노드를 따로 선택 (이종 집적)</a:t>
            </a:r>
            <a:endParaRPr lang="en-US" sz="1050" dirty="0"/>
          </a:p>
        </p:txBody>
      </p:sp>
      <p:sp>
        <p:nvSpPr>
          <p:cNvPr id="80" name="Shape 78"/>
          <p:cNvSpPr/>
          <p:nvPr/>
        </p:nvSpPr>
        <p:spPr>
          <a:xfrm>
            <a:off x="6601968" y="5038344"/>
            <a:ext cx="82296" cy="82296"/>
          </a:xfrm>
          <a:prstGeom prst="roundRect">
            <a:avLst>
              <a:gd name="adj" fmla="val 222222"/>
            </a:avLst>
          </a:prstGeom>
          <a:solidFill>
            <a:srgbClr val="B25A22"/>
          </a:solidFill>
          <a:ln w="12700">
            <a:solidFill>
              <a:srgbClr val="B25A22"/>
            </a:solidFill>
            <a:prstDash val="solid"/>
          </a:ln>
        </p:spPr>
      </p:sp>
      <p:sp>
        <p:nvSpPr>
          <p:cNvPr id="81" name="Text 79"/>
          <p:cNvSpPr/>
          <p:nvPr/>
        </p:nvSpPr>
        <p:spPr>
          <a:xfrm>
            <a:off x="6784848" y="4974336"/>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검증된 다이를 여러 제품에 재사용</a:t>
            </a:r>
            <a:endParaRPr lang="en-US" sz="1050" dirty="0"/>
          </a:p>
        </p:txBody>
      </p:sp>
      <p:sp>
        <p:nvSpPr>
          <p:cNvPr id="82" name="Shape 80"/>
          <p:cNvSpPr/>
          <p:nvPr/>
        </p:nvSpPr>
        <p:spPr>
          <a:xfrm>
            <a:off x="6601968" y="5257800"/>
            <a:ext cx="82296" cy="82296"/>
          </a:xfrm>
          <a:prstGeom prst="roundRect">
            <a:avLst>
              <a:gd name="adj" fmla="val 222222"/>
            </a:avLst>
          </a:prstGeom>
          <a:solidFill>
            <a:srgbClr val="B25A22"/>
          </a:solidFill>
          <a:ln w="12700">
            <a:solidFill>
              <a:srgbClr val="B25A22"/>
            </a:solidFill>
            <a:prstDash val="solid"/>
          </a:ln>
        </p:spPr>
      </p:sp>
      <p:sp>
        <p:nvSpPr>
          <p:cNvPr id="83" name="Text 81"/>
          <p:cNvSpPr/>
          <p:nvPr/>
        </p:nvSpPr>
        <p:spPr>
          <a:xfrm>
            <a:off x="6784848" y="5193792"/>
            <a:ext cx="4425696" cy="219456"/>
          </a:xfrm>
          <a:prstGeom prst="rect">
            <a:avLst/>
          </a:prstGeom>
          <a:noFill/>
          <a:ln/>
        </p:spPr>
        <p:txBody>
          <a:bodyPr wrap="square" lIns="0" tIns="0" rIns="0" bIns="0" rtlCol="0" anchor="ctr"/>
          <a:lstStyle/>
          <a:p>
            <a:pPr indent="0" marL="0">
              <a:buNone/>
            </a:pPr>
            <a:r>
              <a:rPr lang="en-US" sz="1050" dirty="0">
                <a:solidFill>
                  <a:srgbClr val="232834"/>
                </a:solidFill>
                <a:latin typeface="Calibri" pitchFamily="34" charset="0"/>
                <a:ea typeface="Calibri" pitchFamily="34" charset="-122"/>
                <a:cs typeface="Calibri" pitchFamily="34" charset="-120"/>
              </a:rPr>
              <a:t>다이 수 조합만 바꿔 SKU 파생</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04</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BENEFITS</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무엇을 얻는가</a:t>
            </a:r>
            <a:endParaRPr lang="en-US" sz="2900" dirty="0"/>
          </a:p>
        </p:txBody>
      </p:sp>
      <p:sp>
        <p:nvSpPr>
          <p:cNvPr id="5" name="Shape 3"/>
          <p:cNvSpPr/>
          <p:nvPr/>
        </p:nvSpPr>
        <p:spPr>
          <a:xfrm>
            <a:off x="640080" y="1371600"/>
            <a:ext cx="3453689" cy="2121408"/>
          </a:xfrm>
          <a:prstGeom prst="roundRect">
            <a:avLst>
              <a:gd name="adj" fmla="val 2586"/>
            </a:avLst>
          </a:prstGeom>
          <a:solidFill>
            <a:srgbClr val="F1F2F5"/>
          </a:solidFill>
          <a:ln w="9525">
            <a:solidFill>
              <a:srgbClr val="D5D9E0"/>
            </a:solidFill>
            <a:prstDash val="solid"/>
          </a:ln>
        </p:spPr>
      </p:sp>
      <p:sp>
        <p:nvSpPr>
          <p:cNvPr id="6" name="Shape 4"/>
          <p:cNvSpPr/>
          <p:nvPr/>
        </p:nvSpPr>
        <p:spPr>
          <a:xfrm>
            <a:off x="932688" y="1682496"/>
            <a:ext cx="201168" cy="201168"/>
          </a:xfrm>
          <a:prstGeom prst="roundRect">
            <a:avLst>
              <a:gd name="adj" fmla="val 90909"/>
            </a:avLst>
          </a:prstGeom>
          <a:solidFill>
            <a:srgbClr val="B25A22"/>
          </a:solidFill>
          <a:ln w="12700">
            <a:solidFill>
              <a:srgbClr val="B25A22"/>
            </a:solidFill>
            <a:prstDash val="solid"/>
          </a:ln>
        </p:spPr>
      </p:sp>
      <p:sp>
        <p:nvSpPr>
          <p:cNvPr id="7" name="Text 5"/>
          <p:cNvSpPr/>
          <p:nvPr/>
        </p:nvSpPr>
        <p:spPr>
          <a:xfrm>
            <a:off x="1261872" y="1609344"/>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수율 · 원가</a:t>
            </a:r>
            <a:endParaRPr lang="en-US" sz="1500" dirty="0"/>
          </a:p>
        </p:txBody>
      </p:sp>
      <p:sp>
        <p:nvSpPr>
          <p:cNvPr id="8" name="Text 6"/>
          <p:cNvSpPr/>
          <p:nvPr/>
        </p:nvSpPr>
        <p:spPr>
          <a:xfrm>
            <a:off x="932688" y="1975104"/>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Yield &amp; Cost</a:t>
            </a:r>
            <a:endParaRPr lang="en-US" sz="1000" dirty="0"/>
          </a:p>
        </p:txBody>
      </p:sp>
      <p:sp>
        <p:nvSpPr>
          <p:cNvPr id="9" name="Text 7"/>
          <p:cNvSpPr/>
          <p:nvPr/>
        </p:nvSpPr>
        <p:spPr>
          <a:xfrm>
            <a:off x="932688" y="2286000"/>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면적을 8배 줄이면 다이 수율이 59 % → 88 %로. 결함 다이 폐기 손실이 작아지고 웨이퍼당 양품 실리콘이 늘어난다.</a:t>
            </a:r>
            <a:endParaRPr lang="en-US" sz="1150" dirty="0"/>
          </a:p>
        </p:txBody>
      </p:sp>
      <p:sp>
        <p:nvSpPr>
          <p:cNvPr id="10" name="Shape 8"/>
          <p:cNvSpPr/>
          <p:nvPr/>
        </p:nvSpPr>
        <p:spPr>
          <a:xfrm>
            <a:off x="4368089" y="1371600"/>
            <a:ext cx="3453689" cy="2121408"/>
          </a:xfrm>
          <a:prstGeom prst="roundRect">
            <a:avLst>
              <a:gd name="adj" fmla="val 2586"/>
            </a:avLst>
          </a:prstGeom>
          <a:solidFill>
            <a:srgbClr val="F1F2F5"/>
          </a:solidFill>
          <a:ln w="9525">
            <a:solidFill>
              <a:srgbClr val="D5D9E0"/>
            </a:solidFill>
            <a:prstDash val="solid"/>
          </a:ln>
        </p:spPr>
      </p:sp>
      <p:sp>
        <p:nvSpPr>
          <p:cNvPr id="11" name="Shape 9"/>
          <p:cNvSpPr/>
          <p:nvPr/>
        </p:nvSpPr>
        <p:spPr>
          <a:xfrm>
            <a:off x="4660697" y="1682496"/>
            <a:ext cx="201168" cy="201168"/>
          </a:xfrm>
          <a:prstGeom prst="roundRect">
            <a:avLst>
              <a:gd name="adj" fmla="val 90909"/>
            </a:avLst>
          </a:prstGeom>
          <a:solidFill>
            <a:srgbClr val="B25A22"/>
          </a:solidFill>
          <a:ln w="12700">
            <a:solidFill>
              <a:srgbClr val="B25A22"/>
            </a:solidFill>
            <a:prstDash val="solid"/>
          </a:ln>
        </p:spPr>
      </p:sp>
      <p:sp>
        <p:nvSpPr>
          <p:cNvPr id="12" name="Text 10"/>
          <p:cNvSpPr/>
          <p:nvPr/>
        </p:nvSpPr>
        <p:spPr>
          <a:xfrm>
            <a:off x="4989881" y="1609344"/>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이종 집적</a:t>
            </a:r>
            <a:endParaRPr lang="en-US" sz="1500" dirty="0"/>
          </a:p>
        </p:txBody>
      </p:sp>
      <p:sp>
        <p:nvSpPr>
          <p:cNvPr id="13" name="Text 11"/>
          <p:cNvSpPr/>
          <p:nvPr/>
        </p:nvSpPr>
        <p:spPr>
          <a:xfrm>
            <a:off x="4660697" y="1975104"/>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Heterogeneous Integration</a:t>
            </a:r>
            <a:endParaRPr lang="en-US" sz="1000" dirty="0"/>
          </a:p>
        </p:txBody>
      </p:sp>
      <p:sp>
        <p:nvSpPr>
          <p:cNvPr id="14" name="Text 12"/>
          <p:cNvSpPr/>
          <p:nvPr/>
        </p:nvSpPr>
        <p:spPr>
          <a:xfrm>
            <a:off x="4660697" y="2286000"/>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로직은 N3, I/O · 아날로그는 N6, 캐시는 N5. 미세화 이득이 없는 블록에 선단 노드 비용을 쓰지 않는다.</a:t>
            </a:r>
            <a:endParaRPr lang="en-US" sz="1150" dirty="0"/>
          </a:p>
        </p:txBody>
      </p:sp>
      <p:sp>
        <p:nvSpPr>
          <p:cNvPr id="15" name="Shape 13"/>
          <p:cNvSpPr/>
          <p:nvPr/>
        </p:nvSpPr>
        <p:spPr>
          <a:xfrm>
            <a:off x="8096098" y="1371600"/>
            <a:ext cx="3453689" cy="2121408"/>
          </a:xfrm>
          <a:prstGeom prst="roundRect">
            <a:avLst>
              <a:gd name="adj" fmla="val 2586"/>
            </a:avLst>
          </a:prstGeom>
          <a:solidFill>
            <a:srgbClr val="F1F2F5"/>
          </a:solidFill>
          <a:ln w="9525">
            <a:solidFill>
              <a:srgbClr val="D5D9E0"/>
            </a:solidFill>
            <a:prstDash val="solid"/>
          </a:ln>
        </p:spPr>
      </p:sp>
      <p:sp>
        <p:nvSpPr>
          <p:cNvPr id="16" name="Shape 14"/>
          <p:cNvSpPr/>
          <p:nvPr/>
        </p:nvSpPr>
        <p:spPr>
          <a:xfrm>
            <a:off x="8388706" y="1682496"/>
            <a:ext cx="201168" cy="201168"/>
          </a:xfrm>
          <a:prstGeom prst="roundRect">
            <a:avLst>
              <a:gd name="adj" fmla="val 90909"/>
            </a:avLst>
          </a:prstGeom>
          <a:solidFill>
            <a:srgbClr val="B25A22"/>
          </a:solidFill>
          <a:ln w="12700">
            <a:solidFill>
              <a:srgbClr val="B25A22"/>
            </a:solidFill>
            <a:prstDash val="solid"/>
          </a:ln>
        </p:spPr>
      </p:sp>
      <p:sp>
        <p:nvSpPr>
          <p:cNvPr id="17" name="Text 15"/>
          <p:cNvSpPr/>
          <p:nvPr/>
        </p:nvSpPr>
        <p:spPr>
          <a:xfrm>
            <a:off x="8717890" y="1609344"/>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레티클 초과 확장</a:t>
            </a:r>
            <a:endParaRPr lang="en-US" sz="1500" dirty="0"/>
          </a:p>
        </p:txBody>
      </p:sp>
      <p:sp>
        <p:nvSpPr>
          <p:cNvPr id="18" name="Text 16"/>
          <p:cNvSpPr/>
          <p:nvPr/>
        </p:nvSpPr>
        <p:spPr>
          <a:xfrm>
            <a:off x="8388706" y="1975104"/>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Beyond-Reticle Scaling</a:t>
            </a:r>
            <a:endParaRPr lang="en-US" sz="1000" dirty="0"/>
          </a:p>
        </p:txBody>
      </p:sp>
      <p:sp>
        <p:nvSpPr>
          <p:cNvPr id="19" name="Text 17"/>
          <p:cNvSpPr/>
          <p:nvPr/>
        </p:nvSpPr>
        <p:spPr>
          <a:xfrm>
            <a:off x="8388706" y="2286000"/>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858 mm² 상한을 다이 개수로 우회. 인터포저는 이미 레티클 3.3배급, 5.5배급으로 확대 중.</a:t>
            </a:r>
            <a:endParaRPr lang="en-US" sz="1150" dirty="0"/>
          </a:p>
        </p:txBody>
      </p:sp>
      <p:sp>
        <p:nvSpPr>
          <p:cNvPr id="20" name="Shape 18"/>
          <p:cNvSpPr/>
          <p:nvPr/>
        </p:nvSpPr>
        <p:spPr>
          <a:xfrm>
            <a:off x="640080" y="3767328"/>
            <a:ext cx="3453689" cy="2121408"/>
          </a:xfrm>
          <a:prstGeom prst="roundRect">
            <a:avLst>
              <a:gd name="adj" fmla="val 2586"/>
            </a:avLst>
          </a:prstGeom>
          <a:solidFill>
            <a:srgbClr val="F1F2F5"/>
          </a:solidFill>
          <a:ln w="9525">
            <a:solidFill>
              <a:srgbClr val="D5D9E0"/>
            </a:solidFill>
            <a:prstDash val="solid"/>
          </a:ln>
        </p:spPr>
      </p:sp>
      <p:sp>
        <p:nvSpPr>
          <p:cNvPr id="21" name="Shape 19"/>
          <p:cNvSpPr/>
          <p:nvPr/>
        </p:nvSpPr>
        <p:spPr>
          <a:xfrm>
            <a:off x="932688" y="4078224"/>
            <a:ext cx="201168" cy="201168"/>
          </a:xfrm>
          <a:prstGeom prst="roundRect">
            <a:avLst>
              <a:gd name="adj" fmla="val 90909"/>
            </a:avLst>
          </a:prstGeom>
          <a:solidFill>
            <a:srgbClr val="B25A22"/>
          </a:solidFill>
          <a:ln w="12700">
            <a:solidFill>
              <a:srgbClr val="B25A22"/>
            </a:solidFill>
            <a:prstDash val="solid"/>
          </a:ln>
        </p:spPr>
      </p:sp>
      <p:sp>
        <p:nvSpPr>
          <p:cNvPr id="22" name="Text 20"/>
          <p:cNvSpPr/>
          <p:nvPr/>
        </p:nvSpPr>
        <p:spPr>
          <a:xfrm>
            <a:off x="1261872" y="4005072"/>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IP 재사용</a:t>
            </a:r>
            <a:endParaRPr lang="en-US" sz="1500" dirty="0"/>
          </a:p>
        </p:txBody>
      </p:sp>
      <p:sp>
        <p:nvSpPr>
          <p:cNvPr id="23" name="Text 21"/>
          <p:cNvSpPr/>
          <p:nvPr/>
        </p:nvSpPr>
        <p:spPr>
          <a:xfrm>
            <a:off x="932688" y="4370832"/>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Design Reuse</a:t>
            </a:r>
            <a:endParaRPr lang="en-US" sz="1000" dirty="0"/>
          </a:p>
        </p:txBody>
      </p:sp>
      <p:sp>
        <p:nvSpPr>
          <p:cNvPr id="24" name="Text 22"/>
          <p:cNvSpPr/>
          <p:nvPr/>
        </p:nvSpPr>
        <p:spPr>
          <a:xfrm>
            <a:off x="932688" y="4681728"/>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검증된 실물 다이를 그대로 다음 제품에 태운다. 마스크 세트와 실리콘 검증 비용을 세대 간에 분할 상각.</a:t>
            </a:r>
            <a:endParaRPr lang="en-US" sz="1150" dirty="0"/>
          </a:p>
        </p:txBody>
      </p:sp>
      <p:sp>
        <p:nvSpPr>
          <p:cNvPr id="25" name="Shape 23"/>
          <p:cNvSpPr/>
          <p:nvPr/>
        </p:nvSpPr>
        <p:spPr>
          <a:xfrm>
            <a:off x="4368089" y="3767328"/>
            <a:ext cx="3453689" cy="2121408"/>
          </a:xfrm>
          <a:prstGeom prst="roundRect">
            <a:avLst>
              <a:gd name="adj" fmla="val 2586"/>
            </a:avLst>
          </a:prstGeom>
          <a:solidFill>
            <a:srgbClr val="F1F2F5"/>
          </a:solidFill>
          <a:ln w="9525">
            <a:solidFill>
              <a:srgbClr val="D5D9E0"/>
            </a:solidFill>
            <a:prstDash val="solid"/>
          </a:ln>
        </p:spPr>
      </p:sp>
      <p:sp>
        <p:nvSpPr>
          <p:cNvPr id="26" name="Shape 24"/>
          <p:cNvSpPr/>
          <p:nvPr/>
        </p:nvSpPr>
        <p:spPr>
          <a:xfrm>
            <a:off x="4660697" y="4078224"/>
            <a:ext cx="201168" cy="201168"/>
          </a:xfrm>
          <a:prstGeom prst="roundRect">
            <a:avLst>
              <a:gd name="adj" fmla="val 90909"/>
            </a:avLst>
          </a:prstGeom>
          <a:solidFill>
            <a:srgbClr val="B25A22"/>
          </a:solidFill>
          <a:ln w="12700">
            <a:solidFill>
              <a:srgbClr val="B25A22"/>
            </a:solidFill>
            <a:prstDash val="solid"/>
          </a:ln>
        </p:spPr>
      </p:sp>
      <p:sp>
        <p:nvSpPr>
          <p:cNvPr id="27" name="Text 25"/>
          <p:cNvSpPr/>
          <p:nvPr/>
        </p:nvSpPr>
        <p:spPr>
          <a:xfrm>
            <a:off x="4989881" y="4005072"/>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제품 파생</a:t>
            </a:r>
            <a:endParaRPr lang="en-US" sz="1500" dirty="0"/>
          </a:p>
        </p:txBody>
      </p:sp>
      <p:sp>
        <p:nvSpPr>
          <p:cNvPr id="28" name="Text 26"/>
          <p:cNvSpPr/>
          <p:nvPr/>
        </p:nvSpPr>
        <p:spPr>
          <a:xfrm>
            <a:off x="4660697" y="4370832"/>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SKU Derivation</a:t>
            </a:r>
            <a:endParaRPr lang="en-US" sz="1000" dirty="0"/>
          </a:p>
        </p:txBody>
      </p:sp>
      <p:sp>
        <p:nvSpPr>
          <p:cNvPr id="29" name="Text 27"/>
          <p:cNvSpPr/>
          <p:nvPr/>
        </p:nvSpPr>
        <p:spPr>
          <a:xfrm>
            <a:off x="4660697" y="4681728"/>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동일 다이의 개수 조합만 바꿔 라인업 구성. 서버 8~96코어를 하나의 CCD 설계로 커버.</a:t>
            </a:r>
            <a:endParaRPr lang="en-US" sz="1150" dirty="0"/>
          </a:p>
        </p:txBody>
      </p:sp>
      <p:sp>
        <p:nvSpPr>
          <p:cNvPr id="30" name="Shape 28"/>
          <p:cNvSpPr/>
          <p:nvPr/>
        </p:nvSpPr>
        <p:spPr>
          <a:xfrm>
            <a:off x="8096098" y="3767328"/>
            <a:ext cx="3453689" cy="2121408"/>
          </a:xfrm>
          <a:prstGeom prst="roundRect">
            <a:avLst>
              <a:gd name="adj" fmla="val 2586"/>
            </a:avLst>
          </a:prstGeom>
          <a:solidFill>
            <a:srgbClr val="F1F2F5"/>
          </a:solidFill>
          <a:ln w="9525">
            <a:solidFill>
              <a:srgbClr val="D5D9E0"/>
            </a:solidFill>
            <a:prstDash val="solid"/>
          </a:ln>
        </p:spPr>
      </p:sp>
      <p:sp>
        <p:nvSpPr>
          <p:cNvPr id="31" name="Shape 29"/>
          <p:cNvSpPr/>
          <p:nvPr/>
        </p:nvSpPr>
        <p:spPr>
          <a:xfrm>
            <a:off x="8388706" y="4078224"/>
            <a:ext cx="201168" cy="201168"/>
          </a:xfrm>
          <a:prstGeom prst="roundRect">
            <a:avLst>
              <a:gd name="adj" fmla="val 90909"/>
            </a:avLst>
          </a:prstGeom>
          <a:solidFill>
            <a:srgbClr val="B25A22"/>
          </a:solidFill>
          <a:ln w="12700">
            <a:solidFill>
              <a:srgbClr val="B25A22"/>
            </a:solidFill>
            <a:prstDash val="solid"/>
          </a:ln>
        </p:spPr>
      </p:sp>
      <p:sp>
        <p:nvSpPr>
          <p:cNvPr id="32" name="Text 30"/>
          <p:cNvSpPr/>
          <p:nvPr/>
        </p:nvSpPr>
        <p:spPr>
          <a:xfrm>
            <a:off x="8717890" y="4005072"/>
            <a:ext cx="2557577" cy="310896"/>
          </a:xfrm>
          <a:prstGeom prst="rect">
            <a:avLst/>
          </a:prstGeom>
          <a:noFill/>
          <a:ln/>
        </p:spPr>
        <p:txBody>
          <a:bodyPr wrap="square" lIns="0" tIns="0" rIns="0" bIns="0" rtlCol="0" anchor="ctr"/>
          <a:lstStyle/>
          <a:p>
            <a:pPr indent="0" marL="0">
              <a:buNone/>
            </a:pPr>
            <a:r>
              <a:rPr lang="en-US" sz="1500" b="1" dirty="0">
                <a:solidFill>
                  <a:srgbClr val="232834"/>
                </a:solidFill>
                <a:latin typeface="Arial" pitchFamily="34" charset="0"/>
                <a:ea typeface="Arial" pitchFamily="34" charset="-122"/>
                <a:cs typeface="Arial" pitchFamily="34" charset="-120"/>
              </a:rPr>
              <a:t>개발 기간</a:t>
            </a:r>
            <a:endParaRPr lang="en-US" sz="1500" dirty="0"/>
          </a:p>
        </p:txBody>
      </p:sp>
      <p:sp>
        <p:nvSpPr>
          <p:cNvPr id="33" name="Text 31"/>
          <p:cNvSpPr/>
          <p:nvPr/>
        </p:nvSpPr>
        <p:spPr>
          <a:xfrm>
            <a:off x="8388706" y="4370832"/>
            <a:ext cx="2868473"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Time-to-Market</a:t>
            </a:r>
            <a:endParaRPr lang="en-US" sz="1000" dirty="0"/>
          </a:p>
        </p:txBody>
      </p:sp>
      <p:sp>
        <p:nvSpPr>
          <p:cNvPr id="34" name="Text 32"/>
          <p:cNvSpPr/>
          <p:nvPr/>
        </p:nvSpPr>
        <p:spPr>
          <a:xfrm>
            <a:off x="8388706" y="4681728"/>
            <a:ext cx="2868473" cy="1005840"/>
          </a:xfrm>
          <a:prstGeom prst="rect">
            <a:avLst/>
          </a:prstGeom>
          <a:noFill/>
          <a:ln/>
        </p:spPr>
        <p:txBody>
          <a:bodyPr wrap="square" lIns="0" tIns="0" rIns="0" bIns="0" rtlCol="0" anchor="ctr"/>
          <a:lstStyle/>
          <a:p>
            <a:pPr indent="0" marL="0">
              <a:lnSpc>
                <a:spcPct val="112000"/>
              </a:lnSpc>
              <a:buNone/>
            </a:pPr>
            <a:r>
              <a:rPr lang="en-US" sz="1150" dirty="0">
                <a:solidFill>
                  <a:srgbClr val="6B7381"/>
                </a:solidFill>
                <a:latin typeface="Calibri" pitchFamily="34" charset="0"/>
                <a:ea typeface="Calibri" pitchFamily="34" charset="-122"/>
                <a:cs typeface="Calibri" pitchFamily="34" charset="-120"/>
              </a:rPr>
              <a:t>다이별 병렬 설계 · 병렬 테이프아웃. 문제가 난 다이만 리스핀하면 되므로 리스크가 국소화된다.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97A0B0"/>
                </a:solidFill>
                <a:latin typeface="Arial" pitchFamily="34" charset="0"/>
                <a:ea typeface="Arial" pitchFamily="34" charset="-122"/>
                <a:cs typeface="Arial" pitchFamily="34" charset="-120"/>
              </a:rPr>
              <a:t>05</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E09A5F"/>
                </a:solidFill>
                <a:latin typeface="Arial" pitchFamily="34" charset="0"/>
                <a:ea typeface="Arial" pitchFamily="34" charset="-122"/>
                <a:cs typeface="Arial" pitchFamily="34" charset="-120"/>
              </a:rPr>
              <a:t>TRADE-OFFS</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무엇을 잃는가</a:t>
            </a:r>
            <a:endParaRPr lang="en-US" sz="2900" dirty="0"/>
          </a:p>
        </p:txBody>
      </p:sp>
      <p:sp>
        <p:nvSpPr>
          <p:cNvPr id="5" name="Text 3"/>
          <p:cNvSpPr/>
          <p:nvPr/>
        </p:nvSpPr>
        <p:spPr>
          <a:xfrm>
            <a:off x="640080" y="1207008"/>
            <a:ext cx="10881360" cy="274320"/>
          </a:xfrm>
          <a:prstGeom prst="rect">
            <a:avLst/>
          </a:prstGeom>
          <a:noFill/>
          <a:ln/>
        </p:spPr>
        <p:txBody>
          <a:bodyPr wrap="square" lIns="0" tIns="0" rIns="0" bIns="0" rtlCol="0" anchor="ctr"/>
          <a:lstStyle/>
          <a:p>
            <a:pPr indent="0" marL="0">
              <a:buNone/>
            </a:pPr>
            <a:r>
              <a:rPr lang="en-US" sz="1300" dirty="0">
                <a:solidFill>
                  <a:srgbClr val="97A0B0"/>
                </a:solidFill>
                <a:latin typeface="Calibri" pitchFamily="34" charset="0"/>
                <a:ea typeface="Calibri" pitchFamily="34" charset="-122"/>
                <a:cs typeface="Calibri" pitchFamily="34" charset="-120"/>
              </a:rPr>
              <a:t>공짜가 아니다. 다이 경계를 하나 만들 때마다 전력 · 지연 · 원가 · 테스트에서 대가를 치른다.</a:t>
            </a:r>
            <a:endParaRPr lang="en-US" sz="1300" dirty="0"/>
          </a:p>
        </p:txBody>
      </p:sp>
      <p:sp>
        <p:nvSpPr>
          <p:cNvPr id="6" name="Shape 4"/>
          <p:cNvSpPr/>
          <p:nvPr/>
        </p:nvSpPr>
        <p:spPr>
          <a:xfrm>
            <a:off x="640080" y="1572768"/>
            <a:ext cx="5294376" cy="2057400"/>
          </a:xfrm>
          <a:prstGeom prst="roundRect">
            <a:avLst>
              <a:gd name="adj" fmla="val 2667"/>
            </a:avLst>
          </a:prstGeom>
          <a:solidFill>
            <a:srgbClr val="1E2431"/>
          </a:solidFill>
          <a:ln w="9525">
            <a:solidFill>
              <a:srgbClr val="2C3444"/>
            </a:solidFill>
            <a:prstDash val="solid"/>
          </a:ln>
        </p:spPr>
      </p:sp>
      <p:sp>
        <p:nvSpPr>
          <p:cNvPr id="7" name="Text 5"/>
          <p:cNvSpPr/>
          <p:nvPr/>
        </p:nvSpPr>
        <p:spPr>
          <a:xfrm>
            <a:off x="950976" y="1755648"/>
            <a:ext cx="4672584"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인터커넥트 전력</a:t>
            </a:r>
            <a:endParaRPr lang="en-US" sz="1400" dirty="0"/>
          </a:p>
        </p:txBody>
      </p:sp>
      <p:sp>
        <p:nvSpPr>
          <p:cNvPr id="8" name="Text 6"/>
          <p:cNvSpPr/>
          <p:nvPr/>
        </p:nvSpPr>
        <p:spPr>
          <a:xfrm>
            <a:off x="950976" y="2029968"/>
            <a:ext cx="4672584" cy="219456"/>
          </a:xfrm>
          <a:prstGeom prst="rect">
            <a:avLst/>
          </a:prstGeom>
          <a:noFill/>
          <a:ln/>
        </p:spPr>
        <p:txBody>
          <a:bodyPr wrap="square" lIns="0" tIns="0" rIns="0" bIns="0" rtlCol="0" anchor="ctr"/>
          <a:lstStyle/>
          <a:p>
            <a:pPr indent="0" marL="0">
              <a:buNone/>
            </a:pPr>
            <a:r>
              <a:rPr lang="en-US" sz="1000" i="1" dirty="0">
                <a:solidFill>
                  <a:srgbClr val="E09A5F"/>
                </a:solidFill>
                <a:latin typeface="Calibri" pitchFamily="34" charset="0"/>
                <a:ea typeface="Calibri" pitchFamily="34" charset="-122"/>
                <a:cs typeface="Calibri" pitchFamily="34" charset="-120"/>
              </a:rPr>
              <a:t>Interconnect Power</a:t>
            </a:r>
            <a:endParaRPr lang="en-US" sz="1000" dirty="0"/>
          </a:p>
        </p:txBody>
      </p:sp>
      <p:sp>
        <p:nvSpPr>
          <p:cNvPr id="9" name="Text 7"/>
          <p:cNvSpPr/>
          <p:nvPr/>
        </p:nvSpPr>
        <p:spPr>
          <a:xfrm>
            <a:off x="950976" y="2304288"/>
            <a:ext cx="4672584" cy="457200"/>
          </a:xfrm>
          <a:prstGeom prst="rect">
            <a:avLst/>
          </a:prstGeom>
          <a:noFill/>
          <a:ln/>
        </p:spPr>
        <p:txBody>
          <a:bodyPr wrap="square" lIns="0" tIns="0" rIns="0" bIns="0" rtlCol="0" anchor="ctr"/>
          <a:lstStyle/>
          <a:p>
            <a:pPr indent="0" marL="0">
              <a:buNone/>
            </a:pPr>
            <a:r>
              <a:rPr lang="en-US" sz="2600" b="1" dirty="0">
                <a:solidFill>
                  <a:srgbClr val="E09A5F"/>
                </a:solidFill>
                <a:latin typeface="Arial" pitchFamily="34" charset="0"/>
                <a:ea typeface="Arial" pitchFamily="34" charset="-122"/>
                <a:cs typeface="Arial" pitchFamily="34" charset="-120"/>
              </a:rPr>
              <a:t>0.25 – 0.5</a:t>
            </a:r>
            <a:pPr indent="0" marL="0">
              <a:buNone/>
            </a:pPr>
            <a:r>
              <a:rPr lang="en-US" sz="1200" dirty="0">
                <a:solidFill>
                  <a:srgbClr val="97A0B0"/>
                </a:solidFill>
                <a:latin typeface="Calibri" pitchFamily="34" charset="0"/>
                <a:ea typeface="Calibri" pitchFamily="34" charset="-122"/>
                <a:cs typeface="Calibri" pitchFamily="34" charset="-120"/>
              </a:rPr>
              <a:t>   pJ/bit</a:t>
            </a:r>
            <a:endParaRPr lang="en-US" sz="2600" dirty="0"/>
          </a:p>
        </p:txBody>
      </p:sp>
      <p:sp>
        <p:nvSpPr>
          <p:cNvPr id="10" name="Text 8"/>
          <p:cNvSpPr/>
          <p:nvPr/>
        </p:nvSpPr>
        <p:spPr>
          <a:xfrm>
            <a:off x="950976" y="2798064"/>
            <a:ext cx="4672584" cy="731520"/>
          </a:xfrm>
          <a:prstGeom prst="rect">
            <a:avLst/>
          </a:prstGeom>
          <a:noFill/>
          <a:ln/>
        </p:spPr>
        <p:txBody>
          <a:bodyPr wrap="square" lIns="0" tIns="0" rIns="0" bIns="0" rtlCol="0" anchor="ctr"/>
          <a:lstStyle/>
          <a:p>
            <a:pPr indent="0" marL="0">
              <a:lnSpc>
                <a:spcPct val="112000"/>
              </a:lnSpc>
              <a:buNone/>
            </a:pPr>
            <a:r>
              <a:rPr lang="en-US" sz="1150" dirty="0">
                <a:solidFill>
                  <a:srgbClr val="E7EAF0"/>
                </a:solidFill>
                <a:latin typeface="Calibri" pitchFamily="34" charset="0"/>
                <a:ea typeface="Calibri" pitchFamily="34" charset="-122"/>
                <a:cs typeface="Calibri" pitchFamily="34" charset="-120"/>
              </a:rPr>
              <a:t>온다이 배선은 0.05 pJ/bit 수준. 다이 경계를 넘는 순간 5~10배가 된다. TB/s급 대역폭에서는 수 W~수십 W의 추가 전력이다.</a:t>
            </a:r>
            <a:endParaRPr lang="en-US" sz="1150" dirty="0"/>
          </a:p>
        </p:txBody>
      </p:sp>
      <p:sp>
        <p:nvSpPr>
          <p:cNvPr id="11" name="Shape 9"/>
          <p:cNvSpPr/>
          <p:nvPr/>
        </p:nvSpPr>
        <p:spPr>
          <a:xfrm>
            <a:off x="6254496" y="1572768"/>
            <a:ext cx="5294376" cy="2057400"/>
          </a:xfrm>
          <a:prstGeom prst="roundRect">
            <a:avLst>
              <a:gd name="adj" fmla="val 2667"/>
            </a:avLst>
          </a:prstGeom>
          <a:solidFill>
            <a:srgbClr val="1E2431"/>
          </a:solidFill>
          <a:ln w="9525">
            <a:solidFill>
              <a:srgbClr val="2C3444"/>
            </a:solidFill>
            <a:prstDash val="solid"/>
          </a:ln>
        </p:spPr>
      </p:sp>
      <p:sp>
        <p:nvSpPr>
          <p:cNvPr id="12" name="Text 10"/>
          <p:cNvSpPr/>
          <p:nvPr/>
        </p:nvSpPr>
        <p:spPr>
          <a:xfrm>
            <a:off x="6565392" y="1755648"/>
            <a:ext cx="4672584"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지연</a:t>
            </a:r>
            <a:endParaRPr lang="en-US" sz="1400" dirty="0"/>
          </a:p>
        </p:txBody>
      </p:sp>
      <p:sp>
        <p:nvSpPr>
          <p:cNvPr id="13" name="Text 11"/>
          <p:cNvSpPr/>
          <p:nvPr/>
        </p:nvSpPr>
        <p:spPr>
          <a:xfrm>
            <a:off x="6565392" y="2029968"/>
            <a:ext cx="4672584" cy="219456"/>
          </a:xfrm>
          <a:prstGeom prst="rect">
            <a:avLst/>
          </a:prstGeom>
          <a:noFill/>
          <a:ln/>
        </p:spPr>
        <p:txBody>
          <a:bodyPr wrap="square" lIns="0" tIns="0" rIns="0" bIns="0" rtlCol="0" anchor="ctr"/>
          <a:lstStyle/>
          <a:p>
            <a:pPr indent="0" marL="0">
              <a:buNone/>
            </a:pPr>
            <a:r>
              <a:rPr lang="en-US" sz="1000" i="1" dirty="0">
                <a:solidFill>
                  <a:srgbClr val="E09A5F"/>
                </a:solidFill>
                <a:latin typeface="Calibri" pitchFamily="34" charset="0"/>
                <a:ea typeface="Calibri" pitchFamily="34" charset="-122"/>
                <a:cs typeface="Calibri" pitchFamily="34" charset="-120"/>
              </a:rPr>
              <a:t>Latency</a:t>
            </a:r>
            <a:endParaRPr lang="en-US" sz="1000" dirty="0"/>
          </a:p>
        </p:txBody>
      </p:sp>
      <p:sp>
        <p:nvSpPr>
          <p:cNvPr id="14" name="Text 12"/>
          <p:cNvSpPr/>
          <p:nvPr/>
        </p:nvSpPr>
        <p:spPr>
          <a:xfrm>
            <a:off x="6565392" y="2304288"/>
            <a:ext cx="4672584" cy="457200"/>
          </a:xfrm>
          <a:prstGeom prst="rect">
            <a:avLst/>
          </a:prstGeom>
          <a:noFill/>
          <a:ln/>
        </p:spPr>
        <p:txBody>
          <a:bodyPr wrap="square" lIns="0" tIns="0" rIns="0" bIns="0" rtlCol="0" anchor="ctr"/>
          <a:lstStyle/>
          <a:p>
            <a:pPr indent="0" marL="0">
              <a:buNone/>
            </a:pPr>
            <a:r>
              <a:rPr lang="en-US" sz="2600" b="1" dirty="0">
                <a:solidFill>
                  <a:srgbClr val="E09A5F"/>
                </a:solidFill>
                <a:latin typeface="Arial" pitchFamily="34" charset="0"/>
                <a:ea typeface="Arial" pitchFamily="34" charset="-122"/>
                <a:cs typeface="Arial" pitchFamily="34" charset="-120"/>
              </a:rPr>
              <a:t>+ 2 – 10</a:t>
            </a:r>
            <a:pPr indent="0" marL="0">
              <a:buNone/>
            </a:pPr>
            <a:r>
              <a:rPr lang="en-US" sz="1200" dirty="0">
                <a:solidFill>
                  <a:srgbClr val="97A0B0"/>
                </a:solidFill>
                <a:latin typeface="Calibri" pitchFamily="34" charset="0"/>
                <a:ea typeface="Calibri" pitchFamily="34" charset="-122"/>
                <a:cs typeface="Calibri" pitchFamily="34" charset="-120"/>
              </a:rPr>
              <a:t>   ns</a:t>
            </a:r>
            <a:endParaRPr lang="en-US" sz="2600" dirty="0"/>
          </a:p>
        </p:txBody>
      </p:sp>
      <p:sp>
        <p:nvSpPr>
          <p:cNvPr id="15" name="Text 13"/>
          <p:cNvSpPr/>
          <p:nvPr/>
        </p:nvSpPr>
        <p:spPr>
          <a:xfrm>
            <a:off x="6565392" y="2798064"/>
            <a:ext cx="4672584" cy="731520"/>
          </a:xfrm>
          <a:prstGeom prst="rect">
            <a:avLst/>
          </a:prstGeom>
          <a:noFill/>
          <a:ln/>
        </p:spPr>
        <p:txBody>
          <a:bodyPr wrap="square" lIns="0" tIns="0" rIns="0" bIns="0" rtlCol="0" anchor="ctr"/>
          <a:lstStyle/>
          <a:p>
            <a:pPr indent="0" marL="0">
              <a:lnSpc>
                <a:spcPct val="112000"/>
              </a:lnSpc>
              <a:buNone/>
            </a:pPr>
            <a:r>
              <a:rPr lang="en-US" sz="1150" dirty="0">
                <a:solidFill>
                  <a:srgbClr val="E7EAF0"/>
                </a:solidFill>
                <a:latin typeface="Calibri" pitchFamily="34" charset="0"/>
                <a:ea typeface="Calibri" pitchFamily="34" charset="-122"/>
                <a:cs typeface="Calibri" pitchFamily="34" charset="-120"/>
              </a:rPr>
              <a:t>다이 경계 통과 지연이 더해지며 접근 지연이 비균일해진다(NUMA 유사). 캐시 코히런시 프로토콜과 스케줄러가 이를 인지해야 한다.</a:t>
            </a:r>
            <a:endParaRPr lang="en-US" sz="1150" dirty="0"/>
          </a:p>
        </p:txBody>
      </p:sp>
      <p:sp>
        <p:nvSpPr>
          <p:cNvPr id="16" name="Shape 14"/>
          <p:cNvSpPr/>
          <p:nvPr/>
        </p:nvSpPr>
        <p:spPr>
          <a:xfrm>
            <a:off x="640080" y="3886200"/>
            <a:ext cx="5294376" cy="2057400"/>
          </a:xfrm>
          <a:prstGeom prst="roundRect">
            <a:avLst>
              <a:gd name="adj" fmla="val 2667"/>
            </a:avLst>
          </a:prstGeom>
          <a:solidFill>
            <a:srgbClr val="1E2431"/>
          </a:solidFill>
          <a:ln w="9525">
            <a:solidFill>
              <a:srgbClr val="2C3444"/>
            </a:solidFill>
            <a:prstDash val="solid"/>
          </a:ln>
        </p:spPr>
      </p:sp>
      <p:sp>
        <p:nvSpPr>
          <p:cNvPr id="17" name="Text 15"/>
          <p:cNvSpPr/>
          <p:nvPr/>
        </p:nvSpPr>
        <p:spPr>
          <a:xfrm>
            <a:off x="950976" y="4069080"/>
            <a:ext cx="4672584"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패키지 원가 · 캐파</a:t>
            </a:r>
            <a:endParaRPr lang="en-US" sz="1400" dirty="0"/>
          </a:p>
        </p:txBody>
      </p:sp>
      <p:sp>
        <p:nvSpPr>
          <p:cNvPr id="18" name="Text 16"/>
          <p:cNvSpPr/>
          <p:nvPr/>
        </p:nvSpPr>
        <p:spPr>
          <a:xfrm>
            <a:off x="950976" y="4343400"/>
            <a:ext cx="4672584" cy="219456"/>
          </a:xfrm>
          <a:prstGeom prst="rect">
            <a:avLst/>
          </a:prstGeom>
          <a:noFill/>
          <a:ln/>
        </p:spPr>
        <p:txBody>
          <a:bodyPr wrap="square" lIns="0" tIns="0" rIns="0" bIns="0" rtlCol="0" anchor="ctr"/>
          <a:lstStyle/>
          <a:p>
            <a:pPr indent="0" marL="0">
              <a:buNone/>
            </a:pPr>
            <a:r>
              <a:rPr lang="en-US" sz="1000" i="1" dirty="0">
                <a:solidFill>
                  <a:srgbClr val="E09A5F"/>
                </a:solidFill>
                <a:latin typeface="Calibri" pitchFamily="34" charset="0"/>
                <a:ea typeface="Calibri" pitchFamily="34" charset="-122"/>
                <a:cs typeface="Calibri" pitchFamily="34" charset="-120"/>
              </a:rPr>
              <a:t>Package Cost</a:t>
            </a:r>
            <a:endParaRPr lang="en-US" sz="1000" dirty="0"/>
          </a:p>
        </p:txBody>
      </p:sp>
      <p:sp>
        <p:nvSpPr>
          <p:cNvPr id="19" name="Text 17"/>
          <p:cNvSpPr/>
          <p:nvPr/>
        </p:nvSpPr>
        <p:spPr>
          <a:xfrm>
            <a:off x="950976" y="4617720"/>
            <a:ext cx="4672584" cy="457200"/>
          </a:xfrm>
          <a:prstGeom prst="rect">
            <a:avLst/>
          </a:prstGeom>
          <a:noFill/>
          <a:ln/>
        </p:spPr>
        <p:txBody>
          <a:bodyPr wrap="square" lIns="0" tIns="0" rIns="0" bIns="0" rtlCol="0" anchor="ctr"/>
          <a:lstStyle/>
          <a:p>
            <a:pPr indent="0" marL="0">
              <a:buNone/>
            </a:pPr>
            <a:r>
              <a:rPr lang="en-US" sz="2600" b="1" dirty="0">
                <a:solidFill>
                  <a:srgbClr val="E09A5F"/>
                </a:solidFill>
                <a:latin typeface="Arial" pitchFamily="34" charset="0"/>
                <a:ea typeface="Arial" pitchFamily="34" charset="-122"/>
                <a:cs typeface="Arial" pitchFamily="34" charset="-120"/>
              </a:rPr>
              <a:t>2.5D / 3D</a:t>
            </a:r>
            <a:pPr indent="0" marL="0">
              <a:buNone/>
            </a:pPr>
            <a:r>
              <a:rPr lang="en-US" sz="1200" dirty="0">
                <a:solidFill>
                  <a:srgbClr val="97A0B0"/>
                </a:solidFill>
                <a:latin typeface="Calibri" pitchFamily="34" charset="0"/>
                <a:ea typeface="Calibri" pitchFamily="34" charset="-122"/>
                <a:cs typeface="Calibri" pitchFamily="34" charset="-120"/>
              </a:rPr>
              <a:t>   package</a:t>
            </a:r>
            <a:endParaRPr lang="en-US" sz="2600" dirty="0"/>
          </a:p>
        </p:txBody>
      </p:sp>
      <p:sp>
        <p:nvSpPr>
          <p:cNvPr id="20" name="Text 18"/>
          <p:cNvSpPr/>
          <p:nvPr/>
        </p:nvSpPr>
        <p:spPr>
          <a:xfrm>
            <a:off x="950976" y="5111496"/>
            <a:ext cx="4672584" cy="731520"/>
          </a:xfrm>
          <a:prstGeom prst="rect">
            <a:avLst/>
          </a:prstGeom>
          <a:noFill/>
          <a:ln/>
        </p:spPr>
        <p:txBody>
          <a:bodyPr wrap="square" lIns="0" tIns="0" rIns="0" bIns="0" rtlCol="0" anchor="ctr"/>
          <a:lstStyle/>
          <a:p>
            <a:pPr indent="0" marL="0">
              <a:lnSpc>
                <a:spcPct val="112000"/>
              </a:lnSpc>
              <a:buNone/>
            </a:pPr>
            <a:r>
              <a:rPr lang="en-US" sz="1150" dirty="0">
                <a:solidFill>
                  <a:srgbClr val="E7EAF0"/>
                </a:solidFill>
                <a:latin typeface="Calibri" pitchFamily="34" charset="0"/>
                <a:ea typeface="Calibri" pitchFamily="34" charset="-122"/>
                <a:cs typeface="Calibri" pitchFamily="34" charset="-120"/>
              </a:rPr>
              <a:t>실리콘 인터포저 · 하이브리드 본딩은 공정 단가가 높고 CoWoS급 캐파는 공급 병목이다. 패키지가 BOM의 지배 항목이 될 수 있다.</a:t>
            </a:r>
            <a:endParaRPr lang="en-US" sz="1150" dirty="0"/>
          </a:p>
        </p:txBody>
      </p:sp>
      <p:sp>
        <p:nvSpPr>
          <p:cNvPr id="21" name="Shape 19"/>
          <p:cNvSpPr/>
          <p:nvPr/>
        </p:nvSpPr>
        <p:spPr>
          <a:xfrm>
            <a:off x="6254496" y="3886200"/>
            <a:ext cx="5294376" cy="2057400"/>
          </a:xfrm>
          <a:prstGeom prst="roundRect">
            <a:avLst>
              <a:gd name="adj" fmla="val 2667"/>
            </a:avLst>
          </a:prstGeom>
          <a:solidFill>
            <a:srgbClr val="1E2431"/>
          </a:solidFill>
          <a:ln w="9525">
            <a:solidFill>
              <a:srgbClr val="2C3444"/>
            </a:solidFill>
            <a:prstDash val="solid"/>
          </a:ln>
        </p:spPr>
      </p:sp>
      <p:sp>
        <p:nvSpPr>
          <p:cNvPr id="22" name="Text 20"/>
          <p:cNvSpPr/>
          <p:nvPr/>
        </p:nvSpPr>
        <p:spPr>
          <a:xfrm>
            <a:off x="6565392" y="4069080"/>
            <a:ext cx="4672584"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테스트 부담</a:t>
            </a:r>
            <a:endParaRPr lang="en-US" sz="1400" dirty="0"/>
          </a:p>
        </p:txBody>
      </p:sp>
      <p:sp>
        <p:nvSpPr>
          <p:cNvPr id="23" name="Text 21"/>
          <p:cNvSpPr/>
          <p:nvPr/>
        </p:nvSpPr>
        <p:spPr>
          <a:xfrm>
            <a:off x="6565392" y="4343400"/>
            <a:ext cx="4672584" cy="219456"/>
          </a:xfrm>
          <a:prstGeom prst="rect">
            <a:avLst/>
          </a:prstGeom>
          <a:noFill/>
          <a:ln/>
        </p:spPr>
        <p:txBody>
          <a:bodyPr wrap="square" lIns="0" tIns="0" rIns="0" bIns="0" rtlCol="0" anchor="ctr"/>
          <a:lstStyle/>
          <a:p>
            <a:pPr indent="0" marL="0">
              <a:buNone/>
            </a:pPr>
            <a:r>
              <a:rPr lang="en-US" sz="1000" i="1" dirty="0">
                <a:solidFill>
                  <a:srgbClr val="E09A5F"/>
                </a:solidFill>
                <a:latin typeface="Calibri" pitchFamily="34" charset="0"/>
                <a:ea typeface="Calibri" pitchFamily="34" charset="-122"/>
                <a:cs typeface="Calibri" pitchFamily="34" charset="-120"/>
              </a:rPr>
              <a:t>KGD &amp; Test</a:t>
            </a:r>
            <a:endParaRPr lang="en-US" sz="1000" dirty="0"/>
          </a:p>
        </p:txBody>
      </p:sp>
      <p:sp>
        <p:nvSpPr>
          <p:cNvPr id="24" name="Text 22"/>
          <p:cNvSpPr/>
          <p:nvPr/>
        </p:nvSpPr>
        <p:spPr>
          <a:xfrm>
            <a:off x="6565392" y="4617720"/>
            <a:ext cx="4672584" cy="457200"/>
          </a:xfrm>
          <a:prstGeom prst="rect">
            <a:avLst/>
          </a:prstGeom>
          <a:noFill/>
          <a:ln/>
        </p:spPr>
        <p:txBody>
          <a:bodyPr wrap="square" lIns="0" tIns="0" rIns="0" bIns="0" rtlCol="0" anchor="ctr"/>
          <a:lstStyle/>
          <a:p>
            <a:pPr indent="0" marL="0">
              <a:buNone/>
            </a:pPr>
            <a:r>
              <a:rPr lang="en-US" sz="2600" b="1" dirty="0">
                <a:solidFill>
                  <a:srgbClr val="E09A5F"/>
                </a:solidFill>
                <a:latin typeface="Arial" pitchFamily="34" charset="0"/>
                <a:ea typeface="Arial" pitchFamily="34" charset="-122"/>
                <a:cs typeface="Arial" pitchFamily="34" charset="-120"/>
              </a:rPr>
              <a:t>Y</a:t>
            </a:r>
            <a:pPr indent="0" marL="0">
              <a:buNone/>
            </a:pPr>
            <a:r>
              <a:rPr lang="en-US" sz="2600" b="1" baseline="30000" dirty="0">
                <a:solidFill>
                  <a:srgbClr val="E09A5F"/>
                </a:solidFill>
                <a:latin typeface="Arial" pitchFamily="34" charset="0"/>
                <a:ea typeface="Arial" pitchFamily="34" charset="-122"/>
                <a:cs typeface="Arial" pitchFamily="34" charset="-120"/>
              </a:rPr>
              <a:t>N</a:t>
            </a:r>
            <a:pPr indent="0" marL="0">
              <a:buNone/>
            </a:pPr>
            <a:r>
              <a:rPr lang="en-US" sz="1200" dirty="0">
                <a:solidFill>
                  <a:srgbClr val="97A0B0"/>
                </a:solidFill>
                <a:latin typeface="Calibri" pitchFamily="34" charset="0"/>
                <a:ea typeface="Calibri" pitchFamily="34" charset="-122"/>
                <a:cs typeface="Calibri" pitchFamily="34" charset="-120"/>
              </a:rPr>
              <a:t>   곱셈 수율</a:t>
            </a:r>
            <a:endParaRPr lang="en-US" sz="2600" dirty="0"/>
          </a:p>
        </p:txBody>
      </p:sp>
      <p:sp>
        <p:nvSpPr>
          <p:cNvPr id="25" name="Text 23"/>
          <p:cNvSpPr/>
          <p:nvPr/>
        </p:nvSpPr>
        <p:spPr>
          <a:xfrm>
            <a:off x="6565392" y="5111496"/>
            <a:ext cx="4672584" cy="731520"/>
          </a:xfrm>
          <a:prstGeom prst="rect">
            <a:avLst/>
          </a:prstGeom>
          <a:noFill/>
          <a:ln/>
        </p:spPr>
        <p:txBody>
          <a:bodyPr wrap="square" lIns="0" tIns="0" rIns="0" bIns="0" rtlCol="0" anchor="ctr"/>
          <a:lstStyle/>
          <a:p>
            <a:pPr indent="0" marL="0">
              <a:lnSpc>
                <a:spcPct val="112000"/>
              </a:lnSpc>
              <a:buNone/>
            </a:pPr>
            <a:r>
              <a:rPr lang="en-US" sz="1150" dirty="0">
                <a:solidFill>
                  <a:srgbClr val="E7EAF0"/>
                </a:solidFill>
                <a:latin typeface="Calibri" pitchFamily="34" charset="0"/>
                <a:ea typeface="Calibri" pitchFamily="34" charset="-122"/>
                <a:cs typeface="Calibri" pitchFamily="34" charset="-120"/>
              </a:rPr>
              <a:t>조립 후 한 다이만 불량이어도 패키지 전체가 손실. 사전 선별(Known Good Die)과 다이별 DFT · 리페어 전략이 필수가 된다.</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06</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ADVANCED PACKAGING</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어떻게 붙이는가 — 패키징 기술</a:t>
            </a:r>
            <a:endParaRPr lang="en-US" sz="2900" dirty="0"/>
          </a:p>
        </p:txBody>
      </p:sp>
      <p:sp>
        <p:nvSpPr>
          <p:cNvPr id="5" name="Text 3"/>
          <p:cNvSpPr/>
          <p:nvPr/>
        </p:nvSpPr>
        <p:spPr>
          <a:xfrm>
            <a:off x="640080" y="1207008"/>
            <a:ext cx="10881360" cy="274320"/>
          </a:xfrm>
          <a:prstGeom prst="rect">
            <a:avLst/>
          </a:prstGeom>
          <a:noFill/>
          <a:ln/>
        </p:spPr>
        <p:txBody>
          <a:bodyPr wrap="square" lIns="0" tIns="0" rIns="0" bIns="0" rtlCol="0" anchor="ctr"/>
          <a:lstStyle/>
          <a:p>
            <a:pPr indent="0" marL="0">
              <a:buNone/>
            </a:pPr>
            <a:r>
              <a:rPr lang="en-US" sz="1300" dirty="0">
                <a:solidFill>
                  <a:srgbClr val="6B7381"/>
                </a:solidFill>
                <a:latin typeface="Calibri" pitchFamily="34" charset="0"/>
                <a:ea typeface="Calibri" pitchFamily="34" charset="-122"/>
                <a:cs typeface="Calibri" pitchFamily="34" charset="-120"/>
              </a:rPr>
              <a:t>다이 사이의 배선 밀도(= 범프 피치)가 곧 사용할 수 있는 D2D 대역폭을 결정한다.</a:t>
            </a:r>
            <a:endParaRPr lang="en-US" sz="1300" dirty="0"/>
          </a:p>
        </p:txBody>
      </p:sp>
      <p:sp>
        <p:nvSpPr>
          <p:cNvPr id="6" name="Shape 4"/>
          <p:cNvSpPr/>
          <p:nvPr/>
        </p:nvSpPr>
        <p:spPr>
          <a:xfrm>
            <a:off x="640080" y="1627632"/>
            <a:ext cx="2645359" cy="4069080"/>
          </a:xfrm>
          <a:prstGeom prst="roundRect">
            <a:avLst>
              <a:gd name="adj" fmla="val 2074"/>
            </a:avLst>
          </a:prstGeom>
          <a:solidFill>
            <a:srgbClr val="F1F2F5"/>
          </a:solidFill>
          <a:ln w="9525">
            <a:solidFill>
              <a:srgbClr val="D5D9E0"/>
            </a:solidFill>
            <a:prstDash val="solid"/>
          </a:ln>
        </p:spPr>
      </p:sp>
      <p:sp>
        <p:nvSpPr>
          <p:cNvPr id="7" name="Text 5"/>
          <p:cNvSpPr/>
          <p:nvPr/>
        </p:nvSpPr>
        <p:spPr>
          <a:xfrm>
            <a:off x="859536" y="1810512"/>
            <a:ext cx="2206447" cy="274320"/>
          </a:xfrm>
          <a:prstGeom prst="rect">
            <a:avLst/>
          </a:prstGeom>
          <a:noFill/>
          <a:ln/>
        </p:spPr>
        <p:txBody>
          <a:bodyPr wrap="square" lIns="0" tIns="0" rIns="0" bIns="0" rtlCol="0" anchor="ctr"/>
          <a:lstStyle/>
          <a:p>
            <a:pPr indent="0" marL="0">
              <a:buNone/>
            </a:pPr>
            <a:r>
              <a:rPr lang="en-US" sz="1350" b="1" dirty="0">
                <a:solidFill>
                  <a:srgbClr val="232834"/>
                </a:solidFill>
                <a:latin typeface="Arial" pitchFamily="34" charset="0"/>
                <a:ea typeface="Arial" pitchFamily="34" charset="-122"/>
                <a:cs typeface="Arial" pitchFamily="34" charset="-120"/>
              </a:rPr>
              <a:t>2D 유기 기판</a:t>
            </a:r>
            <a:endParaRPr lang="en-US" sz="1350" dirty="0"/>
          </a:p>
        </p:txBody>
      </p:sp>
      <p:sp>
        <p:nvSpPr>
          <p:cNvPr id="8" name="Text 6"/>
          <p:cNvSpPr/>
          <p:nvPr/>
        </p:nvSpPr>
        <p:spPr>
          <a:xfrm>
            <a:off x="859536" y="2093976"/>
            <a:ext cx="2206447"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Organic Substrate</a:t>
            </a:r>
            <a:endParaRPr lang="en-US" sz="1000" dirty="0"/>
          </a:p>
        </p:txBody>
      </p:sp>
      <p:sp>
        <p:nvSpPr>
          <p:cNvPr id="9" name="Shape 7"/>
          <p:cNvSpPr/>
          <p:nvPr/>
        </p:nvSpPr>
        <p:spPr>
          <a:xfrm>
            <a:off x="859536" y="3364992"/>
            <a:ext cx="2206447" cy="201168"/>
          </a:xfrm>
          <a:prstGeom prst="rect">
            <a:avLst/>
          </a:prstGeom>
          <a:solidFill>
            <a:srgbClr val="2C4351"/>
          </a:solidFill>
          <a:ln w="6350">
            <a:solidFill>
              <a:srgbClr val="7C97A6"/>
            </a:solidFill>
            <a:prstDash val="solid"/>
          </a:ln>
        </p:spPr>
      </p:sp>
      <p:sp>
        <p:nvSpPr>
          <p:cNvPr id="10" name="Shape 8"/>
          <p:cNvSpPr/>
          <p:nvPr/>
        </p:nvSpPr>
        <p:spPr>
          <a:xfrm>
            <a:off x="919566" y="3246120"/>
            <a:ext cx="100584" cy="100584"/>
          </a:xfrm>
          <a:prstGeom prst="ellipse">
            <a:avLst/>
          </a:prstGeom>
          <a:solidFill>
            <a:srgbClr val="9AA6B2"/>
          </a:solidFill>
          <a:ln w="12700">
            <a:solidFill>
              <a:srgbClr val="9AA6B2"/>
            </a:solidFill>
            <a:prstDash val="solid"/>
          </a:ln>
        </p:spPr>
      </p:sp>
      <p:sp>
        <p:nvSpPr>
          <p:cNvPr id="11" name="Shape 9"/>
          <p:cNvSpPr/>
          <p:nvPr/>
        </p:nvSpPr>
        <p:spPr>
          <a:xfrm>
            <a:off x="1140211" y="3246120"/>
            <a:ext cx="100584" cy="100584"/>
          </a:xfrm>
          <a:prstGeom prst="ellipse">
            <a:avLst/>
          </a:prstGeom>
          <a:solidFill>
            <a:srgbClr val="9AA6B2"/>
          </a:solidFill>
          <a:ln w="12700">
            <a:solidFill>
              <a:srgbClr val="9AA6B2"/>
            </a:solidFill>
            <a:prstDash val="solid"/>
          </a:ln>
        </p:spPr>
      </p:sp>
      <p:sp>
        <p:nvSpPr>
          <p:cNvPr id="12" name="Shape 10"/>
          <p:cNvSpPr/>
          <p:nvPr/>
        </p:nvSpPr>
        <p:spPr>
          <a:xfrm>
            <a:off x="1360856" y="3246120"/>
            <a:ext cx="100584" cy="100584"/>
          </a:xfrm>
          <a:prstGeom prst="ellipse">
            <a:avLst/>
          </a:prstGeom>
          <a:solidFill>
            <a:srgbClr val="9AA6B2"/>
          </a:solidFill>
          <a:ln w="12700">
            <a:solidFill>
              <a:srgbClr val="9AA6B2"/>
            </a:solidFill>
            <a:prstDash val="solid"/>
          </a:ln>
        </p:spPr>
      </p:sp>
      <p:sp>
        <p:nvSpPr>
          <p:cNvPr id="13" name="Shape 11"/>
          <p:cNvSpPr/>
          <p:nvPr/>
        </p:nvSpPr>
        <p:spPr>
          <a:xfrm>
            <a:off x="1581501" y="3246120"/>
            <a:ext cx="100584" cy="100584"/>
          </a:xfrm>
          <a:prstGeom prst="ellipse">
            <a:avLst/>
          </a:prstGeom>
          <a:solidFill>
            <a:srgbClr val="9AA6B2"/>
          </a:solidFill>
          <a:ln w="12700">
            <a:solidFill>
              <a:srgbClr val="9AA6B2"/>
            </a:solidFill>
            <a:prstDash val="solid"/>
          </a:ln>
        </p:spPr>
      </p:sp>
      <p:sp>
        <p:nvSpPr>
          <p:cNvPr id="14" name="Shape 12"/>
          <p:cNvSpPr/>
          <p:nvPr/>
        </p:nvSpPr>
        <p:spPr>
          <a:xfrm>
            <a:off x="1802145" y="3246120"/>
            <a:ext cx="100584" cy="100584"/>
          </a:xfrm>
          <a:prstGeom prst="ellipse">
            <a:avLst/>
          </a:prstGeom>
          <a:solidFill>
            <a:srgbClr val="9AA6B2"/>
          </a:solidFill>
          <a:ln w="12700">
            <a:solidFill>
              <a:srgbClr val="9AA6B2"/>
            </a:solidFill>
            <a:prstDash val="solid"/>
          </a:ln>
        </p:spPr>
      </p:sp>
      <p:sp>
        <p:nvSpPr>
          <p:cNvPr id="15" name="Shape 13"/>
          <p:cNvSpPr/>
          <p:nvPr/>
        </p:nvSpPr>
        <p:spPr>
          <a:xfrm>
            <a:off x="2022790" y="3246120"/>
            <a:ext cx="100584" cy="100584"/>
          </a:xfrm>
          <a:prstGeom prst="ellipse">
            <a:avLst/>
          </a:prstGeom>
          <a:solidFill>
            <a:srgbClr val="9AA6B2"/>
          </a:solidFill>
          <a:ln w="12700">
            <a:solidFill>
              <a:srgbClr val="9AA6B2"/>
            </a:solidFill>
            <a:prstDash val="solid"/>
          </a:ln>
        </p:spPr>
      </p:sp>
      <p:sp>
        <p:nvSpPr>
          <p:cNvPr id="16" name="Shape 14"/>
          <p:cNvSpPr/>
          <p:nvPr/>
        </p:nvSpPr>
        <p:spPr>
          <a:xfrm>
            <a:off x="2243435" y="3246120"/>
            <a:ext cx="100584" cy="100584"/>
          </a:xfrm>
          <a:prstGeom prst="ellipse">
            <a:avLst/>
          </a:prstGeom>
          <a:solidFill>
            <a:srgbClr val="9AA6B2"/>
          </a:solidFill>
          <a:ln w="12700">
            <a:solidFill>
              <a:srgbClr val="9AA6B2"/>
            </a:solidFill>
            <a:prstDash val="solid"/>
          </a:ln>
        </p:spPr>
      </p:sp>
      <p:sp>
        <p:nvSpPr>
          <p:cNvPr id="17" name="Shape 15"/>
          <p:cNvSpPr/>
          <p:nvPr/>
        </p:nvSpPr>
        <p:spPr>
          <a:xfrm>
            <a:off x="2464079" y="3246120"/>
            <a:ext cx="100584" cy="100584"/>
          </a:xfrm>
          <a:prstGeom prst="ellipse">
            <a:avLst/>
          </a:prstGeom>
          <a:solidFill>
            <a:srgbClr val="9AA6B2"/>
          </a:solidFill>
          <a:ln w="12700">
            <a:solidFill>
              <a:srgbClr val="9AA6B2"/>
            </a:solidFill>
            <a:prstDash val="solid"/>
          </a:ln>
        </p:spPr>
      </p:sp>
      <p:sp>
        <p:nvSpPr>
          <p:cNvPr id="18" name="Shape 16"/>
          <p:cNvSpPr/>
          <p:nvPr/>
        </p:nvSpPr>
        <p:spPr>
          <a:xfrm>
            <a:off x="2684724" y="3246120"/>
            <a:ext cx="100584" cy="100584"/>
          </a:xfrm>
          <a:prstGeom prst="ellipse">
            <a:avLst/>
          </a:prstGeom>
          <a:solidFill>
            <a:srgbClr val="9AA6B2"/>
          </a:solidFill>
          <a:ln w="12700">
            <a:solidFill>
              <a:srgbClr val="9AA6B2"/>
            </a:solidFill>
            <a:prstDash val="solid"/>
          </a:ln>
        </p:spPr>
      </p:sp>
      <p:sp>
        <p:nvSpPr>
          <p:cNvPr id="19" name="Shape 17"/>
          <p:cNvSpPr/>
          <p:nvPr/>
        </p:nvSpPr>
        <p:spPr>
          <a:xfrm>
            <a:off x="2905369" y="3246120"/>
            <a:ext cx="100584" cy="100584"/>
          </a:xfrm>
          <a:prstGeom prst="ellipse">
            <a:avLst/>
          </a:prstGeom>
          <a:solidFill>
            <a:srgbClr val="9AA6B2"/>
          </a:solidFill>
          <a:ln w="12700">
            <a:solidFill>
              <a:srgbClr val="9AA6B2"/>
            </a:solidFill>
            <a:prstDash val="solid"/>
          </a:ln>
        </p:spPr>
      </p:sp>
      <p:sp>
        <p:nvSpPr>
          <p:cNvPr id="20" name="Shape 18"/>
          <p:cNvSpPr/>
          <p:nvPr/>
        </p:nvSpPr>
        <p:spPr>
          <a:xfrm>
            <a:off x="859536" y="2743200"/>
            <a:ext cx="947776" cy="493776"/>
          </a:xfrm>
          <a:prstGeom prst="roundRect">
            <a:avLst>
              <a:gd name="adj" fmla="val 22222"/>
            </a:avLst>
          </a:prstGeom>
          <a:solidFill>
            <a:srgbClr val="3F5A6B"/>
          </a:solidFill>
          <a:ln w="9525">
            <a:solidFill>
              <a:srgbClr val="FFFFFF"/>
            </a:solidFill>
            <a:prstDash val="solid"/>
          </a:ln>
        </p:spPr>
      </p:sp>
      <p:sp>
        <p:nvSpPr>
          <p:cNvPr id="21" name="Text 19"/>
          <p:cNvSpPr/>
          <p:nvPr/>
        </p:nvSpPr>
        <p:spPr>
          <a:xfrm>
            <a:off x="859536" y="2743200"/>
            <a:ext cx="947776" cy="49377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A</a:t>
            </a:r>
            <a:endParaRPr lang="en-US" sz="800" dirty="0"/>
          </a:p>
        </p:txBody>
      </p:sp>
      <p:sp>
        <p:nvSpPr>
          <p:cNvPr id="22" name="Shape 20"/>
          <p:cNvSpPr/>
          <p:nvPr/>
        </p:nvSpPr>
        <p:spPr>
          <a:xfrm>
            <a:off x="2118208" y="2743200"/>
            <a:ext cx="947776" cy="493776"/>
          </a:xfrm>
          <a:prstGeom prst="roundRect">
            <a:avLst>
              <a:gd name="adj" fmla="val 22222"/>
            </a:avLst>
          </a:prstGeom>
          <a:solidFill>
            <a:srgbClr val="56707E"/>
          </a:solidFill>
          <a:ln w="9525">
            <a:solidFill>
              <a:srgbClr val="FFFFFF"/>
            </a:solidFill>
            <a:prstDash val="solid"/>
          </a:ln>
        </p:spPr>
      </p:sp>
      <p:sp>
        <p:nvSpPr>
          <p:cNvPr id="23" name="Text 21"/>
          <p:cNvSpPr/>
          <p:nvPr/>
        </p:nvSpPr>
        <p:spPr>
          <a:xfrm>
            <a:off x="2118208" y="2743200"/>
            <a:ext cx="947776" cy="49377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B</a:t>
            </a:r>
            <a:endParaRPr lang="en-US" sz="800" dirty="0"/>
          </a:p>
        </p:txBody>
      </p:sp>
      <p:sp>
        <p:nvSpPr>
          <p:cNvPr id="24" name="Shape 22"/>
          <p:cNvSpPr/>
          <p:nvPr/>
        </p:nvSpPr>
        <p:spPr>
          <a:xfrm>
            <a:off x="1133856" y="3447288"/>
            <a:ext cx="1657807" cy="32004"/>
          </a:xfrm>
          <a:prstGeom prst="rect">
            <a:avLst/>
          </a:prstGeom>
          <a:solidFill>
            <a:srgbClr val="E09A5F"/>
          </a:solidFill>
          <a:ln w="12700">
            <a:solidFill>
              <a:srgbClr val="333333"/>
            </a:solidFill>
            <a:prstDash val="solid"/>
          </a:ln>
        </p:spPr>
      </p:sp>
      <p:sp>
        <p:nvSpPr>
          <p:cNvPr id="25" name="Text 23"/>
          <p:cNvSpPr/>
          <p:nvPr/>
        </p:nvSpPr>
        <p:spPr>
          <a:xfrm>
            <a:off x="859536" y="3602736"/>
            <a:ext cx="2206447" cy="219456"/>
          </a:xfrm>
          <a:prstGeom prst="rect">
            <a:avLst/>
          </a:prstGeom>
          <a:noFill/>
          <a:ln/>
        </p:spPr>
        <p:txBody>
          <a:bodyPr wrap="square" lIns="0" tIns="0" rIns="0" bIns="0" rtlCol="0" anchor="ctr"/>
          <a:lstStyle/>
          <a:p>
            <a:pPr algn="ctr" indent="0" marL="0">
              <a:buNone/>
            </a:pPr>
            <a:r>
              <a:rPr lang="en-US" sz="900" dirty="0">
                <a:solidFill>
                  <a:srgbClr val="B25A22"/>
                </a:solidFill>
                <a:latin typeface="Calibri" pitchFamily="34" charset="0"/>
                <a:ea typeface="Calibri" pitchFamily="34" charset="-122"/>
                <a:cs typeface="Calibri" pitchFamily="34" charset="-120"/>
              </a:rPr>
              <a:t>기판 배선</a:t>
            </a:r>
            <a:endParaRPr lang="en-US" sz="900" dirty="0"/>
          </a:p>
        </p:txBody>
      </p:sp>
      <p:sp>
        <p:nvSpPr>
          <p:cNvPr id="26" name="Text 24"/>
          <p:cNvSpPr/>
          <p:nvPr/>
        </p:nvSpPr>
        <p:spPr>
          <a:xfrm>
            <a:off x="859536" y="3913632"/>
            <a:ext cx="2206447" cy="256032"/>
          </a:xfrm>
          <a:prstGeom prst="rect">
            <a:avLst/>
          </a:prstGeom>
          <a:noFill/>
          <a:ln/>
        </p:spPr>
        <p:txBody>
          <a:bodyPr wrap="square" lIns="0" tIns="0" rIns="0" bIns="0" rtlCol="0" anchor="ctr"/>
          <a:lstStyle/>
          <a:p>
            <a:pPr indent="0" marL="0">
              <a:buNone/>
            </a:pPr>
            <a:r>
              <a:rPr lang="en-US" sz="1100" b="1" dirty="0">
                <a:solidFill>
                  <a:srgbClr val="B25A22"/>
                </a:solidFill>
                <a:latin typeface="Arial" pitchFamily="34" charset="0"/>
                <a:ea typeface="Arial" pitchFamily="34" charset="-122"/>
                <a:cs typeface="Arial" pitchFamily="34" charset="-120"/>
              </a:rPr>
              <a:t>범프 피치  ~130 µm</a:t>
            </a:r>
            <a:endParaRPr lang="en-US" sz="1100" dirty="0"/>
          </a:p>
        </p:txBody>
      </p:sp>
      <p:sp>
        <p:nvSpPr>
          <p:cNvPr id="27" name="Text 25"/>
          <p:cNvSpPr/>
          <p:nvPr/>
        </p:nvSpPr>
        <p:spPr>
          <a:xfrm>
            <a:off x="859536" y="4224528"/>
            <a:ext cx="2206447" cy="1051560"/>
          </a:xfrm>
          <a:prstGeom prst="rect">
            <a:avLst/>
          </a:prstGeom>
          <a:noFill/>
          <a:ln/>
        </p:spPr>
        <p:txBody>
          <a:bodyPr wrap="square" lIns="0" tIns="0" rIns="0" bIns="0" rtlCol="0" anchor="ctr"/>
          <a:lstStyle/>
          <a:p>
            <a:pPr indent="0" marL="0">
              <a:lnSpc>
                <a:spcPct val="110000"/>
              </a:lnSpc>
              <a:buNone/>
            </a:pPr>
            <a:r>
              <a:rPr lang="en-US" sz="1050" dirty="0">
                <a:solidFill>
                  <a:srgbClr val="6B7381"/>
                </a:solidFill>
                <a:latin typeface="Calibri" pitchFamily="34" charset="0"/>
                <a:ea typeface="Calibri" pitchFamily="34" charset="-122"/>
                <a:cs typeface="Calibri" pitchFamily="34" charset="-120"/>
              </a:rPr>
              <a:t>기판 배선으로만 연결. 가장 싸고 단순하지만 배선 밀도가 낮아 D2D 대역폭이 제한된다.</a:t>
            </a:r>
            <a:endParaRPr lang="en-US" sz="1050" dirty="0"/>
          </a:p>
        </p:txBody>
      </p:sp>
      <p:sp>
        <p:nvSpPr>
          <p:cNvPr id="28" name="Text 26"/>
          <p:cNvSpPr/>
          <p:nvPr/>
        </p:nvSpPr>
        <p:spPr>
          <a:xfrm>
            <a:off x="859536" y="5148072"/>
            <a:ext cx="2206447" cy="365760"/>
          </a:xfrm>
          <a:prstGeom prst="rect">
            <a:avLst/>
          </a:prstGeom>
          <a:noFill/>
          <a:ln/>
        </p:spPr>
        <p:txBody>
          <a:bodyPr wrap="square" lIns="0" tIns="0" rIns="0" bIns="0" rtlCol="0" anchor="ctr"/>
          <a:lstStyle/>
          <a:p>
            <a:pPr indent="0" marL="0">
              <a:buNone/>
            </a:pPr>
            <a:r>
              <a:rPr lang="en-US" sz="1000" i="1" dirty="0">
                <a:solidFill>
                  <a:srgbClr val="232834"/>
                </a:solidFill>
                <a:latin typeface="Calibri" pitchFamily="34" charset="0"/>
                <a:ea typeface="Calibri" pitchFamily="34" charset="-122"/>
                <a:cs typeface="Calibri" pitchFamily="34" charset="-120"/>
              </a:rPr>
              <a:t>예:  AMD EPYC (CCD ↔ IOD)</a:t>
            </a:r>
            <a:endParaRPr lang="en-US" sz="1000" dirty="0"/>
          </a:p>
        </p:txBody>
      </p:sp>
      <p:sp>
        <p:nvSpPr>
          <p:cNvPr id="29" name="Shape 27"/>
          <p:cNvSpPr/>
          <p:nvPr/>
        </p:nvSpPr>
        <p:spPr>
          <a:xfrm>
            <a:off x="3486607" y="1627632"/>
            <a:ext cx="2645359" cy="4069080"/>
          </a:xfrm>
          <a:prstGeom prst="roundRect">
            <a:avLst>
              <a:gd name="adj" fmla="val 2074"/>
            </a:avLst>
          </a:prstGeom>
          <a:solidFill>
            <a:srgbClr val="F1F2F5"/>
          </a:solidFill>
          <a:ln w="9525">
            <a:solidFill>
              <a:srgbClr val="D5D9E0"/>
            </a:solidFill>
            <a:prstDash val="solid"/>
          </a:ln>
        </p:spPr>
      </p:sp>
      <p:sp>
        <p:nvSpPr>
          <p:cNvPr id="30" name="Text 28"/>
          <p:cNvSpPr/>
          <p:nvPr/>
        </p:nvSpPr>
        <p:spPr>
          <a:xfrm>
            <a:off x="3706063" y="1810512"/>
            <a:ext cx="2206447" cy="274320"/>
          </a:xfrm>
          <a:prstGeom prst="rect">
            <a:avLst/>
          </a:prstGeom>
          <a:noFill/>
          <a:ln/>
        </p:spPr>
        <p:txBody>
          <a:bodyPr wrap="square" lIns="0" tIns="0" rIns="0" bIns="0" rtlCol="0" anchor="ctr"/>
          <a:lstStyle/>
          <a:p>
            <a:pPr indent="0" marL="0">
              <a:buNone/>
            </a:pPr>
            <a:r>
              <a:rPr lang="en-US" sz="1350" b="1" dirty="0">
                <a:solidFill>
                  <a:srgbClr val="232834"/>
                </a:solidFill>
                <a:latin typeface="Arial" pitchFamily="34" charset="0"/>
                <a:ea typeface="Arial" pitchFamily="34" charset="-122"/>
                <a:cs typeface="Arial" pitchFamily="34" charset="-120"/>
              </a:rPr>
              <a:t>2.5D 인터포저</a:t>
            </a:r>
            <a:endParaRPr lang="en-US" sz="1350" dirty="0"/>
          </a:p>
        </p:txBody>
      </p:sp>
      <p:sp>
        <p:nvSpPr>
          <p:cNvPr id="31" name="Text 29"/>
          <p:cNvSpPr/>
          <p:nvPr/>
        </p:nvSpPr>
        <p:spPr>
          <a:xfrm>
            <a:off x="3706063" y="2093976"/>
            <a:ext cx="2206447"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Si Interposer / CoWoS</a:t>
            </a:r>
            <a:endParaRPr lang="en-US" sz="1000" dirty="0"/>
          </a:p>
        </p:txBody>
      </p:sp>
      <p:sp>
        <p:nvSpPr>
          <p:cNvPr id="32" name="Shape 30"/>
          <p:cNvSpPr/>
          <p:nvPr/>
        </p:nvSpPr>
        <p:spPr>
          <a:xfrm>
            <a:off x="3706063" y="3364992"/>
            <a:ext cx="2206447" cy="201168"/>
          </a:xfrm>
          <a:prstGeom prst="rect">
            <a:avLst/>
          </a:prstGeom>
          <a:solidFill>
            <a:srgbClr val="2C4351"/>
          </a:solidFill>
          <a:ln w="6350">
            <a:solidFill>
              <a:srgbClr val="7C97A6"/>
            </a:solidFill>
            <a:prstDash val="solid"/>
          </a:ln>
        </p:spPr>
      </p:sp>
      <p:sp>
        <p:nvSpPr>
          <p:cNvPr id="33" name="Shape 31"/>
          <p:cNvSpPr/>
          <p:nvPr/>
        </p:nvSpPr>
        <p:spPr>
          <a:xfrm>
            <a:off x="3811814" y="3246120"/>
            <a:ext cx="91440" cy="91440"/>
          </a:xfrm>
          <a:prstGeom prst="ellipse">
            <a:avLst/>
          </a:prstGeom>
          <a:solidFill>
            <a:srgbClr val="9AA6B2"/>
          </a:solidFill>
          <a:ln w="12700">
            <a:solidFill>
              <a:srgbClr val="9AA6B2"/>
            </a:solidFill>
            <a:prstDash val="solid"/>
          </a:ln>
        </p:spPr>
      </p:sp>
      <p:sp>
        <p:nvSpPr>
          <p:cNvPr id="34" name="Shape 32"/>
          <p:cNvSpPr/>
          <p:nvPr/>
        </p:nvSpPr>
        <p:spPr>
          <a:xfrm>
            <a:off x="4023314" y="3246120"/>
            <a:ext cx="91440" cy="91440"/>
          </a:xfrm>
          <a:prstGeom prst="ellipse">
            <a:avLst/>
          </a:prstGeom>
          <a:solidFill>
            <a:srgbClr val="9AA6B2"/>
          </a:solidFill>
          <a:ln w="12700">
            <a:solidFill>
              <a:srgbClr val="9AA6B2"/>
            </a:solidFill>
            <a:prstDash val="solid"/>
          </a:ln>
        </p:spPr>
      </p:sp>
      <p:sp>
        <p:nvSpPr>
          <p:cNvPr id="35" name="Shape 33"/>
          <p:cNvSpPr/>
          <p:nvPr/>
        </p:nvSpPr>
        <p:spPr>
          <a:xfrm>
            <a:off x="4234815" y="3246120"/>
            <a:ext cx="91440" cy="91440"/>
          </a:xfrm>
          <a:prstGeom prst="ellipse">
            <a:avLst/>
          </a:prstGeom>
          <a:solidFill>
            <a:srgbClr val="9AA6B2"/>
          </a:solidFill>
          <a:ln w="12700">
            <a:solidFill>
              <a:srgbClr val="9AA6B2"/>
            </a:solidFill>
            <a:prstDash val="solid"/>
          </a:ln>
        </p:spPr>
      </p:sp>
      <p:sp>
        <p:nvSpPr>
          <p:cNvPr id="36" name="Shape 34"/>
          <p:cNvSpPr/>
          <p:nvPr/>
        </p:nvSpPr>
        <p:spPr>
          <a:xfrm>
            <a:off x="4446316" y="3246120"/>
            <a:ext cx="91440" cy="91440"/>
          </a:xfrm>
          <a:prstGeom prst="ellipse">
            <a:avLst/>
          </a:prstGeom>
          <a:solidFill>
            <a:srgbClr val="9AA6B2"/>
          </a:solidFill>
          <a:ln w="12700">
            <a:solidFill>
              <a:srgbClr val="9AA6B2"/>
            </a:solidFill>
            <a:prstDash val="solid"/>
          </a:ln>
        </p:spPr>
      </p:sp>
      <p:sp>
        <p:nvSpPr>
          <p:cNvPr id="37" name="Shape 35"/>
          <p:cNvSpPr/>
          <p:nvPr/>
        </p:nvSpPr>
        <p:spPr>
          <a:xfrm>
            <a:off x="4657816" y="3246120"/>
            <a:ext cx="91440" cy="91440"/>
          </a:xfrm>
          <a:prstGeom prst="ellipse">
            <a:avLst/>
          </a:prstGeom>
          <a:solidFill>
            <a:srgbClr val="9AA6B2"/>
          </a:solidFill>
          <a:ln w="12700">
            <a:solidFill>
              <a:srgbClr val="9AA6B2"/>
            </a:solidFill>
            <a:prstDash val="solid"/>
          </a:ln>
        </p:spPr>
      </p:sp>
      <p:sp>
        <p:nvSpPr>
          <p:cNvPr id="38" name="Shape 36"/>
          <p:cNvSpPr/>
          <p:nvPr/>
        </p:nvSpPr>
        <p:spPr>
          <a:xfrm>
            <a:off x="4869317" y="3246120"/>
            <a:ext cx="91440" cy="91440"/>
          </a:xfrm>
          <a:prstGeom prst="ellipse">
            <a:avLst/>
          </a:prstGeom>
          <a:solidFill>
            <a:srgbClr val="9AA6B2"/>
          </a:solidFill>
          <a:ln w="12700">
            <a:solidFill>
              <a:srgbClr val="9AA6B2"/>
            </a:solidFill>
            <a:prstDash val="solid"/>
          </a:ln>
        </p:spPr>
      </p:sp>
      <p:sp>
        <p:nvSpPr>
          <p:cNvPr id="39" name="Shape 37"/>
          <p:cNvSpPr/>
          <p:nvPr/>
        </p:nvSpPr>
        <p:spPr>
          <a:xfrm>
            <a:off x="5080818" y="3246120"/>
            <a:ext cx="91440" cy="91440"/>
          </a:xfrm>
          <a:prstGeom prst="ellipse">
            <a:avLst/>
          </a:prstGeom>
          <a:solidFill>
            <a:srgbClr val="9AA6B2"/>
          </a:solidFill>
          <a:ln w="12700">
            <a:solidFill>
              <a:srgbClr val="9AA6B2"/>
            </a:solidFill>
            <a:prstDash val="solid"/>
          </a:ln>
        </p:spPr>
      </p:sp>
      <p:sp>
        <p:nvSpPr>
          <p:cNvPr id="40" name="Shape 38"/>
          <p:cNvSpPr/>
          <p:nvPr/>
        </p:nvSpPr>
        <p:spPr>
          <a:xfrm>
            <a:off x="5292319" y="3246120"/>
            <a:ext cx="91440" cy="91440"/>
          </a:xfrm>
          <a:prstGeom prst="ellipse">
            <a:avLst/>
          </a:prstGeom>
          <a:solidFill>
            <a:srgbClr val="9AA6B2"/>
          </a:solidFill>
          <a:ln w="12700">
            <a:solidFill>
              <a:srgbClr val="9AA6B2"/>
            </a:solidFill>
            <a:prstDash val="solid"/>
          </a:ln>
        </p:spPr>
      </p:sp>
      <p:sp>
        <p:nvSpPr>
          <p:cNvPr id="41" name="Shape 39"/>
          <p:cNvSpPr/>
          <p:nvPr/>
        </p:nvSpPr>
        <p:spPr>
          <a:xfrm>
            <a:off x="5503819" y="3246120"/>
            <a:ext cx="91440" cy="91440"/>
          </a:xfrm>
          <a:prstGeom prst="ellipse">
            <a:avLst/>
          </a:prstGeom>
          <a:solidFill>
            <a:srgbClr val="9AA6B2"/>
          </a:solidFill>
          <a:ln w="12700">
            <a:solidFill>
              <a:srgbClr val="9AA6B2"/>
            </a:solidFill>
            <a:prstDash val="solid"/>
          </a:ln>
        </p:spPr>
      </p:sp>
      <p:sp>
        <p:nvSpPr>
          <p:cNvPr id="42" name="Shape 40"/>
          <p:cNvSpPr/>
          <p:nvPr/>
        </p:nvSpPr>
        <p:spPr>
          <a:xfrm>
            <a:off x="5715320" y="3246120"/>
            <a:ext cx="91440" cy="91440"/>
          </a:xfrm>
          <a:prstGeom prst="ellipse">
            <a:avLst/>
          </a:prstGeom>
          <a:solidFill>
            <a:srgbClr val="9AA6B2"/>
          </a:solidFill>
          <a:ln w="12700">
            <a:solidFill>
              <a:srgbClr val="9AA6B2"/>
            </a:solidFill>
            <a:prstDash val="solid"/>
          </a:ln>
        </p:spPr>
      </p:sp>
      <p:sp>
        <p:nvSpPr>
          <p:cNvPr id="43" name="Shape 41"/>
          <p:cNvSpPr/>
          <p:nvPr/>
        </p:nvSpPr>
        <p:spPr>
          <a:xfrm>
            <a:off x="3751783" y="3035808"/>
            <a:ext cx="2115007" cy="192024"/>
          </a:xfrm>
          <a:prstGeom prst="rect">
            <a:avLst/>
          </a:prstGeom>
          <a:solidFill>
            <a:srgbClr val="3F5A6B"/>
          </a:solidFill>
          <a:ln w="6350">
            <a:solidFill>
              <a:srgbClr val="7C97A6"/>
            </a:solidFill>
            <a:prstDash val="solid"/>
          </a:ln>
        </p:spPr>
      </p:sp>
      <p:sp>
        <p:nvSpPr>
          <p:cNvPr id="44" name="Shape 42"/>
          <p:cNvSpPr/>
          <p:nvPr/>
        </p:nvSpPr>
        <p:spPr>
          <a:xfrm>
            <a:off x="3917975" y="3063240"/>
            <a:ext cx="20117" cy="137160"/>
          </a:xfrm>
          <a:prstGeom prst="rect">
            <a:avLst/>
          </a:prstGeom>
          <a:solidFill>
            <a:srgbClr val="6E8A99"/>
          </a:solidFill>
          <a:ln w="12700">
            <a:solidFill>
              <a:srgbClr val="6E8A99"/>
            </a:solidFill>
            <a:prstDash val="solid"/>
          </a:ln>
        </p:spPr>
      </p:sp>
      <p:sp>
        <p:nvSpPr>
          <p:cNvPr id="45" name="Shape 43"/>
          <p:cNvSpPr/>
          <p:nvPr/>
        </p:nvSpPr>
        <p:spPr>
          <a:xfrm>
            <a:off x="4094226" y="3063240"/>
            <a:ext cx="20117" cy="137160"/>
          </a:xfrm>
          <a:prstGeom prst="rect">
            <a:avLst/>
          </a:prstGeom>
          <a:solidFill>
            <a:srgbClr val="6E8A99"/>
          </a:solidFill>
          <a:ln w="12700">
            <a:solidFill>
              <a:srgbClr val="6E8A99"/>
            </a:solidFill>
            <a:prstDash val="solid"/>
          </a:ln>
        </p:spPr>
      </p:sp>
      <p:sp>
        <p:nvSpPr>
          <p:cNvPr id="46" name="Shape 44"/>
          <p:cNvSpPr/>
          <p:nvPr/>
        </p:nvSpPr>
        <p:spPr>
          <a:xfrm>
            <a:off x="4270477" y="3063240"/>
            <a:ext cx="20117" cy="137160"/>
          </a:xfrm>
          <a:prstGeom prst="rect">
            <a:avLst/>
          </a:prstGeom>
          <a:solidFill>
            <a:srgbClr val="6E8A99"/>
          </a:solidFill>
          <a:ln w="12700">
            <a:solidFill>
              <a:srgbClr val="6E8A99"/>
            </a:solidFill>
            <a:prstDash val="solid"/>
          </a:ln>
        </p:spPr>
      </p:sp>
      <p:sp>
        <p:nvSpPr>
          <p:cNvPr id="47" name="Shape 45"/>
          <p:cNvSpPr/>
          <p:nvPr/>
        </p:nvSpPr>
        <p:spPr>
          <a:xfrm>
            <a:off x="4446727" y="3063240"/>
            <a:ext cx="20117" cy="137160"/>
          </a:xfrm>
          <a:prstGeom prst="rect">
            <a:avLst/>
          </a:prstGeom>
          <a:solidFill>
            <a:srgbClr val="6E8A99"/>
          </a:solidFill>
          <a:ln w="12700">
            <a:solidFill>
              <a:srgbClr val="6E8A99"/>
            </a:solidFill>
            <a:prstDash val="solid"/>
          </a:ln>
        </p:spPr>
      </p:sp>
      <p:sp>
        <p:nvSpPr>
          <p:cNvPr id="48" name="Shape 46"/>
          <p:cNvSpPr/>
          <p:nvPr/>
        </p:nvSpPr>
        <p:spPr>
          <a:xfrm>
            <a:off x="4622978" y="3063240"/>
            <a:ext cx="20117" cy="137160"/>
          </a:xfrm>
          <a:prstGeom prst="rect">
            <a:avLst/>
          </a:prstGeom>
          <a:solidFill>
            <a:srgbClr val="6E8A99"/>
          </a:solidFill>
          <a:ln w="12700">
            <a:solidFill>
              <a:srgbClr val="6E8A99"/>
            </a:solidFill>
            <a:prstDash val="solid"/>
          </a:ln>
        </p:spPr>
      </p:sp>
      <p:sp>
        <p:nvSpPr>
          <p:cNvPr id="49" name="Shape 47"/>
          <p:cNvSpPr/>
          <p:nvPr/>
        </p:nvSpPr>
        <p:spPr>
          <a:xfrm>
            <a:off x="4799228" y="3063240"/>
            <a:ext cx="20117" cy="137160"/>
          </a:xfrm>
          <a:prstGeom prst="rect">
            <a:avLst/>
          </a:prstGeom>
          <a:solidFill>
            <a:srgbClr val="6E8A99"/>
          </a:solidFill>
          <a:ln w="12700">
            <a:solidFill>
              <a:srgbClr val="6E8A99"/>
            </a:solidFill>
            <a:prstDash val="solid"/>
          </a:ln>
        </p:spPr>
      </p:sp>
      <p:sp>
        <p:nvSpPr>
          <p:cNvPr id="50" name="Shape 48"/>
          <p:cNvSpPr/>
          <p:nvPr/>
        </p:nvSpPr>
        <p:spPr>
          <a:xfrm>
            <a:off x="4975479" y="3063240"/>
            <a:ext cx="20117" cy="137160"/>
          </a:xfrm>
          <a:prstGeom prst="rect">
            <a:avLst/>
          </a:prstGeom>
          <a:solidFill>
            <a:srgbClr val="6E8A99"/>
          </a:solidFill>
          <a:ln w="12700">
            <a:solidFill>
              <a:srgbClr val="6E8A99"/>
            </a:solidFill>
            <a:prstDash val="solid"/>
          </a:ln>
        </p:spPr>
      </p:sp>
      <p:sp>
        <p:nvSpPr>
          <p:cNvPr id="51" name="Shape 49"/>
          <p:cNvSpPr/>
          <p:nvPr/>
        </p:nvSpPr>
        <p:spPr>
          <a:xfrm>
            <a:off x="5151730" y="3063240"/>
            <a:ext cx="20117" cy="137160"/>
          </a:xfrm>
          <a:prstGeom prst="rect">
            <a:avLst/>
          </a:prstGeom>
          <a:solidFill>
            <a:srgbClr val="6E8A99"/>
          </a:solidFill>
          <a:ln w="12700">
            <a:solidFill>
              <a:srgbClr val="6E8A99"/>
            </a:solidFill>
            <a:prstDash val="solid"/>
          </a:ln>
        </p:spPr>
      </p:sp>
      <p:sp>
        <p:nvSpPr>
          <p:cNvPr id="52" name="Shape 50"/>
          <p:cNvSpPr/>
          <p:nvPr/>
        </p:nvSpPr>
        <p:spPr>
          <a:xfrm>
            <a:off x="5327980" y="3063240"/>
            <a:ext cx="20117" cy="137160"/>
          </a:xfrm>
          <a:prstGeom prst="rect">
            <a:avLst/>
          </a:prstGeom>
          <a:solidFill>
            <a:srgbClr val="6E8A99"/>
          </a:solidFill>
          <a:ln w="12700">
            <a:solidFill>
              <a:srgbClr val="6E8A99"/>
            </a:solidFill>
            <a:prstDash val="solid"/>
          </a:ln>
        </p:spPr>
      </p:sp>
      <p:sp>
        <p:nvSpPr>
          <p:cNvPr id="53" name="Shape 51"/>
          <p:cNvSpPr/>
          <p:nvPr/>
        </p:nvSpPr>
        <p:spPr>
          <a:xfrm>
            <a:off x="5504231" y="3063240"/>
            <a:ext cx="20117" cy="137160"/>
          </a:xfrm>
          <a:prstGeom prst="rect">
            <a:avLst/>
          </a:prstGeom>
          <a:solidFill>
            <a:srgbClr val="6E8A99"/>
          </a:solidFill>
          <a:ln w="12700">
            <a:solidFill>
              <a:srgbClr val="6E8A99"/>
            </a:solidFill>
            <a:prstDash val="solid"/>
          </a:ln>
        </p:spPr>
      </p:sp>
      <p:sp>
        <p:nvSpPr>
          <p:cNvPr id="54" name="Shape 52"/>
          <p:cNvSpPr/>
          <p:nvPr/>
        </p:nvSpPr>
        <p:spPr>
          <a:xfrm>
            <a:off x="5680481" y="3063240"/>
            <a:ext cx="20117" cy="137160"/>
          </a:xfrm>
          <a:prstGeom prst="rect">
            <a:avLst/>
          </a:prstGeom>
          <a:solidFill>
            <a:srgbClr val="6E8A99"/>
          </a:solidFill>
          <a:ln w="12700">
            <a:solidFill>
              <a:srgbClr val="6E8A99"/>
            </a:solidFill>
            <a:prstDash val="solid"/>
          </a:ln>
        </p:spPr>
      </p:sp>
      <p:sp>
        <p:nvSpPr>
          <p:cNvPr id="55" name="Shape 53"/>
          <p:cNvSpPr/>
          <p:nvPr/>
        </p:nvSpPr>
        <p:spPr>
          <a:xfrm>
            <a:off x="3831022" y="2926080"/>
            <a:ext cx="59436" cy="59436"/>
          </a:xfrm>
          <a:prstGeom prst="ellipse">
            <a:avLst/>
          </a:prstGeom>
          <a:solidFill>
            <a:srgbClr val="E09A5F"/>
          </a:solidFill>
          <a:ln w="12700">
            <a:solidFill>
              <a:srgbClr val="E09A5F"/>
            </a:solidFill>
            <a:prstDash val="solid"/>
          </a:ln>
        </p:spPr>
      </p:sp>
      <p:sp>
        <p:nvSpPr>
          <p:cNvPr id="56" name="Shape 54"/>
          <p:cNvSpPr/>
          <p:nvPr/>
        </p:nvSpPr>
        <p:spPr>
          <a:xfrm>
            <a:off x="3957495" y="2926080"/>
            <a:ext cx="59436" cy="59436"/>
          </a:xfrm>
          <a:prstGeom prst="ellipse">
            <a:avLst/>
          </a:prstGeom>
          <a:solidFill>
            <a:srgbClr val="E09A5F"/>
          </a:solidFill>
          <a:ln w="12700">
            <a:solidFill>
              <a:srgbClr val="E09A5F"/>
            </a:solidFill>
            <a:prstDash val="solid"/>
          </a:ln>
        </p:spPr>
      </p:sp>
      <p:sp>
        <p:nvSpPr>
          <p:cNvPr id="57" name="Shape 55"/>
          <p:cNvSpPr/>
          <p:nvPr/>
        </p:nvSpPr>
        <p:spPr>
          <a:xfrm>
            <a:off x="4083968" y="2926080"/>
            <a:ext cx="59436" cy="59436"/>
          </a:xfrm>
          <a:prstGeom prst="ellipse">
            <a:avLst/>
          </a:prstGeom>
          <a:solidFill>
            <a:srgbClr val="E09A5F"/>
          </a:solidFill>
          <a:ln w="12700">
            <a:solidFill>
              <a:srgbClr val="E09A5F"/>
            </a:solidFill>
            <a:prstDash val="solid"/>
          </a:ln>
        </p:spPr>
      </p:sp>
      <p:sp>
        <p:nvSpPr>
          <p:cNvPr id="58" name="Shape 56"/>
          <p:cNvSpPr/>
          <p:nvPr/>
        </p:nvSpPr>
        <p:spPr>
          <a:xfrm>
            <a:off x="4210441" y="2926080"/>
            <a:ext cx="59436" cy="59436"/>
          </a:xfrm>
          <a:prstGeom prst="ellipse">
            <a:avLst/>
          </a:prstGeom>
          <a:solidFill>
            <a:srgbClr val="E09A5F"/>
          </a:solidFill>
          <a:ln w="12700">
            <a:solidFill>
              <a:srgbClr val="E09A5F"/>
            </a:solidFill>
            <a:prstDash val="solid"/>
          </a:ln>
        </p:spPr>
      </p:sp>
      <p:sp>
        <p:nvSpPr>
          <p:cNvPr id="59" name="Shape 57"/>
          <p:cNvSpPr/>
          <p:nvPr/>
        </p:nvSpPr>
        <p:spPr>
          <a:xfrm>
            <a:off x="4336913" y="2926080"/>
            <a:ext cx="59436" cy="59436"/>
          </a:xfrm>
          <a:prstGeom prst="ellipse">
            <a:avLst/>
          </a:prstGeom>
          <a:solidFill>
            <a:srgbClr val="E09A5F"/>
          </a:solidFill>
          <a:ln w="12700">
            <a:solidFill>
              <a:srgbClr val="E09A5F"/>
            </a:solidFill>
            <a:prstDash val="solid"/>
          </a:ln>
        </p:spPr>
      </p:sp>
      <p:sp>
        <p:nvSpPr>
          <p:cNvPr id="60" name="Shape 58"/>
          <p:cNvSpPr/>
          <p:nvPr/>
        </p:nvSpPr>
        <p:spPr>
          <a:xfrm>
            <a:off x="4463386" y="2926080"/>
            <a:ext cx="59436" cy="59436"/>
          </a:xfrm>
          <a:prstGeom prst="ellipse">
            <a:avLst/>
          </a:prstGeom>
          <a:solidFill>
            <a:srgbClr val="E09A5F"/>
          </a:solidFill>
          <a:ln w="12700">
            <a:solidFill>
              <a:srgbClr val="E09A5F"/>
            </a:solidFill>
            <a:prstDash val="solid"/>
          </a:ln>
        </p:spPr>
      </p:sp>
      <p:sp>
        <p:nvSpPr>
          <p:cNvPr id="61" name="Shape 59"/>
          <p:cNvSpPr/>
          <p:nvPr/>
        </p:nvSpPr>
        <p:spPr>
          <a:xfrm>
            <a:off x="4589859" y="2926080"/>
            <a:ext cx="59436" cy="59436"/>
          </a:xfrm>
          <a:prstGeom prst="ellipse">
            <a:avLst/>
          </a:prstGeom>
          <a:solidFill>
            <a:srgbClr val="E09A5F"/>
          </a:solidFill>
          <a:ln w="12700">
            <a:solidFill>
              <a:srgbClr val="E09A5F"/>
            </a:solidFill>
            <a:prstDash val="solid"/>
          </a:ln>
        </p:spPr>
      </p:sp>
      <p:sp>
        <p:nvSpPr>
          <p:cNvPr id="62" name="Shape 60"/>
          <p:cNvSpPr/>
          <p:nvPr/>
        </p:nvSpPr>
        <p:spPr>
          <a:xfrm>
            <a:off x="4716332" y="2926080"/>
            <a:ext cx="59436" cy="59436"/>
          </a:xfrm>
          <a:prstGeom prst="ellipse">
            <a:avLst/>
          </a:prstGeom>
          <a:solidFill>
            <a:srgbClr val="E09A5F"/>
          </a:solidFill>
          <a:ln w="12700">
            <a:solidFill>
              <a:srgbClr val="E09A5F"/>
            </a:solidFill>
            <a:prstDash val="solid"/>
          </a:ln>
        </p:spPr>
      </p:sp>
      <p:sp>
        <p:nvSpPr>
          <p:cNvPr id="63" name="Shape 61"/>
          <p:cNvSpPr/>
          <p:nvPr/>
        </p:nvSpPr>
        <p:spPr>
          <a:xfrm>
            <a:off x="4842805" y="2926080"/>
            <a:ext cx="59436" cy="59436"/>
          </a:xfrm>
          <a:prstGeom prst="ellipse">
            <a:avLst/>
          </a:prstGeom>
          <a:solidFill>
            <a:srgbClr val="E09A5F"/>
          </a:solidFill>
          <a:ln w="12700">
            <a:solidFill>
              <a:srgbClr val="E09A5F"/>
            </a:solidFill>
            <a:prstDash val="solid"/>
          </a:ln>
        </p:spPr>
      </p:sp>
      <p:sp>
        <p:nvSpPr>
          <p:cNvPr id="64" name="Shape 62"/>
          <p:cNvSpPr/>
          <p:nvPr/>
        </p:nvSpPr>
        <p:spPr>
          <a:xfrm>
            <a:off x="4969278" y="2926080"/>
            <a:ext cx="59436" cy="59436"/>
          </a:xfrm>
          <a:prstGeom prst="ellipse">
            <a:avLst/>
          </a:prstGeom>
          <a:solidFill>
            <a:srgbClr val="E09A5F"/>
          </a:solidFill>
          <a:ln w="12700">
            <a:solidFill>
              <a:srgbClr val="E09A5F"/>
            </a:solidFill>
            <a:prstDash val="solid"/>
          </a:ln>
        </p:spPr>
      </p:sp>
      <p:sp>
        <p:nvSpPr>
          <p:cNvPr id="65" name="Shape 63"/>
          <p:cNvSpPr/>
          <p:nvPr/>
        </p:nvSpPr>
        <p:spPr>
          <a:xfrm>
            <a:off x="5095751" y="2926080"/>
            <a:ext cx="59436" cy="59436"/>
          </a:xfrm>
          <a:prstGeom prst="ellipse">
            <a:avLst/>
          </a:prstGeom>
          <a:solidFill>
            <a:srgbClr val="E09A5F"/>
          </a:solidFill>
          <a:ln w="12700">
            <a:solidFill>
              <a:srgbClr val="E09A5F"/>
            </a:solidFill>
            <a:prstDash val="solid"/>
          </a:ln>
        </p:spPr>
      </p:sp>
      <p:sp>
        <p:nvSpPr>
          <p:cNvPr id="66" name="Shape 64"/>
          <p:cNvSpPr/>
          <p:nvPr/>
        </p:nvSpPr>
        <p:spPr>
          <a:xfrm>
            <a:off x="5222224" y="2926080"/>
            <a:ext cx="59436" cy="59436"/>
          </a:xfrm>
          <a:prstGeom prst="ellipse">
            <a:avLst/>
          </a:prstGeom>
          <a:solidFill>
            <a:srgbClr val="E09A5F"/>
          </a:solidFill>
          <a:ln w="12700">
            <a:solidFill>
              <a:srgbClr val="E09A5F"/>
            </a:solidFill>
            <a:prstDash val="solid"/>
          </a:ln>
        </p:spPr>
      </p:sp>
      <p:sp>
        <p:nvSpPr>
          <p:cNvPr id="67" name="Shape 65"/>
          <p:cNvSpPr/>
          <p:nvPr/>
        </p:nvSpPr>
        <p:spPr>
          <a:xfrm>
            <a:off x="5348697" y="2926080"/>
            <a:ext cx="59436" cy="59436"/>
          </a:xfrm>
          <a:prstGeom prst="ellipse">
            <a:avLst/>
          </a:prstGeom>
          <a:solidFill>
            <a:srgbClr val="E09A5F"/>
          </a:solidFill>
          <a:ln w="12700">
            <a:solidFill>
              <a:srgbClr val="E09A5F"/>
            </a:solidFill>
            <a:prstDash val="solid"/>
          </a:ln>
        </p:spPr>
      </p:sp>
      <p:sp>
        <p:nvSpPr>
          <p:cNvPr id="68" name="Shape 66"/>
          <p:cNvSpPr/>
          <p:nvPr/>
        </p:nvSpPr>
        <p:spPr>
          <a:xfrm>
            <a:off x="5475170" y="2926080"/>
            <a:ext cx="59436" cy="59436"/>
          </a:xfrm>
          <a:prstGeom prst="ellipse">
            <a:avLst/>
          </a:prstGeom>
          <a:solidFill>
            <a:srgbClr val="E09A5F"/>
          </a:solidFill>
          <a:ln w="12700">
            <a:solidFill>
              <a:srgbClr val="E09A5F"/>
            </a:solidFill>
            <a:prstDash val="solid"/>
          </a:ln>
        </p:spPr>
      </p:sp>
      <p:sp>
        <p:nvSpPr>
          <p:cNvPr id="69" name="Shape 67"/>
          <p:cNvSpPr/>
          <p:nvPr/>
        </p:nvSpPr>
        <p:spPr>
          <a:xfrm>
            <a:off x="5601643" y="2926080"/>
            <a:ext cx="59436" cy="59436"/>
          </a:xfrm>
          <a:prstGeom prst="ellipse">
            <a:avLst/>
          </a:prstGeom>
          <a:solidFill>
            <a:srgbClr val="E09A5F"/>
          </a:solidFill>
          <a:ln w="12700">
            <a:solidFill>
              <a:srgbClr val="E09A5F"/>
            </a:solidFill>
            <a:prstDash val="solid"/>
          </a:ln>
        </p:spPr>
      </p:sp>
      <p:sp>
        <p:nvSpPr>
          <p:cNvPr id="70" name="Shape 68"/>
          <p:cNvSpPr/>
          <p:nvPr/>
        </p:nvSpPr>
        <p:spPr>
          <a:xfrm>
            <a:off x="5728116" y="2926080"/>
            <a:ext cx="59436" cy="59436"/>
          </a:xfrm>
          <a:prstGeom prst="ellipse">
            <a:avLst/>
          </a:prstGeom>
          <a:solidFill>
            <a:srgbClr val="E09A5F"/>
          </a:solidFill>
          <a:ln w="12700">
            <a:solidFill>
              <a:srgbClr val="E09A5F"/>
            </a:solidFill>
            <a:prstDash val="solid"/>
          </a:ln>
        </p:spPr>
      </p:sp>
      <p:sp>
        <p:nvSpPr>
          <p:cNvPr id="71" name="Shape 69"/>
          <p:cNvSpPr/>
          <p:nvPr/>
        </p:nvSpPr>
        <p:spPr>
          <a:xfrm>
            <a:off x="3797503" y="2432304"/>
            <a:ext cx="947776" cy="475488"/>
          </a:xfrm>
          <a:prstGeom prst="roundRect">
            <a:avLst>
              <a:gd name="adj" fmla="val 23077"/>
            </a:avLst>
          </a:prstGeom>
          <a:solidFill>
            <a:srgbClr val="3F5A6B"/>
          </a:solidFill>
          <a:ln w="9525">
            <a:solidFill>
              <a:srgbClr val="FFFFFF"/>
            </a:solidFill>
            <a:prstDash val="solid"/>
          </a:ln>
        </p:spPr>
      </p:sp>
      <p:sp>
        <p:nvSpPr>
          <p:cNvPr id="72" name="Text 70"/>
          <p:cNvSpPr/>
          <p:nvPr/>
        </p:nvSpPr>
        <p:spPr>
          <a:xfrm>
            <a:off x="3797503" y="2432304"/>
            <a:ext cx="947776" cy="47548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A</a:t>
            </a:r>
            <a:endParaRPr lang="en-US" sz="800" dirty="0"/>
          </a:p>
        </p:txBody>
      </p:sp>
      <p:sp>
        <p:nvSpPr>
          <p:cNvPr id="73" name="Shape 71"/>
          <p:cNvSpPr/>
          <p:nvPr/>
        </p:nvSpPr>
        <p:spPr>
          <a:xfrm>
            <a:off x="4873295" y="2432304"/>
            <a:ext cx="947776" cy="475488"/>
          </a:xfrm>
          <a:prstGeom prst="roundRect">
            <a:avLst>
              <a:gd name="adj" fmla="val 23077"/>
            </a:avLst>
          </a:prstGeom>
          <a:solidFill>
            <a:srgbClr val="56707E"/>
          </a:solidFill>
          <a:ln w="9525">
            <a:solidFill>
              <a:srgbClr val="FFFFFF"/>
            </a:solidFill>
            <a:prstDash val="solid"/>
          </a:ln>
        </p:spPr>
      </p:sp>
      <p:sp>
        <p:nvSpPr>
          <p:cNvPr id="74" name="Text 72"/>
          <p:cNvSpPr/>
          <p:nvPr/>
        </p:nvSpPr>
        <p:spPr>
          <a:xfrm>
            <a:off x="4873295" y="2432304"/>
            <a:ext cx="947776" cy="47548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B</a:t>
            </a:r>
            <a:endParaRPr lang="en-US" sz="800" dirty="0"/>
          </a:p>
        </p:txBody>
      </p:sp>
      <p:sp>
        <p:nvSpPr>
          <p:cNvPr id="75" name="Text 73"/>
          <p:cNvSpPr/>
          <p:nvPr/>
        </p:nvSpPr>
        <p:spPr>
          <a:xfrm>
            <a:off x="3706063" y="3602736"/>
            <a:ext cx="2206447" cy="219456"/>
          </a:xfrm>
          <a:prstGeom prst="rect">
            <a:avLst/>
          </a:prstGeom>
          <a:noFill/>
          <a:ln/>
        </p:spPr>
        <p:txBody>
          <a:bodyPr wrap="square" lIns="0" tIns="0" rIns="0" bIns="0" rtlCol="0" anchor="ctr"/>
          <a:lstStyle/>
          <a:p>
            <a:pPr algn="ctr" indent="0" marL="0">
              <a:buNone/>
            </a:pPr>
            <a:r>
              <a:rPr lang="en-US" sz="900" dirty="0">
                <a:solidFill>
                  <a:srgbClr val="B25A22"/>
                </a:solidFill>
                <a:latin typeface="Calibri" pitchFamily="34" charset="0"/>
                <a:ea typeface="Calibri" pitchFamily="34" charset="-122"/>
                <a:cs typeface="Calibri" pitchFamily="34" charset="-120"/>
              </a:rPr>
              <a:t>TSV 인터포저</a:t>
            </a:r>
            <a:endParaRPr lang="en-US" sz="900" dirty="0"/>
          </a:p>
        </p:txBody>
      </p:sp>
      <p:sp>
        <p:nvSpPr>
          <p:cNvPr id="76" name="Text 74"/>
          <p:cNvSpPr/>
          <p:nvPr/>
        </p:nvSpPr>
        <p:spPr>
          <a:xfrm>
            <a:off x="3706063" y="3913632"/>
            <a:ext cx="2206447" cy="256032"/>
          </a:xfrm>
          <a:prstGeom prst="rect">
            <a:avLst/>
          </a:prstGeom>
          <a:noFill/>
          <a:ln/>
        </p:spPr>
        <p:txBody>
          <a:bodyPr wrap="square" lIns="0" tIns="0" rIns="0" bIns="0" rtlCol="0" anchor="ctr"/>
          <a:lstStyle/>
          <a:p>
            <a:pPr indent="0" marL="0">
              <a:buNone/>
            </a:pPr>
            <a:r>
              <a:rPr lang="en-US" sz="1100" b="1" dirty="0">
                <a:solidFill>
                  <a:srgbClr val="B25A22"/>
                </a:solidFill>
                <a:latin typeface="Arial" pitchFamily="34" charset="0"/>
                <a:ea typeface="Arial" pitchFamily="34" charset="-122"/>
                <a:cs typeface="Arial" pitchFamily="34" charset="-120"/>
              </a:rPr>
              <a:t>범프 피치  40 – 55 µm</a:t>
            </a:r>
            <a:endParaRPr lang="en-US" sz="1100" dirty="0"/>
          </a:p>
        </p:txBody>
      </p:sp>
      <p:sp>
        <p:nvSpPr>
          <p:cNvPr id="77" name="Text 75"/>
          <p:cNvSpPr/>
          <p:nvPr/>
        </p:nvSpPr>
        <p:spPr>
          <a:xfrm>
            <a:off x="3706063" y="4224528"/>
            <a:ext cx="2206447" cy="1051560"/>
          </a:xfrm>
          <a:prstGeom prst="rect">
            <a:avLst/>
          </a:prstGeom>
          <a:noFill/>
          <a:ln/>
        </p:spPr>
        <p:txBody>
          <a:bodyPr wrap="square" lIns="0" tIns="0" rIns="0" bIns="0" rtlCol="0" anchor="ctr"/>
          <a:lstStyle/>
          <a:p>
            <a:pPr indent="0" marL="0">
              <a:lnSpc>
                <a:spcPct val="110000"/>
              </a:lnSpc>
              <a:buNone/>
            </a:pPr>
            <a:r>
              <a:rPr lang="en-US" sz="1050" dirty="0">
                <a:solidFill>
                  <a:srgbClr val="6B7381"/>
                </a:solidFill>
                <a:latin typeface="Calibri" pitchFamily="34" charset="0"/>
                <a:ea typeface="Calibri" pitchFamily="34" charset="-122"/>
                <a:cs typeface="Calibri" pitchFamily="34" charset="-120"/>
              </a:rPr>
              <a:t>실리콘 인터포저 전면에 다이를 얹고 TSV로 기판과 연결. HBM 집적의 사실상 표준.</a:t>
            </a:r>
            <a:endParaRPr lang="en-US" sz="1050" dirty="0"/>
          </a:p>
        </p:txBody>
      </p:sp>
      <p:sp>
        <p:nvSpPr>
          <p:cNvPr id="78" name="Text 76"/>
          <p:cNvSpPr/>
          <p:nvPr/>
        </p:nvSpPr>
        <p:spPr>
          <a:xfrm>
            <a:off x="3706063" y="5148072"/>
            <a:ext cx="2206447" cy="365760"/>
          </a:xfrm>
          <a:prstGeom prst="rect">
            <a:avLst/>
          </a:prstGeom>
          <a:noFill/>
          <a:ln/>
        </p:spPr>
        <p:txBody>
          <a:bodyPr wrap="square" lIns="0" tIns="0" rIns="0" bIns="0" rtlCol="0" anchor="ctr"/>
          <a:lstStyle/>
          <a:p>
            <a:pPr indent="0" marL="0">
              <a:buNone/>
            </a:pPr>
            <a:r>
              <a:rPr lang="en-US" sz="1000" i="1" dirty="0">
                <a:solidFill>
                  <a:srgbClr val="232834"/>
                </a:solidFill>
                <a:latin typeface="Calibri" pitchFamily="34" charset="0"/>
                <a:ea typeface="Calibri" pitchFamily="34" charset="-122"/>
                <a:cs typeface="Calibri" pitchFamily="34" charset="-120"/>
              </a:rPr>
              <a:t>예:  NVIDIA GPU + HBM</a:t>
            </a:r>
            <a:endParaRPr lang="en-US" sz="1000" dirty="0"/>
          </a:p>
        </p:txBody>
      </p:sp>
      <p:sp>
        <p:nvSpPr>
          <p:cNvPr id="79" name="Shape 77"/>
          <p:cNvSpPr/>
          <p:nvPr/>
        </p:nvSpPr>
        <p:spPr>
          <a:xfrm>
            <a:off x="6333134" y="1627632"/>
            <a:ext cx="2645359" cy="4069080"/>
          </a:xfrm>
          <a:prstGeom prst="roundRect">
            <a:avLst>
              <a:gd name="adj" fmla="val 2074"/>
            </a:avLst>
          </a:prstGeom>
          <a:solidFill>
            <a:srgbClr val="F1F2F5"/>
          </a:solidFill>
          <a:ln w="9525">
            <a:solidFill>
              <a:srgbClr val="D5D9E0"/>
            </a:solidFill>
            <a:prstDash val="solid"/>
          </a:ln>
        </p:spPr>
      </p:sp>
      <p:sp>
        <p:nvSpPr>
          <p:cNvPr id="80" name="Text 78"/>
          <p:cNvSpPr/>
          <p:nvPr/>
        </p:nvSpPr>
        <p:spPr>
          <a:xfrm>
            <a:off x="6552590" y="1810512"/>
            <a:ext cx="2206447" cy="274320"/>
          </a:xfrm>
          <a:prstGeom prst="rect">
            <a:avLst/>
          </a:prstGeom>
          <a:noFill/>
          <a:ln/>
        </p:spPr>
        <p:txBody>
          <a:bodyPr wrap="square" lIns="0" tIns="0" rIns="0" bIns="0" rtlCol="0" anchor="ctr"/>
          <a:lstStyle/>
          <a:p>
            <a:pPr indent="0" marL="0">
              <a:buNone/>
            </a:pPr>
            <a:r>
              <a:rPr lang="en-US" sz="1350" b="1" dirty="0">
                <a:solidFill>
                  <a:srgbClr val="232834"/>
                </a:solidFill>
                <a:latin typeface="Arial" pitchFamily="34" charset="0"/>
                <a:ea typeface="Arial" pitchFamily="34" charset="-122"/>
                <a:cs typeface="Arial" pitchFamily="34" charset="-120"/>
              </a:rPr>
              <a:t>임베디드 브리지</a:t>
            </a:r>
            <a:endParaRPr lang="en-US" sz="1350" dirty="0"/>
          </a:p>
        </p:txBody>
      </p:sp>
      <p:sp>
        <p:nvSpPr>
          <p:cNvPr id="81" name="Text 79"/>
          <p:cNvSpPr/>
          <p:nvPr/>
        </p:nvSpPr>
        <p:spPr>
          <a:xfrm>
            <a:off x="6552590" y="2093976"/>
            <a:ext cx="2206447"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EMIB / Si Bridge</a:t>
            </a:r>
            <a:endParaRPr lang="en-US" sz="1000" dirty="0"/>
          </a:p>
        </p:txBody>
      </p:sp>
      <p:sp>
        <p:nvSpPr>
          <p:cNvPr id="82" name="Shape 80"/>
          <p:cNvSpPr/>
          <p:nvPr/>
        </p:nvSpPr>
        <p:spPr>
          <a:xfrm>
            <a:off x="6552590" y="3364992"/>
            <a:ext cx="2206447" cy="201168"/>
          </a:xfrm>
          <a:prstGeom prst="rect">
            <a:avLst/>
          </a:prstGeom>
          <a:solidFill>
            <a:srgbClr val="2C4351"/>
          </a:solidFill>
          <a:ln w="6350">
            <a:solidFill>
              <a:srgbClr val="7C97A6"/>
            </a:solidFill>
            <a:prstDash val="solid"/>
          </a:ln>
        </p:spPr>
      </p:sp>
      <p:sp>
        <p:nvSpPr>
          <p:cNvPr id="83" name="Shape 81"/>
          <p:cNvSpPr/>
          <p:nvPr/>
        </p:nvSpPr>
        <p:spPr>
          <a:xfrm>
            <a:off x="6612621" y="3246120"/>
            <a:ext cx="100584" cy="100584"/>
          </a:xfrm>
          <a:prstGeom prst="ellipse">
            <a:avLst/>
          </a:prstGeom>
          <a:solidFill>
            <a:srgbClr val="9AA6B2"/>
          </a:solidFill>
          <a:ln w="12700">
            <a:solidFill>
              <a:srgbClr val="9AA6B2"/>
            </a:solidFill>
            <a:prstDash val="solid"/>
          </a:ln>
        </p:spPr>
      </p:sp>
      <p:sp>
        <p:nvSpPr>
          <p:cNvPr id="84" name="Shape 82"/>
          <p:cNvSpPr/>
          <p:nvPr/>
        </p:nvSpPr>
        <p:spPr>
          <a:xfrm>
            <a:off x="6833265" y="3246120"/>
            <a:ext cx="100584" cy="100584"/>
          </a:xfrm>
          <a:prstGeom prst="ellipse">
            <a:avLst/>
          </a:prstGeom>
          <a:solidFill>
            <a:srgbClr val="9AA6B2"/>
          </a:solidFill>
          <a:ln w="12700">
            <a:solidFill>
              <a:srgbClr val="9AA6B2"/>
            </a:solidFill>
            <a:prstDash val="solid"/>
          </a:ln>
        </p:spPr>
      </p:sp>
      <p:sp>
        <p:nvSpPr>
          <p:cNvPr id="85" name="Shape 83"/>
          <p:cNvSpPr/>
          <p:nvPr/>
        </p:nvSpPr>
        <p:spPr>
          <a:xfrm>
            <a:off x="7053910" y="3246120"/>
            <a:ext cx="100584" cy="100584"/>
          </a:xfrm>
          <a:prstGeom prst="ellipse">
            <a:avLst/>
          </a:prstGeom>
          <a:solidFill>
            <a:srgbClr val="9AA6B2"/>
          </a:solidFill>
          <a:ln w="12700">
            <a:solidFill>
              <a:srgbClr val="9AA6B2"/>
            </a:solidFill>
            <a:prstDash val="solid"/>
          </a:ln>
        </p:spPr>
      </p:sp>
      <p:sp>
        <p:nvSpPr>
          <p:cNvPr id="86" name="Shape 84"/>
          <p:cNvSpPr/>
          <p:nvPr/>
        </p:nvSpPr>
        <p:spPr>
          <a:xfrm>
            <a:off x="7274555" y="3246120"/>
            <a:ext cx="100584" cy="100584"/>
          </a:xfrm>
          <a:prstGeom prst="ellipse">
            <a:avLst/>
          </a:prstGeom>
          <a:solidFill>
            <a:srgbClr val="9AA6B2"/>
          </a:solidFill>
          <a:ln w="12700">
            <a:solidFill>
              <a:srgbClr val="9AA6B2"/>
            </a:solidFill>
            <a:prstDash val="solid"/>
          </a:ln>
        </p:spPr>
      </p:sp>
      <p:sp>
        <p:nvSpPr>
          <p:cNvPr id="87" name="Shape 85"/>
          <p:cNvSpPr/>
          <p:nvPr/>
        </p:nvSpPr>
        <p:spPr>
          <a:xfrm>
            <a:off x="7495200" y="3246120"/>
            <a:ext cx="100584" cy="100584"/>
          </a:xfrm>
          <a:prstGeom prst="ellipse">
            <a:avLst/>
          </a:prstGeom>
          <a:solidFill>
            <a:srgbClr val="9AA6B2"/>
          </a:solidFill>
          <a:ln w="12700">
            <a:solidFill>
              <a:srgbClr val="9AA6B2"/>
            </a:solidFill>
            <a:prstDash val="solid"/>
          </a:ln>
        </p:spPr>
      </p:sp>
      <p:sp>
        <p:nvSpPr>
          <p:cNvPr id="88" name="Shape 86"/>
          <p:cNvSpPr/>
          <p:nvPr/>
        </p:nvSpPr>
        <p:spPr>
          <a:xfrm>
            <a:off x="7715844" y="3246120"/>
            <a:ext cx="100584" cy="100584"/>
          </a:xfrm>
          <a:prstGeom prst="ellipse">
            <a:avLst/>
          </a:prstGeom>
          <a:solidFill>
            <a:srgbClr val="9AA6B2"/>
          </a:solidFill>
          <a:ln w="12700">
            <a:solidFill>
              <a:srgbClr val="9AA6B2"/>
            </a:solidFill>
            <a:prstDash val="solid"/>
          </a:ln>
        </p:spPr>
      </p:sp>
      <p:sp>
        <p:nvSpPr>
          <p:cNvPr id="89" name="Shape 87"/>
          <p:cNvSpPr/>
          <p:nvPr/>
        </p:nvSpPr>
        <p:spPr>
          <a:xfrm>
            <a:off x="7936489" y="3246120"/>
            <a:ext cx="100584" cy="100584"/>
          </a:xfrm>
          <a:prstGeom prst="ellipse">
            <a:avLst/>
          </a:prstGeom>
          <a:solidFill>
            <a:srgbClr val="9AA6B2"/>
          </a:solidFill>
          <a:ln w="12700">
            <a:solidFill>
              <a:srgbClr val="9AA6B2"/>
            </a:solidFill>
            <a:prstDash val="solid"/>
          </a:ln>
        </p:spPr>
      </p:sp>
      <p:sp>
        <p:nvSpPr>
          <p:cNvPr id="90" name="Shape 88"/>
          <p:cNvSpPr/>
          <p:nvPr/>
        </p:nvSpPr>
        <p:spPr>
          <a:xfrm>
            <a:off x="8157134" y="3246120"/>
            <a:ext cx="100584" cy="100584"/>
          </a:xfrm>
          <a:prstGeom prst="ellipse">
            <a:avLst/>
          </a:prstGeom>
          <a:solidFill>
            <a:srgbClr val="9AA6B2"/>
          </a:solidFill>
          <a:ln w="12700">
            <a:solidFill>
              <a:srgbClr val="9AA6B2"/>
            </a:solidFill>
            <a:prstDash val="solid"/>
          </a:ln>
        </p:spPr>
      </p:sp>
      <p:sp>
        <p:nvSpPr>
          <p:cNvPr id="91" name="Shape 89"/>
          <p:cNvSpPr/>
          <p:nvPr/>
        </p:nvSpPr>
        <p:spPr>
          <a:xfrm>
            <a:off x="8377779" y="3246120"/>
            <a:ext cx="100584" cy="100584"/>
          </a:xfrm>
          <a:prstGeom prst="ellipse">
            <a:avLst/>
          </a:prstGeom>
          <a:solidFill>
            <a:srgbClr val="9AA6B2"/>
          </a:solidFill>
          <a:ln w="12700">
            <a:solidFill>
              <a:srgbClr val="9AA6B2"/>
            </a:solidFill>
            <a:prstDash val="solid"/>
          </a:ln>
        </p:spPr>
      </p:sp>
      <p:sp>
        <p:nvSpPr>
          <p:cNvPr id="92" name="Shape 90"/>
          <p:cNvSpPr/>
          <p:nvPr/>
        </p:nvSpPr>
        <p:spPr>
          <a:xfrm>
            <a:off x="8598423" y="3246120"/>
            <a:ext cx="100584" cy="100584"/>
          </a:xfrm>
          <a:prstGeom prst="ellipse">
            <a:avLst/>
          </a:prstGeom>
          <a:solidFill>
            <a:srgbClr val="9AA6B2"/>
          </a:solidFill>
          <a:ln w="12700">
            <a:solidFill>
              <a:srgbClr val="9AA6B2"/>
            </a:solidFill>
            <a:prstDash val="solid"/>
          </a:ln>
        </p:spPr>
      </p:sp>
      <p:sp>
        <p:nvSpPr>
          <p:cNvPr id="93" name="Shape 91"/>
          <p:cNvSpPr/>
          <p:nvPr/>
        </p:nvSpPr>
        <p:spPr>
          <a:xfrm>
            <a:off x="7180326" y="3355848"/>
            <a:ext cx="950976" cy="137160"/>
          </a:xfrm>
          <a:prstGeom prst="rect">
            <a:avLst/>
          </a:prstGeom>
          <a:solidFill>
            <a:srgbClr val="B25A22"/>
          </a:solidFill>
          <a:ln w="9525">
            <a:solidFill>
              <a:srgbClr val="FFFFFF"/>
            </a:solidFill>
            <a:prstDash val="solid"/>
          </a:ln>
        </p:spPr>
      </p:sp>
      <p:sp>
        <p:nvSpPr>
          <p:cNvPr id="94" name="Shape 92"/>
          <p:cNvSpPr/>
          <p:nvPr/>
        </p:nvSpPr>
        <p:spPr>
          <a:xfrm>
            <a:off x="7227418" y="3255264"/>
            <a:ext cx="56693" cy="56693"/>
          </a:xfrm>
          <a:prstGeom prst="ellipse">
            <a:avLst/>
          </a:prstGeom>
          <a:solidFill>
            <a:srgbClr val="E09A5F"/>
          </a:solidFill>
          <a:ln w="12700">
            <a:solidFill>
              <a:srgbClr val="E09A5F"/>
            </a:solidFill>
            <a:prstDash val="solid"/>
          </a:ln>
        </p:spPr>
      </p:sp>
      <p:sp>
        <p:nvSpPr>
          <p:cNvPr id="95" name="Shape 93"/>
          <p:cNvSpPr/>
          <p:nvPr/>
        </p:nvSpPr>
        <p:spPr>
          <a:xfrm>
            <a:off x="7341718" y="3255264"/>
            <a:ext cx="56693" cy="56693"/>
          </a:xfrm>
          <a:prstGeom prst="ellipse">
            <a:avLst/>
          </a:prstGeom>
          <a:solidFill>
            <a:srgbClr val="E09A5F"/>
          </a:solidFill>
          <a:ln w="12700">
            <a:solidFill>
              <a:srgbClr val="E09A5F"/>
            </a:solidFill>
            <a:prstDash val="solid"/>
          </a:ln>
        </p:spPr>
      </p:sp>
      <p:sp>
        <p:nvSpPr>
          <p:cNvPr id="96" name="Shape 94"/>
          <p:cNvSpPr/>
          <p:nvPr/>
        </p:nvSpPr>
        <p:spPr>
          <a:xfrm>
            <a:off x="7456018" y="3255264"/>
            <a:ext cx="56693" cy="56693"/>
          </a:xfrm>
          <a:prstGeom prst="ellipse">
            <a:avLst/>
          </a:prstGeom>
          <a:solidFill>
            <a:srgbClr val="E09A5F"/>
          </a:solidFill>
          <a:ln w="12700">
            <a:solidFill>
              <a:srgbClr val="E09A5F"/>
            </a:solidFill>
            <a:prstDash val="solid"/>
          </a:ln>
        </p:spPr>
      </p:sp>
      <p:sp>
        <p:nvSpPr>
          <p:cNvPr id="97" name="Shape 95"/>
          <p:cNvSpPr/>
          <p:nvPr/>
        </p:nvSpPr>
        <p:spPr>
          <a:xfrm>
            <a:off x="7570318" y="3255264"/>
            <a:ext cx="56693" cy="56693"/>
          </a:xfrm>
          <a:prstGeom prst="ellipse">
            <a:avLst/>
          </a:prstGeom>
          <a:solidFill>
            <a:srgbClr val="E09A5F"/>
          </a:solidFill>
          <a:ln w="12700">
            <a:solidFill>
              <a:srgbClr val="E09A5F"/>
            </a:solidFill>
            <a:prstDash val="solid"/>
          </a:ln>
        </p:spPr>
      </p:sp>
      <p:sp>
        <p:nvSpPr>
          <p:cNvPr id="98" name="Shape 96"/>
          <p:cNvSpPr/>
          <p:nvPr/>
        </p:nvSpPr>
        <p:spPr>
          <a:xfrm>
            <a:off x="7684618" y="3255264"/>
            <a:ext cx="56693" cy="56693"/>
          </a:xfrm>
          <a:prstGeom prst="ellipse">
            <a:avLst/>
          </a:prstGeom>
          <a:solidFill>
            <a:srgbClr val="E09A5F"/>
          </a:solidFill>
          <a:ln w="12700">
            <a:solidFill>
              <a:srgbClr val="E09A5F"/>
            </a:solidFill>
            <a:prstDash val="solid"/>
          </a:ln>
        </p:spPr>
      </p:sp>
      <p:sp>
        <p:nvSpPr>
          <p:cNvPr id="99" name="Shape 97"/>
          <p:cNvSpPr/>
          <p:nvPr/>
        </p:nvSpPr>
        <p:spPr>
          <a:xfrm>
            <a:off x="7798918" y="3255264"/>
            <a:ext cx="56693" cy="56693"/>
          </a:xfrm>
          <a:prstGeom prst="ellipse">
            <a:avLst/>
          </a:prstGeom>
          <a:solidFill>
            <a:srgbClr val="E09A5F"/>
          </a:solidFill>
          <a:ln w="12700">
            <a:solidFill>
              <a:srgbClr val="E09A5F"/>
            </a:solidFill>
            <a:prstDash val="solid"/>
          </a:ln>
        </p:spPr>
      </p:sp>
      <p:sp>
        <p:nvSpPr>
          <p:cNvPr id="100" name="Shape 98"/>
          <p:cNvSpPr/>
          <p:nvPr/>
        </p:nvSpPr>
        <p:spPr>
          <a:xfrm>
            <a:off x="7913218" y="3255264"/>
            <a:ext cx="56693" cy="56693"/>
          </a:xfrm>
          <a:prstGeom prst="ellipse">
            <a:avLst/>
          </a:prstGeom>
          <a:solidFill>
            <a:srgbClr val="E09A5F"/>
          </a:solidFill>
          <a:ln w="12700">
            <a:solidFill>
              <a:srgbClr val="E09A5F"/>
            </a:solidFill>
            <a:prstDash val="solid"/>
          </a:ln>
        </p:spPr>
      </p:sp>
      <p:sp>
        <p:nvSpPr>
          <p:cNvPr id="101" name="Shape 99"/>
          <p:cNvSpPr/>
          <p:nvPr/>
        </p:nvSpPr>
        <p:spPr>
          <a:xfrm>
            <a:off x="8027518" y="3255264"/>
            <a:ext cx="56693" cy="56693"/>
          </a:xfrm>
          <a:prstGeom prst="ellipse">
            <a:avLst/>
          </a:prstGeom>
          <a:solidFill>
            <a:srgbClr val="E09A5F"/>
          </a:solidFill>
          <a:ln w="12700">
            <a:solidFill>
              <a:srgbClr val="E09A5F"/>
            </a:solidFill>
            <a:prstDash val="solid"/>
          </a:ln>
        </p:spPr>
      </p:sp>
      <p:sp>
        <p:nvSpPr>
          <p:cNvPr id="102" name="Shape 100"/>
          <p:cNvSpPr/>
          <p:nvPr/>
        </p:nvSpPr>
        <p:spPr>
          <a:xfrm>
            <a:off x="6552590" y="2743200"/>
            <a:ext cx="947776" cy="493776"/>
          </a:xfrm>
          <a:prstGeom prst="roundRect">
            <a:avLst>
              <a:gd name="adj" fmla="val 22222"/>
            </a:avLst>
          </a:prstGeom>
          <a:solidFill>
            <a:srgbClr val="3F5A6B"/>
          </a:solidFill>
          <a:ln w="9525">
            <a:solidFill>
              <a:srgbClr val="FFFFFF"/>
            </a:solidFill>
            <a:prstDash val="solid"/>
          </a:ln>
        </p:spPr>
      </p:sp>
      <p:sp>
        <p:nvSpPr>
          <p:cNvPr id="103" name="Text 101"/>
          <p:cNvSpPr/>
          <p:nvPr/>
        </p:nvSpPr>
        <p:spPr>
          <a:xfrm>
            <a:off x="6552590" y="2743200"/>
            <a:ext cx="947776" cy="49377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A</a:t>
            </a:r>
            <a:endParaRPr lang="en-US" sz="800" dirty="0"/>
          </a:p>
        </p:txBody>
      </p:sp>
      <p:sp>
        <p:nvSpPr>
          <p:cNvPr id="104" name="Shape 102"/>
          <p:cNvSpPr/>
          <p:nvPr/>
        </p:nvSpPr>
        <p:spPr>
          <a:xfrm>
            <a:off x="7811262" y="2743200"/>
            <a:ext cx="947776" cy="493776"/>
          </a:xfrm>
          <a:prstGeom prst="roundRect">
            <a:avLst>
              <a:gd name="adj" fmla="val 22222"/>
            </a:avLst>
          </a:prstGeom>
          <a:solidFill>
            <a:srgbClr val="56707E"/>
          </a:solidFill>
          <a:ln w="9525">
            <a:solidFill>
              <a:srgbClr val="FFFFFF"/>
            </a:solidFill>
            <a:prstDash val="solid"/>
          </a:ln>
        </p:spPr>
      </p:sp>
      <p:sp>
        <p:nvSpPr>
          <p:cNvPr id="105" name="Text 103"/>
          <p:cNvSpPr/>
          <p:nvPr/>
        </p:nvSpPr>
        <p:spPr>
          <a:xfrm>
            <a:off x="7811262" y="2743200"/>
            <a:ext cx="947776" cy="49377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Die B</a:t>
            </a:r>
            <a:endParaRPr lang="en-US" sz="800" dirty="0"/>
          </a:p>
        </p:txBody>
      </p:sp>
      <p:sp>
        <p:nvSpPr>
          <p:cNvPr id="106" name="Text 104"/>
          <p:cNvSpPr/>
          <p:nvPr/>
        </p:nvSpPr>
        <p:spPr>
          <a:xfrm>
            <a:off x="6552590" y="3602736"/>
            <a:ext cx="2206447" cy="219456"/>
          </a:xfrm>
          <a:prstGeom prst="rect">
            <a:avLst/>
          </a:prstGeom>
          <a:noFill/>
          <a:ln/>
        </p:spPr>
        <p:txBody>
          <a:bodyPr wrap="square" lIns="0" tIns="0" rIns="0" bIns="0" rtlCol="0" anchor="ctr"/>
          <a:lstStyle/>
          <a:p>
            <a:pPr algn="ctr" indent="0" marL="0">
              <a:buNone/>
            </a:pPr>
            <a:r>
              <a:rPr lang="en-US" sz="900" dirty="0">
                <a:solidFill>
                  <a:srgbClr val="B25A22"/>
                </a:solidFill>
                <a:latin typeface="Calibri" pitchFamily="34" charset="0"/>
                <a:ea typeface="Calibri" pitchFamily="34" charset="-122"/>
                <a:cs typeface="Calibri" pitchFamily="34" charset="-120"/>
              </a:rPr>
              <a:t>매립 실리콘 브리지</a:t>
            </a:r>
            <a:endParaRPr lang="en-US" sz="900" dirty="0"/>
          </a:p>
        </p:txBody>
      </p:sp>
      <p:sp>
        <p:nvSpPr>
          <p:cNvPr id="107" name="Text 105"/>
          <p:cNvSpPr/>
          <p:nvPr/>
        </p:nvSpPr>
        <p:spPr>
          <a:xfrm>
            <a:off x="6552590" y="3913632"/>
            <a:ext cx="2206447" cy="256032"/>
          </a:xfrm>
          <a:prstGeom prst="rect">
            <a:avLst/>
          </a:prstGeom>
          <a:noFill/>
          <a:ln/>
        </p:spPr>
        <p:txBody>
          <a:bodyPr wrap="square" lIns="0" tIns="0" rIns="0" bIns="0" rtlCol="0" anchor="ctr"/>
          <a:lstStyle/>
          <a:p>
            <a:pPr indent="0" marL="0">
              <a:buNone/>
            </a:pPr>
            <a:r>
              <a:rPr lang="en-US" sz="1100" b="1" dirty="0">
                <a:solidFill>
                  <a:srgbClr val="B25A22"/>
                </a:solidFill>
                <a:latin typeface="Arial" pitchFamily="34" charset="0"/>
                <a:ea typeface="Arial" pitchFamily="34" charset="-122"/>
                <a:cs typeface="Arial" pitchFamily="34" charset="-120"/>
              </a:rPr>
              <a:t>범프 피치  ~45 µm</a:t>
            </a:r>
            <a:endParaRPr lang="en-US" sz="1100" dirty="0"/>
          </a:p>
        </p:txBody>
      </p:sp>
      <p:sp>
        <p:nvSpPr>
          <p:cNvPr id="108" name="Text 106"/>
          <p:cNvSpPr/>
          <p:nvPr/>
        </p:nvSpPr>
        <p:spPr>
          <a:xfrm>
            <a:off x="6552590" y="4224528"/>
            <a:ext cx="2206447" cy="1051560"/>
          </a:xfrm>
          <a:prstGeom prst="rect">
            <a:avLst/>
          </a:prstGeom>
          <a:noFill/>
          <a:ln/>
        </p:spPr>
        <p:txBody>
          <a:bodyPr wrap="square" lIns="0" tIns="0" rIns="0" bIns="0" rtlCol="0" anchor="ctr"/>
          <a:lstStyle/>
          <a:p>
            <a:pPr indent="0" marL="0">
              <a:lnSpc>
                <a:spcPct val="110000"/>
              </a:lnSpc>
              <a:buNone/>
            </a:pPr>
            <a:r>
              <a:rPr lang="en-US" sz="1050" dirty="0">
                <a:solidFill>
                  <a:srgbClr val="6B7381"/>
                </a:solidFill>
                <a:latin typeface="Calibri" pitchFamily="34" charset="0"/>
                <a:ea typeface="Calibri" pitchFamily="34" charset="-122"/>
                <a:cs typeface="Calibri" pitchFamily="34" charset="-120"/>
              </a:rPr>
              <a:t>필요한 다이 사이에만 작은 실리콘 브리지를 기판에 매립. 인터포저 면적 비용을 피한다.</a:t>
            </a:r>
            <a:endParaRPr lang="en-US" sz="1050" dirty="0"/>
          </a:p>
        </p:txBody>
      </p:sp>
      <p:sp>
        <p:nvSpPr>
          <p:cNvPr id="109" name="Text 107"/>
          <p:cNvSpPr/>
          <p:nvPr/>
        </p:nvSpPr>
        <p:spPr>
          <a:xfrm>
            <a:off x="6552590" y="5148072"/>
            <a:ext cx="2206447" cy="365760"/>
          </a:xfrm>
          <a:prstGeom prst="rect">
            <a:avLst/>
          </a:prstGeom>
          <a:noFill/>
          <a:ln/>
        </p:spPr>
        <p:txBody>
          <a:bodyPr wrap="square" lIns="0" tIns="0" rIns="0" bIns="0" rtlCol="0" anchor="ctr"/>
          <a:lstStyle/>
          <a:p>
            <a:pPr indent="0" marL="0">
              <a:buNone/>
            </a:pPr>
            <a:r>
              <a:rPr lang="en-US" sz="1000" i="1" dirty="0">
                <a:solidFill>
                  <a:srgbClr val="232834"/>
                </a:solidFill>
                <a:latin typeface="Calibri" pitchFamily="34" charset="0"/>
                <a:ea typeface="Calibri" pitchFamily="34" charset="-122"/>
                <a:cs typeface="Calibri" pitchFamily="34" charset="-120"/>
              </a:rPr>
              <a:t>예:  Intel Sapphire Rapids</a:t>
            </a:r>
            <a:endParaRPr lang="en-US" sz="1000" dirty="0"/>
          </a:p>
        </p:txBody>
      </p:sp>
      <p:sp>
        <p:nvSpPr>
          <p:cNvPr id="110" name="Shape 108"/>
          <p:cNvSpPr/>
          <p:nvPr/>
        </p:nvSpPr>
        <p:spPr>
          <a:xfrm>
            <a:off x="9179662" y="1627632"/>
            <a:ext cx="2645359" cy="4069080"/>
          </a:xfrm>
          <a:prstGeom prst="roundRect">
            <a:avLst>
              <a:gd name="adj" fmla="val 2074"/>
            </a:avLst>
          </a:prstGeom>
          <a:solidFill>
            <a:srgbClr val="F1F2F5"/>
          </a:solidFill>
          <a:ln w="9525">
            <a:solidFill>
              <a:srgbClr val="D5D9E0"/>
            </a:solidFill>
            <a:prstDash val="solid"/>
          </a:ln>
        </p:spPr>
      </p:sp>
      <p:sp>
        <p:nvSpPr>
          <p:cNvPr id="111" name="Text 109"/>
          <p:cNvSpPr/>
          <p:nvPr/>
        </p:nvSpPr>
        <p:spPr>
          <a:xfrm>
            <a:off x="9399118" y="1810512"/>
            <a:ext cx="2206447" cy="274320"/>
          </a:xfrm>
          <a:prstGeom prst="rect">
            <a:avLst/>
          </a:prstGeom>
          <a:noFill/>
          <a:ln/>
        </p:spPr>
        <p:txBody>
          <a:bodyPr wrap="square" lIns="0" tIns="0" rIns="0" bIns="0" rtlCol="0" anchor="ctr"/>
          <a:lstStyle/>
          <a:p>
            <a:pPr indent="0" marL="0">
              <a:buNone/>
            </a:pPr>
            <a:r>
              <a:rPr lang="en-US" sz="1350" b="1" dirty="0">
                <a:solidFill>
                  <a:srgbClr val="232834"/>
                </a:solidFill>
                <a:latin typeface="Arial" pitchFamily="34" charset="0"/>
                <a:ea typeface="Arial" pitchFamily="34" charset="-122"/>
                <a:cs typeface="Arial" pitchFamily="34" charset="-120"/>
              </a:rPr>
              <a:t>3D 하이브리드 본딩</a:t>
            </a:r>
            <a:endParaRPr lang="en-US" sz="1350" dirty="0"/>
          </a:p>
        </p:txBody>
      </p:sp>
      <p:sp>
        <p:nvSpPr>
          <p:cNvPr id="112" name="Text 110"/>
          <p:cNvSpPr/>
          <p:nvPr/>
        </p:nvSpPr>
        <p:spPr>
          <a:xfrm>
            <a:off x="9399118" y="2093976"/>
            <a:ext cx="2206447"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Hybrid Bonding</a:t>
            </a:r>
            <a:endParaRPr lang="en-US" sz="1000" dirty="0"/>
          </a:p>
        </p:txBody>
      </p:sp>
      <p:sp>
        <p:nvSpPr>
          <p:cNvPr id="113" name="Shape 111"/>
          <p:cNvSpPr/>
          <p:nvPr/>
        </p:nvSpPr>
        <p:spPr>
          <a:xfrm>
            <a:off x="9399118" y="3364992"/>
            <a:ext cx="2206447" cy="201168"/>
          </a:xfrm>
          <a:prstGeom prst="rect">
            <a:avLst/>
          </a:prstGeom>
          <a:solidFill>
            <a:srgbClr val="2C4351"/>
          </a:solidFill>
          <a:ln w="6350">
            <a:solidFill>
              <a:srgbClr val="7C97A6"/>
            </a:solidFill>
            <a:prstDash val="solid"/>
          </a:ln>
        </p:spPr>
      </p:sp>
      <p:sp>
        <p:nvSpPr>
          <p:cNvPr id="114" name="Shape 112"/>
          <p:cNvSpPr/>
          <p:nvPr/>
        </p:nvSpPr>
        <p:spPr>
          <a:xfrm>
            <a:off x="9686754" y="3246120"/>
            <a:ext cx="100584" cy="100584"/>
          </a:xfrm>
          <a:prstGeom prst="ellipse">
            <a:avLst/>
          </a:prstGeom>
          <a:solidFill>
            <a:srgbClr val="9AA6B2"/>
          </a:solidFill>
          <a:ln w="12700">
            <a:solidFill>
              <a:srgbClr val="9AA6B2"/>
            </a:solidFill>
            <a:prstDash val="solid"/>
          </a:ln>
        </p:spPr>
      </p:sp>
      <p:sp>
        <p:nvSpPr>
          <p:cNvPr id="115" name="Shape 113"/>
          <p:cNvSpPr/>
          <p:nvPr/>
        </p:nvSpPr>
        <p:spPr>
          <a:xfrm>
            <a:off x="9905409" y="3246120"/>
            <a:ext cx="100584" cy="100584"/>
          </a:xfrm>
          <a:prstGeom prst="ellipse">
            <a:avLst/>
          </a:prstGeom>
          <a:solidFill>
            <a:srgbClr val="9AA6B2"/>
          </a:solidFill>
          <a:ln w="12700">
            <a:solidFill>
              <a:srgbClr val="9AA6B2"/>
            </a:solidFill>
            <a:prstDash val="solid"/>
          </a:ln>
        </p:spPr>
      </p:sp>
      <p:sp>
        <p:nvSpPr>
          <p:cNvPr id="116" name="Shape 114"/>
          <p:cNvSpPr/>
          <p:nvPr/>
        </p:nvSpPr>
        <p:spPr>
          <a:xfrm>
            <a:off x="10124065" y="3246120"/>
            <a:ext cx="100584" cy="100584"/>
          </a:xfrm>
          <a:prstGeom prst="ellipse">
            <a:avLst/>
          </a:prstGeom>
          <a:solidFill>
            <a:srgbClr val="9AA6B2"/>
          </a:solidFill>
          <a:ln w="12700">
            <a:solidFill>
              <a:srgbClr val="9AA6B2"/>
            </a:solidFill>
            <a:prstDash val="solid"/>
          </a:ln>
        </p:spPr>
      </p:sp>
      <p:sp>
        <p:nvSpPr>
          <p:cNvPr id="117" name="Shape 115"/>
          <p:cNvSpPr/>
          <p:nvPr/>
        </p:nvSpPr>
        <p:spPr>
          <a:xfrm>
            <a:off x="10342721" y="3246120"/>
            <a:ext cx="100584" cy="100584"/>
          </a:xfrm>
          <a:prstGeom prst="ellipse">
            <a:avLst/>
          </a:prstGeom>
          <a:solidFill>
            <a:srgbClr val="9AA6B2"/>
          </a:solidFill>
          <a:ln w="12700">
            <a:solidFill>
              <a:srgbClr val="9AA6B2"/>
            </a:solidFill>
            <a:prstDash val="solid"/>
          </a:ln>
        </p:spPr>
      </p:sp>
      <p:sp>
        <p:nvSpPr>
          <p:cNvPr id="118" name="Shape 116"/>
          <p:cNvSpPr/>
          <p:nvPr/>
        </p:nvSpPr>
        <p:spPr>
          <a:xfrm>
            <a:off x="10561377" y="3246120"/>
            <a:ext cx="100584" cy="100584"/>
          </a:xfrm>
          <a:prstGeom prst="ellipse">
            <a:avLst/>
          </a:prstGeom>
          <a:solidFill>
            <a:srgbClr val="9AA6B2"/>
          </a:solidFill>
          <a:ln w="12700">
            <a:solidFill>
              <a:srgbClr val="9AA6B2"/>
            </a:solidFill>
            <a:prstDash val="solid"/>
          </a:ln>
        </p:spPr>
      </p:sp>
      <p:sp>
        <p:nvSpPr>
          <p:cNvPr id="119" name="Shape 117"/>
          <p:cNvSpPr/>
          <p:nvPr/>
        </p:nvSpPr>
        <p:spPr>
          <a:xfrm>
            <a:off x="10780033" y="3246120"/>
            <a:ext cx="100584" cy="100584"/>
          </a:xfrm>
          <a:prstGeom prst="ellipse">
            <a:avLst/>
          </a:prstGeom>
          <a:solidFill>
            <a:srgbClr val="9AA6B2"/>
          </a:solidFill>
          <a:ln w="12700">
            <a:solidFill>
              <a:srgbClr val="9AA6B2"/>
            </a:solidFill>
            <a:prstDash val="solid"/>
          </a:ln>
        </p:spPr>
      </p:sp>
      <p:sp>
        <p:nvSpPr>
          <p:cNvPr id="120" name="Shape 118"/>
          <p:cNvSpPr/>
          <p:nvPr/>
        </p:nvSpPr>
        <p:spPr>
          <a:xfrm>
            <a:off x="10998689" y="3246120"/>
            <a:ext cx="100584" cy="100584"/>
          </a:xfrm>
          <a:prstGeom prst="ellipse">
            <a:avLst/>
          </a:prstGeom>
          <a:solidFill>
            <a:srgbClr val="9AA6B2"/>
          </a:solidFill>
          <a:ln w="12700">
            <a:solidFill>
              <a:srgbClr val="9AA6B2"/>
            </a:solidFill>
            <a:prstDash val="solid"/>
          </a:ln>
        </p:spPr>
      </p:sp>
      <p:sp>
        <p:nvSpPr>
          <p:cNvPr id="121" name="Shape 119"/>
          <p:cNvSpPr/>
          <p:nvPr/>
        </p:nvSpPr>
        <p:spPr>
          <a:xfrm>
            <a:off x="11217345" y="3246120"/>
            <a:ext cx="100584" cy="100584"/>
          </a:xfrm>
          <a:prstGeom prst="ellipse">
            <a:avLst/>
          </a:prstGeom>
          <a:solidFill>
            <a:srgbClr val="9AA6B2"/>
          </a:solidFill>
          <a:ln w="12700">
            <a:solidFill>
              <a:srgbClr val="9AA6B2"/>
            </a:solidFill>
            <a:prstDash val="solid"/>
          </a:ln>
        </p:spPr>
      </p:sp>
      <p:sp>
        <p:nvSpPr>
          <p:cNvPr id="122" name="Shape 120"/>
          <p:cNvSpPr/>
          <p:nvPr/>
        </p:nvSpPr>
        <p:spPr>
          <a:xfrm>
            <a:off x="9627718" y="2834640"/>
            <a:ext cx="1749247" cy="402336"/>
          </a:xfrm>
          <a:prstGeom prst="roundRect">
            <a:avLst>
              <a:gd name="adj" fmla="val 27273"/>
            </a:avLst>
          </a:prstGeom>
          <a:solidFill>
            <a:srgbClr val="3F5A6B"/>
          </a:solidFill>
          <a:ln w="9525">
            <a:solidFill>
              <a:srgbClr val="FFFFFF"/>
            </a:solidFill>
            <a:prstDash val="solid"/>
          </a:ln>
        </p:spPr>
      </p:sp>
      <p:sp>
        <p:nvSpPr>
          <p:cNvPr id="123" name="Shape 121"/>
          <p:cNvSpPr/>
          <p:nvPr/>
        </p:nvSpPr>
        <p:spPr>
          <a:xfrm>
            <a:off x="9836315" y="2862072"/>
            <a:ext cx="20117" cy="347472"/>
          </a:xfrm>
          <a:prstGeom prst="rect">
            <a:avLst/>
          </a:prstGeom>
          <a:solidFill>
            <a:srgbClr val="6E8A99"/>
          </a:solidFill>
          <a:ln w="12700">
            <a:solidFill>
              <a:srgbClr val="6E8A99"/>
            </a:solidFill>
            <a:prstDash val="solid"/>
          </a:ln>
        </p:spPr>
      </p:sp>
      <p:sp>
        <p:nvSpPr>
          <p:cNvPr id="124" name="Shape 122"/>
          <p:cNvSpPr/>
          <p:nvPr/>
        </p:nvSpPr>
        <p:spPr>
          <a:xfrm>
            <a:off x="10054971" y="2862072"/>
            <a:ext cx="20117" cy="347472"/>
          </a:xfrm>
          <a:prstGeom prst="rect">
            <a:avLst/>
          </a:prstGeom>
          <a:solidFill>
            <a:srgbClr val="6E8A99"/>
          </a:solidFill>
          <a:ln w="12700">
            <a:solidFill>
              <a:srgbClr val="6E8A99"/>
            </a:solidFill>
            <a:prstDash val="solid"/>
          </a:ln>
        </p:spPr>
      </p:sp>
      <p:sp>
        <p:nvSpPr>
          <p:cNvPr id="125" name="Shape 123"/>
          <p:cNvSpPr/>
          <p:nvPr/>
        </p:nvSpPr>
        <p:spPr>
          <a:xfrm>
            <a:off x="10273627" y="2862072"/>
            <a:ext cx="20117" cy="347472"/>
          </a:xfrm>
          <a:prstGeom prst="rect">
            <a:avLst/>
          </a:prstGeom>
          <a:solidFill>
            <a:srgbClr val="6E8A99"/>
          </a:solidFill>
          <a:ln w="12700">
            <a:solidFill>
              <a:srgbClr val="6E8A99"/>
            </a:solidFill>
            <a:prstDash val="solid"/>
          </a:ln>
        </p:spPr>
      </p:sp>
      <p:sp>
        <p:nvSpPr>
          <p:cNvPr id="126" name="Shape 124"/>
          <p:cNvSpPr/>
          <p:nvPr/>
        </p:nvSpPr>
        <p:spPr>
          <a:xfrm>
            <a:off x="10492283" y="2862072"/>
            <a:ext cx="20117" cy="347472"/>
          </a:xfrm>
          <a:prstGeom prst="rect">
            <a:avLst/>
          </a:prstGeom>
          <a:solidFill>
            <a:srgbClr val="6E8A99"/>
          </a:solidFill>
          <a:ln w="12700">
            <a:solidFill>
              <a:srgbClr val="6E8A99"/>
            </a:solidFill>
            <a:prstDash val="solid"/>
          </a:ln>
        </p:spPr>
      </p:sp>
      <p:sp>
        <p:nvSpPr>
          <p:cNvPr id="127" name="Shape 125"/>
          <p:cNvSpPr/>
          <p:nvPr/>
        </p:nvSpPr>
        <p:spPr>
          <a:xfrm>
            <a:off x="10710939" y="2862072"/>
            <a:ext cx="20117" cy="347472"/>
          </a:xfrm>
          <a:prstGeom prst="rect">
            <a:avLst/>
          </a:prstGeom>
          <a:solidFill>
            <a:srgbClr val="6E8A99"/>
          </a:solidFill>
          <a:ln w="12700">
            <a:solidFill>
              <a:srgbClr val="6E8A99"/>
            </a:solidFill>
            <a:prstDash val="solid"/>
          </a:ln>
        </p:spPr>
      </p:sp>
      <p:sp>
        <p:nvSpPr>
          <p:cNvPr id="128" name="Shape 126"/>
          <p:cNvSpPr/>
          <p:nvPr/>
        </p:nvSpPr>
        <p:spPr>
          <a:xfrm>
            <a:off x="10929595" y="2862072"/>
            <a:ext cx="20117" cy="347472"/>
          </a:xfrm>
          <a:prstGeom prst="rect">
            <a:avLst/>
          </a:prstGeom>
          <a:solidFill>
            <a:srgbClr val="6E8A99"/>
          </a:solidFill>
          <a:ln w="12700">
            <a:solidFill>
              <a:srgbClr val="6E8A99"/>
            </a:solidFill>
            <a:prstDash val="solid"/>
          </a:ln>
        </p:spPr>
      </p:sp>
      <p:sp>
        <p:nvSpPr>
          <p:cNvPr id="129" name="Shape 127"/>
          <p:cNvSpPr/>
          <p:nvPr/>
        </p:nvSpPr>
        <p:spPr>
          <a:xfrm>
            <a:off x="11148251" y="2862072"/>
            <a:ext cx="20117" cy="347472"/>
          </a:xfrm>
          <a:prstGeom prst="rect">
            <a:avLst/>
          </a:prstGeom>
          <a:solidFill>
            <a:srgbClr val="6E8A99"/>
          </a:solidFill>
          <a:ln w="12700">
            <a:solidFill>
              <a:srgbClr val="6E8A99"/>
            </a:solidFill>
            <a:prstDash val="solid"/>
          </a:ln>
        </p:spPr>
      </p:sp>
      <p:sp>
        <p:nvSpPr>
          <p:cNvPr id="130" name="Text 128"/>
          <p:cNvSpPr/>
          <p:nvPr/>
        </p:nvSpPr>
        <p:spPr>
          <a:xfrm>
            <a:off x="9627718" y="2834640"/>
            <a:ext cx="1749247"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Base Die</a:t>
            </a:r>
            <a:endParaRPr lang="en-US" sz="800" dirty="0"/>
          </a:p>
        </p:txBody>
      </p:sp>
      <p:sp>
        <p:nvSpPr>
          <p:cNvPr id="131" name="Shape 129"/>
          <p:cNvSpPr/>
          <p:nvPr/>
        </p:nvSpPr>
        <p:spPr>
          <a:xfrm>
            <a:off x="9719158" y="2798064"/>
            <a:ext cx="1566367" cy="41148"/>
          </a:xfrm>
          <a:prstGeom prst="rect">
            <a:avLst/>
          </a:prstGeom>
          <a:solidFill>
            <a:srgbClr val="B25A22"/>
          </a:solidFill>
          <a:ln w="12700">
            <a:solidFill>
              <a:srgbClr val="333333"/>
            </a:solidFill>
            <a:prstDash val="solid"/>
          </a:ln>
        </p:spPr>
      </p:sp>
      <p:sp>
        <p:nvSpPr>
          <p:cNvPr id="132" name="Shape 130"/>
          <p:cNvSpPr/>
          <p:nvPr/>
        </p:nvSpPr>
        <p:spPr>
          <a:xfrm>
            <a:off x="9719158" y="2377440"/>
            <a:ext cx="1566367" cy="420624"/>
          </a:xfrm>
          <a:prstGeom prst="roundRect">
            <a:avLst>
              <a:gd name="adj" fmla="val 26087"/>
            </a:avLst>
          </a:prstGeom>
          <a:solidFill>
            <a:srgbClr val="56707E"/>
          </a:solidFill>
          <a:ln w="9525">
            <a:solidFill>
              <a:srgbClr val="FFFFFF"/>
            </a:solidFill>
            <a:prstDash val="solid"/>
          </a:ln>
        </p:spPr>
      </p:sp>
      <p:sp>
        <p:nvSpPr>
          <p:cNvPr id="133" name="Text 131"/>
          <p:cNvSpPr/>
          <p:nvPr/>
        </p:nvSpPr>
        <p:spPr>
          <a:xfrm>
            <a:off x="9719158" y="2377440"/>
            <a:ext cx="1566367"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Top Die</a:t>
            </a:r>
            <a:endParaRPr lang="en-US" sz="800" dirty="0"/>
          </a:p>
        </p:txBody>
      </p:sp>
      <p:sp>
        <p:nvSpPr>
          <p:cNvPr id="134" name="Text 132"/>
          <p:cNvSpPr/>
          <p:nvPr/>
        </p:nvSpPr>
        <p:spPr>
          <a:xfrm>
            <a:off x="9399118" y="3602736"/>
            <a:ext cx="2206447" cy="219456"/>
          </a:xfrm>
          <a:prstGeom prst="rect">
            <a:avLst/>
          </a:prstGeom>
          <a:noFill/>
          <a:ln/>
        </p:spPr>
        <p:txBody>
          <a:bodyPr wrap="square" lIns="0" tIns="0" rIns="0" bIns="0" rtlCol="0" anchor="ctr"/>
          <a:lstStyle/>
          <a:p>
            <a:pPr algn="ctr" indent="0" marL="0">
              <a:buNone/>
            </a:pPr>
            <a:r>
              <a:rPr lang="en-US" sz="900" dirty="0">
                <a:solidFill>
                  <a:srgbClr val="B25A22"/>
                </a:solidFill>
                <a:latin typeface="Calibri" pitchFamily="34" charset="0"/>
                <a:ea typeface="Calibri" pitchFamily="34" charset="-122"/>
                <a:cs typeface="Calibri" pitchFamily="34" charset="-120"/>
              </a:rPr>
              <a:t>Cu–Cu 직접 접합면</a:t>
            </a:r>
            <a:endParaRPr lang="en-US" sz="900" dirty="0"/>
          </a:p>
        </p:txBody>
      </p:sp>
      <p:sp>
        <p:nvSpPr>
          <p:cNvPr id="135" name="Text 133"/>
          <p:cNvSpPr/>
          <p:nvPr/>
        </p:nvSpPr>
        <p:spPr>
          <a:xfrm>
            <a:off x="9399118" y="3913632"/>
            <a:ext cx="2206447" cy="256032"/>
          </a:xfrm>
          <a:prstGeom prst="rect">
            <a:avLst/>
          </a:prstGeom>
          <a:noFill/>
          <a:ln/>
        </p:spPr>
        <p:txBody>
          <a:bodyPr wrap="square" lIns="0" tIns="0" rIns="0" bIns="0" rtlCol="0" anchor="ctr"/>
          <a:lstStyle/>
          <a:p>
            <a:pPr indent="0" marL="0">
              <a:buNone/>
            </a:pPr>
            <a:r>
              <a:rPr lang="en-US" sz="1100" b="1" dirty="0">
                <a:solidFill>
                  <a:srgbClr val="B25A22"/>
                </a:solidFill>
                <a:latin typeface="Arial" pitchFamily="34" charset="0"/>
                <a:ea typeface="Arial" pitchFamily="34" charset="-122"/>
                <a:cs typeface="Arial" pitchFamily="34" charset="-120"/>
              </a:rPr>
              <a:t>본드 피치  &lt; 10 µm</a:t>
            </a:r>
            <a:endParaRPr lang="en-US" sz="1100" dirty="0"/>
          </a:p>
        </p:txBody>
      </p:sp>
      <p:sp>
        <p:nvSpPr>
          <p:cNvPr id="136" name="Text 134"/>
          <p:cNvSpPr/>
          <p:nvPr/>
        </p:nvSpPr>
        <p:spPr>
          <a:xfrm>
            <a:off x="9399118" y="4224528"/>
            <a:ext cx="2206447" cy="1051560"/>
          </a:xfrm>
          <a:prstGeom prst="rect">
            <a:avLst/>
          </a:prstGeom>
          <a:noFill/>
          <a:ln/>
        </p:spPr>
        <p:txBody>
          <a:bodyPr wrap="square" lIns="0" tIns="0" rIns="0" bIns="0" rtlCol="0" anchor="ctr"/>
          <a:lstStyle/>
          <a:p>
            <a:pPr indent="0" marL="0">
              <a:lnSpc>
                <a:spcPct val="110000"/>
              </a:lnSpc>
              <a:buNone/>
            </a:pPr>
            <a:r>
              <a:rPr lang="en-US" sz="1050" dirty="0">
                <a:solidFill>
                  <a:srgbClr val="6B7381"/>
                </a:solidFill>
                <a:latin typeface="Calibri" pitchFamily="34" charset="0"/>
                <a:ea typeface="Calibri" pitchFamily="34" charset="-122"/>
                <a:cs typeface="Calibri" pitchFamily="34" charset="-120"/>
              </a:rPr>
              <a:t>범프 없이 Cu–Cu를 직접 접합. 배선 밀도가 자릿수로 뛰지만 열 · 평탄도 관리가 어렵다.</a:t>
            </a:r>
            <a:endParaRPr lang="en-US" sz="1050" dirty="0"/>
          </a:p>
        </p:txBody>
      </p:sp>
      <p:sp>
        <p:nvSpPr>
          <p:cNvPr id="137" name="Text 135"/>
          <p:cNvSpPr/>
          <p:nvPr/>
        </p:nvSpPr>
        <p:spPr>
          <a:xfrm>
            <a:off x="9399118" y="5148072"/>
            <a:ext cx="2206447" cy="365760"/>
          </a:xfrm>
          <a:prstGeom prst="rect">
            <a:avLst/>
          </a:prstGeom>
          <a:noFill/>
          <a:ln/>
        </p:spPr>
        <p:txBody>
          <a:bodyPr wrap="square" lIns="0" tIns="0" rIns="0" bIns="0" rtlCol="0" anchor="ctr"/>
          <a:lstStyle/>
          <a:p>
            <a:pPr indent="0" marL="0">
              <a:buNone/>
            </a:pPr>
            <a:r>
              <a:rPr lang="en-US" sz="1000" i="1" dirty="0">
                <a:solidFill>
                  <a:srgbClr val="232834"/>
                </a:solidFill>
                <a:latin typeface="Calibri" pitchFamily="34" charset="0"/>
                <a:ea typeface="Calibri" pitchFamily="34" charset="-122"/>
                <a:cs typeface="Calibri" pitchFamily="34" charset="-120"/>
              </a:rPr>
              <a:t>예:  AMD 3D V-Cache, Foveros Direct</a:t>
            </a:r>
            <a:endParaRPr lang="en-US" sz="1000" dirty="0"/>
          </a:p>
        </p:txBody>
      </p:sp>
      <p:sp>
        <p:nvSpPr>
          <p:cNvPr id="138" name="Text 136"/>
          <p:cNvSpPr/>
          <p:nvPr/>
        </p:nvSpPr>
        <p:spPr>
          <a:xfrm>
            <a:off x="640080" y="5870448"/>
            <a:ext cx="10241280" cy="292608"/>
          </a:xfrm>
          <a:prstGeom prst="rect">
            <a:avLst/>
          </a:prstGeom>
          <a:noFill/>
          <a:ln/>
        </p:spPr>
        <p:txBody>
          <a:bodyPr wrap="square" lIns="0" tIns="0" rIns="0" bIns="0" rtlCol="0" anchor="ctr"/>
          <a:lstStyle/>
          <a:p>
            <a:pPr indent="0" marL="0">
              <a:buNone/>
            </a:pPr>
            <a:r>
              <a:rPr lang="en-US" sz="1100" i="1" dirty="0">
                <a:solidFill>
                  <a:srgbClr val="6B7381"/>
                </a:solidFill>
                <a:latin typeface="Calibri" pitchFamily="34" charset="0"/>
                <a:ea typeface="Calibri" pitchFamily="34" charset="-122"/>
                <a:cs typeface="Calibri" pitchFamily="34" charset="-120"/>
              </a:rPr>
              <a:t>피치가 좁아질수록 mm당 배선 수가 늘어 대역폭 밀도가 오르고 pJ/bit는 내려간다 — 오른쪽으로 갈수록 공정 난이도와 원가도 함께 오른다.</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07</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DIE-TO-DIE INTERFACE</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다이 간 인터페이스 표준</a:t>
            </a:r>
            <a:endParaRPr lang="en-US" sz="2900" dirty="0"/>
          </a:p>
        </p:txBody>
      </p:sp>
      <p:sp>
        <p:nvSpPr>
          <p:cNvPr id="5" name="Text 3"/>
          <p:cNvSpPr/>
          <p:nvPr/>
        </p:nvSpPr>
        <p:spPr>
          <a:xfrm>
            <a:off x="640080" y="1207008"/>
            <a:ext cx="10881360" cy="274320"/>
          </a:xfrm>
          <a:prstGeom prst="rect">
            <a:avLst/>
          </a:prstGeom>
          <a:noFill/>
          <a:ln/>
        </p:spPr>
        <p:txBody>
          <a:bodyPr wrap="square" lIns="0" tIns="0" rIns="0" bIns="0" rtlCol="0" anchor="ctr"/>
          <a:lstStyle/>
          <a:p>
            <a:pPr indent="0" marL="0">
              <a:buNone/>
            </a:pPr>
            <a:r>
              <a:rPr lang="en-US" sz="1250" dirty="0">
                <a:solidFill>
                  <a:srgbClr val="6B7381"/>
                </a:solidFill>
                <a:latin typeface="Calibri" pitchFamily="34" charset="0"/>
                <a:ea typeface="Calibri" pitchFamily="34" charset="-122"/>
                <a:cs typeface="Calibri" pitchFamily="34" charset="-120"/>
              </a:rPr>
              <a:t>UCIe (Universal Chiplet Interconnect Express) — PCIe · CXL 프로토콜을 다이 경계로 옮긴 개방 표준.</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27632"/>
          <a:ext cx="7635240" cy="914400"/>
        </p:xfrm>
        <a:graphic>
          <a:graphicData uri="http://schemas.openxmlformats.org/drawingml/2006/table">
            <a:tbl>
              <a:tblPr/>
              <a:tblGrid>
                <a:gridCol w="1783080"/>
                <a:gridCol w="1965960"/>
                <a:gridCol w="2148840"/>
                <a:gridCol w="1737360"/>
              </a:tblGrid>
              <a:tr h="47548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구분</a:t>
                      </a:r>
                      <a:endParaRPr lang="en-US" sz="1100" dirty="0">
                        <a:latin typeface="Arial" charset="0"/>
                        <a:ea typeface="Arial" charset="0"/>
                        <a:cs typeface="Arial"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2C3540"/>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Standard Package</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2D · 유기 기판</a:t>
                      </a:r>
                      <a:endParaRPr lang="en-US" sz="1100" dirty="0">
                        <a:latin typeface="Arial" charset="0"/>
                        <a:ea typeface="Arial" charset="0"/>
                        <a:cs typeface="Arial"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2C3540"/>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Advanced Package</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2.5D · 브리지</a:t>
                      </a:r>
                      <a:endParaRPr lang="en-US" sz="1100" dirty="0">
                        <a:latin typeface="Arial" charset="0"/>
                        <a:ea typeface="Arial" charset="0"/>
                        <a:cs typeface="Arial"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2C3540"/>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UCIe-3D</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하이브리드 본딩</a:t>
                      </a:r>
                      <a:endParaRPr lang="en-US" sz="1100" dirty="0">
                        <a:latin typeface="Arial" charset="0"/>
                        <a:ea typeface="Arial" charset="0"/>
                        <a:cs typeface="Arial"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2C3540"/>
                    </a:solidFill>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범프 / 본드 피치</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100 – 130 µm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25 – 55 µm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b="1" dirty="0">
                          <a:solidFill>
                            <a:srgbClr val="B25A22"/>
                          </a:solidFill>
                          <a:latin typeface="Calibri" pitchFamily="34" charset="0"/>
                          <a:ea typeface="Calibri" pitchFamily="34" charset="-122"/>
                          <a:cs typeface="Calibri" pitchFamily="34" charset="-120"/>
                        </a:rPr>
                        <a:t>&lt; 10 µm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대역폭 밀도</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28 – 224 GB/s/mm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b="1" dirty="0">
                          <a:solidFill>
                            <a:srgbClr val="B25A22"/>
                          </a:solidFill>
                          <a:latin typeface="Calibri" pitchFamily="34" charset="0"/>
                          <a:ea typeface="Calibri" pitchFamily="34" charset="-122"/>
                          <a:cs typeface="Calibri" pitchFamily="34" charset="-120"/>
                        </a:rPr>
                        <a:t>165 – 1,317 GB/s/mm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&gt; 300 GB/s/mm²</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에너지 효율</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 0.5 pJ/bit</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 0.25 pJ/bit</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b="1" dirty="0">
                          <a:solidFill>
                            <a:srgbClr val="B25A22"/>
                          </a:solidFill>
                          <a:latin typeface="Calibri" pitchFamily="34" charset="0"/>
                          <a:ea typeface="Calibri" pitchFamily="34" charset="-122"/>
                          <a:cs typeface="Calibri" pitchFamily="34" charset="-120"/>
                        </a:rPr>
                        <a:t>~ 0.05 pJ/bit</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지연 (D2D)</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&lt; 2 ns</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&lt; 2 ns</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&lt; 1 ns</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도달 거리</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 25 mm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 2 mm</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수직 적층</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algn="l" indent="0" marL="0">
                        <a:buNone/>
                      </a:pPr>
                      <a:r>
                        <a:rPr lang="en-US" sz="1150" b="1" dirty="0">
                          <a:solidFill>
                            <a:srgbClr val="232834"/>
                          </a:solidFill>
                          <a:latin typeface="Calibri" pitchFamily="34" charset="0"/>
                          <a:ea typeface="Calibri" pitchFamily="34" charset="-122"/>
                          <a:cs typeface="Calibri" pitchFamily="34" charset="-120"/>
                        </a:rPr>
                        <a:t>데이터율 / 레인</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1F2F5"/>
                    </a:solidFill>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4 – 32 GT/s</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4 – 32 GT/s</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150" dirty="0">
                          <a:solidFill>
                            <a:srgbClr val="232834"/>
                          </a:solidFill>
                          <a:latin typeface="Calibri" pitchFamily="34" charset="0"/>
                          <a:ea typeface="Calibri" pitchFamily="34" charset="-122"/>
                          <a:cs typeface="Calibri" pitchFamily="34" charset="-120"/>
                        </a:rPr>
                        <a:t>— (병렬)</a:t>
                      </a:r>
                      <a:endParaRPr lang="en-US" sz="1150" dirty="0">
                        <a:latin typeface="Calibri" charset="0"/>
                        <a:ea typeface="Calibri" charset="0"/>
                        <a:cs typeface="Calibri" charset="0"/>
                      </a:endParaRPr>
                    </a:p>
                  </a:txBody>
                  <a:tcPr marL="91440" marR="91440" marT="45720" marB="4572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Text 4"/>
          <p:cNvSpPr/>
          <p:nvPr/>
        </p:nvSpPr>
        <p:spPr>
          <a:xfrm>
            <a:off x="640080" y="4663440"/>
            <a:ext cx="7635240" cy="256032"/>
          </a:xfrm>
          <a:prstGeom prst="rect">
            <a:avLst/>
          </a:prstGeom>
          <a:noFill/>
          <a:ln/>
        </p:spPr>
        <p:txBody>
          <a:bodyPr wrap="square" lIns="0" tIns="0" rIns="0" bIns="0" rtlCol="0" anchor="ctr"/>
          <a:lstStyle/>
          <a:p>
            <a:pPr indent="0" marL="0">
              <a:buNone/>
            </a:pPr>
            <a:r>
              <a:rPr lang="en-US" sz="950" i="1" dirty="0">
                <a:solidFill>
                  <a:srgbClr val="6B7381"/>
                </a:solidFill>
                <a:latin typeface="Calibri" pitchFamily="34" charset="0"/>
                <a:ea typeface="Calibri" pitchFamily="34" charset="-122"/>
                <a:cs typeface="Calibri" pitchFamily="34" charset="-120"/>
              </a:rPr>
              <a:t>출처: UCIe 1.1 / 2.0 스펙 정의값. 실제 구현치는 모듈 구성과 공정에 따라 달라진다.</a:t>
            </a:r>
            <a:endParaRPr lang="en-US" sz="950" dirty="0"/>
          </a:p>
        </p:txBody>
      </p:sp>
      <p:sp>
        <p:nvSpPr>
          <p:cNvPr id="8" name="Shape 5"/>
          <p:cNvSpPr/>
          <p:nvPr/>
        </p:nvSpPr>
        <p:spPr>
          <a:xfrm>
            <a:off x="8595360" y="1627632"/>
            <a:ext cx="3108960" cy="1874520"/>
          </a:xfrm>
          <a:prstGeom prst="roundRect">
            <a:avLst>
              <a:gd name="adj" fmla="val 2927"/>
            </a:avLst>
          </a:prstGeom>
          <a:solidFill>
            <a:srgbClr val="F1F2F5"/>
          </a:solidFill>
          <a:ln w="9525">
            <a:solidFill>
              <a:srgbClr val="D5D9E0"/>
            </a:solidFill>
            <a:prstDash val="solid"/>
          </a:ln>
        </p:spPr>
      </p:sp>
      <p:sp>
        <p:nvSpPr>
          <p:cNvPr id="9" name="Text 6"/>
          <p:cNvSpPr/>
          <p:nvPr/>
        </p:nvSpPr>
        <p:spPr>
          <a:xfrm>
            <a:off x="8833104" y="1773936"/>
            <a:ext cx="2633472" cy="256032"/>
          </a:xfrm>
          <a:prstGeom prst="rect">
            <a:avLst/>
          </a:prstGeom>
          <a:noFill/>
          <a:ln/>
        </p:spPr>
        <p:txBody>
          <a:bodyPr wrap="square" lIns="0" tIns="0" rIns="0" bIns="0" rtlCol="0" anchor="ctr"/>
          <a:lstStyle/>
          <a:p>
            <a:pPr indent="0" marL="0">
              <a:buNone/>
            </a:pPr>
            <a:r>
              <a:rPr lang="en-US" sz="1250" b="1" dirty="0">
                <a:solidFill>
                  <a:srgbClr val="232834"/>
                </a:solidFill>
                <a:latin typeface="Arial" pitchFamily="34" charset="0"/>
                <a:ea typeface="Arial" pitchFamily="34" charset="-122"/>
                <a:cs typeface="Arial" pitchFamily="34" charset="-120"/>
              </a:rPr>
              <a:t>UCIe 계층 구조</a:t>
            </a:r>
            <a:endParaRPr lang="en-US" sz="1250" dirty="0"/>
          </a:p>
        </p:txBody>
      </p:sp>
      <p:sp>
        <p:nvSpPr>
          <p:cNvPr id="10" name="Shape 7"/>
          <p:cNvSpPr/>
          <p:nvPr/>
        </p:nvSpPr>
        <p:spPr>
          <a:xfrm>
            <a:off x="8833104" y="2139696"/>
            <a:ext cx="2633472" cy="402336"/>
          </a:xfrm>
          <a:prstGeom prst="roundRect">
            <a:avLst>
              <a:gd name="adj" fmla="val 27273"/>
            </a:avLst>
          </a:prstGeom>
          <a:solidFill>
            <a:srgbClr val="B25A22"/>
          </a:solidFill>
          <a:ln w="12700">
            <a:solidFill>
              <a:srgbClr val="333333"/>
            </a:solidFill>
            <a:prstDash val="solid"/>
          </a:ln>
        </p:spPr>
      </p:sp>
      <p:sp>
        <p:nvSpPr>
          <p:cNvPr id="11" name="Text 8"/>
          <p:cNvSpPr/>
          <p:nvPr/>
        </p:nvSpPr>
        <p:spPr>
          <a:xfrm>
            <a:off x="8961120" y="2157984"/>
            <a:ext cx="2377440" cy="18288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Protocol</a:t>
            </a:r>
            <a:endParaRPr lang="en-US" sz="950" dirty="0"/>
          </a:p>
        </p:txBody>
      </p:sp>
      <p:sp>
        <p:nvSpPr>
          <p:cNvPr id="12" name="Text 9"/>
          <p:cNvSpPr/>
          <p:nvPr/>
        </p:nvSpPr>
        <p:spPr>
          <a:xfrm>
            <a:off x="8961120" y="2331720"/>
            <a:ext cx="2377440" cy="182880"/>
          </a:xfrm>
          <a:prstGeom prst="rect">
            <a:avLst/>
          </a:prstGeom>
          <a:noFill/>
          <a:ln/>
        </p:spPr>
        <p:txBody>
          <a:bodyPr wrap="square" lIns="0" tIns="0" rIns="0" bIns="0" rtlCol="0" anchor="ctr"/>
          <a:lstStyle/>
          <a:p>
            <a:pPr indent="0" marL="0">
              <a:buNone/>
            </a:pPr>
            <a:r>
              <a:rPr lang="en-US" sz="850" dirty="0">
                <a:solidFill>
                  <a:srgbClr val="E8EDF0"/>
                </a:solidFill>
                <a:latin typeface="Calibri" pitchFamily="34" charset="0"/>
                <a:ea typeface="Calibri" pitchFamily="34" charset="-122"/>
                <a:cs typeface="Calibri" pitchFamily="34" charset="-120"/>
              </a:rPr>
              <a:t>PCIe · CXL · Streaming</a:t>
            </a:r>
            <a:endParaRPr lang="en-US" sz="850" dirty="0"/>
          </a:p>
        </p:txBody>
      </p:sp>
      <p:sp>
        <p:nvSpPr>
          <p:cNvPr id="13" name="Shape 10"/>
          <p:cNvSpPr/>
          <p:nvPr/>
        </p:nvSpPr>
        <p:spPr>
          <a:xfrm>
            <a:off x="8833104" y="2596896"/>
            <a:ext cx="2633472" cy="402336"/>
          </a:xfrm>
          <a:prstGeom prst="roundRect">
            <a:avLst>
              <a:gd name="adj" fmla="val 27273"/>
            </a:avLst>
          </a:prstGeom>
          <a:solidFill>
            <a:srgbClr val="3F5A6B"/>
          </a:solidFill>
          <a:ln w="12700">
            <a:solidFill>
              <a:srgbClr val="333333"/>
            </a:solidFill>
            <a:prstDash val="solid"/>
          </a:ln>
        </p:spPr>
      </p:sp>
      <p:sp>
        <p:nvSpPr>
          <p:cNvPr id="14" name="Text 11"/>
          <p:cNvSpPr/>
          <p:nvPr/>
        </p:nvSpPr>
        <p:spPr>
          <a:xfrm>
            <a:off x="8961120" y="2615184"/>
            <a:ext cx="2377440" cy="18288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Die-to-Die Adapter</a:t>
            </a:r>
            <a:endParaRPr lang="en-US" sz="950" dirty="0"/>
          </a:p>
        </p:txBody>
      </p:sp>
      <p:sp>
        <p:nvSpPr>
          <p:cNvPr id="15" name="Text 12"/>
          <p:cNvSpPr/>
          <p:nvPr/>
        </p:nvSpPr>
        <p:spPr>
          <a:xfrm>
            <a:off x="8961120" y="2788920"/>
            <a:ext cx="2377440" cy="182880"/>
          </a:xfrm>
          <a:prstGeom prst="rect">
            <a:avLst/>
          </a:prstGeom>
          <a:noFill/>
          <a:ln/>
        </p:spPr>
        <p:txBody>
          <a:bodyPr wrap="square" lIns="0" tIns="0" rIns="0" bIns="0" rtlCol="0" anchor="ctr"/>
          <a:lstStyle/>
          <a:p>
            <a:pPr indent="0" marL="0">
              <a:buNone/>
            </a:pPr>
            <a:r>
              <a:rPr lang="en-US" sz="850" dirty="0">
                <a:solidFill>
                  <a:srgbClr val="E8EDF0"/>
                </a:solidFill>
                <a:latin typeface="Calibri" pitchFamily="34" charset="0"/>
                <a:ea typeface="Calibri" pitchFamily="34" charset="-122"/>
                <a:cs typeface="Calibri" pitchFamily="34" charset="-120"/>
              </a:rPr>
              <a:t>CRC · 재전송 · 링크 관리</a:t>
            </a:r>
            <a:endParaRPr lang="en-US" sz="850" dirty="0"/>
          </a:p>
        </p:txBody>
      </p:sp>
      <p:sp>
        <p:nvSpPr>
          <p:cNvPr id="16" name="Shape 13"/>
          <p:cNvSpPr/>
          <p:nvPr/>
        </p:nvSpPr>
        <p:spPr>
          <a:xfrm>
            <a:off x="8833104" y="3054096"/>
            <a:ext cx="2633472" cy="402336"/>
          </a:xfrm>
          <a:prstGeom prst="roundRect">
            <a:avLst>
              <a:gd name="adj" fmla="val 27273"/>
            </a:avLst>
          </a:prstGeom>
          <a:solidFill>
            <a:srgbClr val="56707E"/>
          </a:solidFill>
          <a:ln w="12700">
            <a:solidFill>
              <a:srgbClr val="333333"/>
            </a:solidFill>
            <a:prstDash val="solid"/>
          </a:ln>
        </p:spPr>
      </p:sp>
      <p:sp>
        <p:nvSpPr>
          <p:cNvPr id="17" name="Text 14"/>
          <p:cNvSpPr/>
          <p:nvPr/>
        </p:nvSpPr>
        <p:spPr>
          <a:xfrm>
            <a:off x="8961120" y="3072384"/>
            <a:ext cx="2377440" cy="18288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Physical Layer</a:t>
            </a:r>
            <a:endParaRPr lang="en-US" sz="950" dirty="0"/>
          </a:p>
        </p:txBody>
      </p:sp>
      <p:sp>
        <p:nvSpPr>
          <p:cNvPr id="18" name="Text 15"/>
          <p:cNvSpPr/>
          <p:nvPr/>
        </p:nvSpPr>
        <p:spPr>
          <a:xfrm>
            <a:off x="8961120" y="3246120"/>
            <a:ext cx="2377440" cy="182880"/>
          </a:xfrm>
          <a:prstGeom prst="rect">
            <a:avLst/>
          </a:prstGeom>
          <a:noFill/>
          <a:ln/>
        </p:spPr>
        <p:txBody>
          <a:bodyPr wrap="square" lIns="0" tIns="0" rIns="0" bIns="0" rtlCol="0" anchor="ctr"/>
          <a:lstStyle/>
          <a:p>
            <a:pPr indent="0" marL="0">
              <a:buNone/>
            </a:pPr>
            <a:r>
              <a:rPr lang="en-US" sz="850" dirty="0">
                <a:solidFill>
                  <a:srgbClr val="E8EDF0"/>
                </a:solidFill>
                <a:latin typeface="Calibri" pitchFamily="34" charset="0"/>
                <a:ea typeface="Calibri" pitchFamily="34" charset="-122"/>
                <a:cs typeface="Calibri" pitchFamily="34" charset="-120"/>
              </a:rPr>
              <a:t>전기 · 범프 맵 · 트레이닝</a:t>
            </a:r>
            <a:endParaRPr lang="en-US" sz="850" dirty="0"/>
          </a:p>
        </p:txBody>
      </p:sp>
      <p:sp>
        <p:nvSpPr>
          <p:cNvPr id="19" name="Shape 16"/>
          <p:cNvSpPr/>
          <p:nvPr/>
        </p:nvSpPr>
        <p:spPr>
          <a:xfrm>
            <a:off x="8595360" y="3611880"/>
            <a:ext cx="3108960" cy="2377440"/>
          </a:xfrm>
          <a:prstGeom prst="roundRect">
            <a:avLst>
              <a:gd name="adj" fmla="val 2308"/>
            </a:avLst>
          </a:prstGeom>
          <a:solidFill>
            <a:srgbClr val="F1F2F5"/>
          </a:solidFill>
          <a:ln w="9525">
            <a:solidFill>
              <a:srgbClr val="D5D9E0"/>
            </a:solidFill>
            <a:prstDash val="solid"/>
          </a:ln>
        </p:spPr>
      </p:sp>
      <p:sp>
        <p:nvSpPr>
          <p:cNvPr id="20" name="Text 17"/>
          <p:cNvSpPr/>
          <p:nvPr/>
        </p:nvSpPr>
        <p:spPr>
          <a:xfrm>
            <a:off x="8833104" y="3758184"/>
            <a:ext cx="2633472" cy="256032"/>
          </a:xfrm>
          <a:prstGeom prst="rect">
            <a:avLst/>
          </a:prstGeom>
          <a:noFill/>
          <a:ln/>
        </p:spPr>
        <p:txBody>
          <a:bodyPr wrap="square" lIns="0" tIns="0" rIns="0" bIns="0" rtlCol="0" anchor="ctr"/>
          <a:lstStyle/>
          <a:p>
            <a:pPr indent="0" marL="0">
              <a:buNone/>
            </a:pPr>
            <a:r>
              <a:rPr lang="en-US" sz="1250" b="1" dirty="0">
                <a:solidFill>
                  <a:srgbClr val="232834"/>
                </a:solidFill>
                <a:latin typeface="Arial" pitchFamily="34" charset="0"/>
                <a:ea typeface="Arial" pitchFamily="34" charset="-122"/>
                <a:cs typeface="Arial" pitchFamily="34" charset="-120"/>
              </a:rPr>
              <a:t>그 외 D2D 표준</a:t>
            </a:r>
            <a:endParaRPr lang="en-US" sz="1250" dirty="0"/>
          </a:p>
        </p:txBody>
      </p:sp>
      <p:sp>
        <p:nvSpPr>
          <p:cNvPr id="21" name="Shape 18"/>
          <p:cNvSpPr/>
          <p:nvPr/>
        </p:nvSpPr>
        <p:spPr>
          <a:xfrm>
            <a:off x="8833104" y="4133088"/>
            <a:ext cx="91440" cy="91440"/>
          </a:xfrm>
          <a:prstGeom prst="roundRect">
            <a:avLst>
              <a:gd name="adj" fmla="val 200000"/>
            </a:avLst>
          </a:prstGeom>
          <a:solidFill>
            <a:srgbClr val="B25A22"/>
          </a:solidFill>
          <a:ln w="12700">
            <a:solidFill>
              <a:srgbClr val="B25A22"/>
            </a:solidFill>
            <a:prstDash val="solid"/>
          </a:ln>
        </p:spPr>
      </p:sp>
      <p:sp>
        <p:nvSpPr>
          <p:cNvPr id="22" name="Text 19"/>
          <p:cNvSpPr/>
          <p:nvPr/>
        </p:nvSpPr>
        <p:spPr>
          <a:xfrm>
            <a:off x="8997696" y="4069080"/>
            <a:ext cx="2468880" cy="201168"/>
          </a:xfrm>
          <a:prstGeom prst="rect">
            <a:avLst/>
          </a:prstGeom>
          <a:noFill/>
          <a:ln/>
        </p:spPr>
        <p:txBody>
          <a:bodyPr wrap="square" lIns="0" tIns="0" rIns="0" bIns="0" rtlCol="0" anchor="ctr"/>
          <a:lstStyle/>
          <a:p>
            <a:pPr indent="0" marL="0">
              <a:buNone/>
            </a:pPr>
            <a:r>
              <a:rPr lang="en-US" sz="1050" b="1" dirty="0">
                <a:solidFill>
                  <a:srgbClr val="232834"/>
                </a:solidFill>
                <a:latin typeface="Arial" pitchFamily="34" charset="0"/>
                <a:ea typeface="Arial" pitchFamily="34" charset="-122"/>
                <a:cs typeface="Arial" pitchFamily="34" charset="-120"/>
              </a:rPr>
              <a:t>BoW (OCP)</a:t>
            </a:r>
            <a:endParaRPr lang="en-US" sz="1050" dirty="0"/>
          </a:p>
        </p:txBody>
      </p:sp>
      <p:sp>
        <p:nvSpPr>
          <p:cNvPr id="23" name="Text 20"/>
          <p:cNvSpPr/>
          <p:nvPr/>
        </p:nvSpPr>
        <p:spPr>
          <a:xfrm>
            <a:off x="8997696" y="4251960"/>
            <a:ext cx="2468880" cy="292608"/>
          </a:xfrm>
          <a:prstGeom prst="rect">
            <a:avLst/>
          </a:prstGeom>
          <a:noFill/>
          <a:ln/>
        </p:spPr>
        <p:txBody>
          <a:bodyPr wrap="square" lIns="0" tIns="0" rIns="0" bIns="0" rtlCol="0" anchor="ctr"/>
          <a:lstStyle/>
          <a:p>
            <a:pPr indent="0" marL="0">
              <a:buNone/>
            </a:pPr>
            <a:r>
              <a:rPr lang="en-US" sz="900" dirty="0">
                <a:solidFill>
                  <a:srgbClr val="6B7381"/>
                </a:solidFill>
                <a:latin typeface="Calibri" pitchFamily="34" charset="0"/>
                <a:ea typeface="Calibri" pitchFamily="34" charset="-122"/>
                <a:cs typeface="Calibri" pitchFamily="34" charset="-120"/>
              </a:rPr>
              <a:t>단순 unterminated 병렬. 유기 · 어드밴스드 패키지 모두 지원.</a:t>
            </a:r>
            <a:endParaRPr lang="en-US" sz="900" dirty="0"/>
          </a:p>
        </p:txBody>
      </p:sp>
      <p:sp>
        <p:nvSpPr>
          <p:cNvPr id="24" name="Shape 21"/>
          <p:cNvSpPr/>
          <p:nvPr/>
        </p:nvSpPr>
        <p:spPr>
          <a:xfrm>
            <a:off x="8833104" y="4599432"/>
            <a:ext cx="91440" cy="91440"/>
          </a:xfrm>
          <a:prstGeom prst="roundRect">
            <a:avLst>
              <a:gd name="adj" fmla="val 200000"/>
            </a:avLst>
          </a:prstGeom>
          <a:solidFill>
            <a:srgbClr val="B25A22"/>
          </a:solidFill>
          <a:ln w="12700">
            <a:solidFill>
              <a:srgbClr val="B25A22"/>
            </a:solidFill>
            <a:prstDash val="solid"/>
          </a:ln>
        </p:spPr>
      </p:sp>
      <p:sp>
        <p:nvSpPr>
          <p:cNvPr id="25" name="Text 22"/>
          <p:cNvSpPr/>
          <p:nvPr/>
        </p:nvSpPr>
        <p:spPr>
          <a:xfrm>
            <a:off x="8997696" y="4535424"/>
            <a:ext cx="2468880" cy="201168"/>
          </a:xfrm>
          <a:prstGeom prst="rect">
            <a:avLst/>
          </a:prstGeom>
          <a:noFill/>
          <a:ln/>
        </p:spPr>
        <p:txBody>
          <a:bodyPr wrap="square" lIns="0" tIns="0" rIns="0" bIns="0" rtlCol="0" anchor="ctr"/>
          <a:lstStyle/>
          <a:p>
            <a:pPr indent="0" marL="0">
              <a:buNone/>
            </a:pPr>
            <a:r>
              <a:rPr lang="en-US" sz="1050" b="1" dirty="0">
                <a:solidFill>
                  <a:srgbClr val="232834"/>
                </a:solidFill>
                <a:latin typeface="Arial" pitchFamily="34" charset="0"/>
                <a:ea typeface="Arial" pitchFamily="34" charset="-122"/>
                <a:cs typeface="Arial" pitchFamily="34" charset="-120"/>
              </a:rPr>
              <a:t>OpenHBI</a:t>
            </a:r>
            <a:endParaRPr lang="en-US" sz="1050" dirty="0"/>
          </a:p>
        </p:txBody>
      </p:sp>
      <p:sp>
        <p:nvSpPr>
          <p:cNvPr id="26" name="Text 23"/>
          <p:cNvSpPr/>
          <p:nvPr/>
        </p:nvSpPr>
        <p:spPr>
          <a:xfrm>
            <a:off x="8997696" y="4718304"/>
            <a:ext cx="2468880" cy="292608"/>
          </a:xfrm>
          <a:prstGeom prst="rect">
            <a:avLst/>
          </a:prstGeom>
          <a:noFill/>
          <a:ln/>
        </p:spPr>
        <p:txBody>
          <a:bodyPr wrap="square" lIns="0" tIns="0" rIns="0" bIns="0" rtlCol="0" anchor="ctr"/>
          <a:lstStyle/>
          <a:p>
            <a:pPr indent="0" marL="0">
              <a:buNone/>
            </a:pPr>
            <a:r>
              <a:rPr lang="en-US" sz="900" dirty="0">
                <a:solidFill>
                  <a:srgbClr val="6B7381"/>
                </a:solidFill>
                <a:latin typeface="Calibri" pitchFamily="34" charset="0"/>
                <a:ea typeface="Calibri" pitchFamily="34" charset="-122"/>
                <a:cs typeface="Calibri" pitchFamily="34" charset="-120"/>
              </a:rPr>
              <a:t>HBM PHY 기반의 광폭 병렬 방식.</a:t>
            </a:r>
            <a:endParaRPr lang="en-US" sz="900" dirty="0"/>
          </a:p>
        </p:txBody>
      </p:sp>
      <p:sp>
        <p:nvSpPr>
          <p:cNvPr id="27" name="Shape 24"/>
          <p:cNvSpPr/>
          <p:nvPr/>
        </p:nvSpPr>
        <p:spPr>
          <a:xfrm>
            <a:off x="8833104" y="5065776"/>
            <a:ext cx="91440" cy="91440"/>
          </a:xfrm>
          <a:prstGeom prst="roundRect">
            <a:avLst>
              <a:gd name="adj" fmla="val 200000"/>
            </a:avLst>
          </a:prstGeom>
          <a:solidFill>
            <a:srgbClr val="B25A22"/>
          </a:solidFill>
          <a:ln w="12700">
            <a:solidFill>
              <a:srgbClr val="B25A22"/>
            </a:solidFill>
            <a:prstDash val="solid"/>
          </a:ln>
        </p:spPr>
      </p:sp>
      <p:sp>
        <p:nvSpPr>
          <p:cNvPr id="28" name="Text 25"/>
          <p:cNvSpPr/>
          <p:nvPr/>
        </p:nvSpPr>
        <p:spPr>
          <a:xfrm>
            <a:off x="8997696" y="5001768"/>
            <a:ext cx="2468880" cy="201168"/>
          </a:xfrm>
          <a:prstGeom prst="rect">
            <a:avLst/>
          </a:prstGeom>
          <a:noFill/>
          <a:ln/>
        </p:spPr>
        <p:txBody>
          <a:bodyPr wrap="square" lIns="0" tIns="0" rIns="0" bIns="0" rtlCol="0" anchor="ctr"/>
          <a:lstStyle/>
          <a:p>
            <a:pPr indent="0" marL="0">
              <a:buNone/>
            </a:pPr>
            <a:r>
              <a:rPr lang="en-US" sz="1050" b="1" dirty="0">
                <a:solidFill>
                  <a:srgbClr val="232834"/>
                </a:solidFill>
                <a:latin typeface="Arial" pitchFamily="34" charset="0"/>
                <a:ea typeface="Arial" pitchFamily="34" charset="-122"/>
                <a:cs typeface="Arial" pitchFamily="34" charset="-120"/>
              </a:rPr>
              <a:t>AIB</a:t>
            </a:r>
            <a:endParaRPr lang="en-US" sz="1050" dirty="0"/>
          </a:p>
        </p:txBody>
      </p:sp>
      <p:sp>
        <p:nvSpPr>
          <p:cNvPr id="29" name="Text 26"/>
          <p:cNvSpPr/>
          <p:nvPr/>
        </p:nvSpPr>
        <p:spPr>
          <a:xfrm>
            <a:off x="8997696" y="5184648"/>
            <a:ext cx="2468880" cy="292608"/>
          </a:xfrm>
          <a:prstGeom prst="rect">
            <a:avLst/>
          </a:prstGeom>
          <a:noFill/>
          <a:ln/>
        </p:spPr>
        <p:txBody>
          <a:bodyPr wrap="square" lIns="0" tIns="0" rIns="0" bIns="0" rtlCol="0" anchor="ctr"/>
          <a:lstStyle/>
          <a:p>
            <a:pPr indent="0" marL="0">
              <a:buNone/>
            </a:pPr>
            <a:r>
              <a:rPr lang="en-US" sz="900" dirty="0">
                <a:solidFill>
                  <a:srgbClr val="6B7381"/>
                </a:solidFill>
                <a:latin typeface="Calibri" pitchFamily="34" charset="0"/>
                <a:ea typeface="Calibri" pitchFamily="34" charset="-122"/>
                <a:cs typeface="Calibri" pitchFamily="34" charset="-120"/>
              </a:rPr>
              <a:t>Intel 초기 병렬 표준. CHIPS Alliance로 이관.</a:t>
            </a:r>
            <a:endParaRPr lang="en-US" sz="900" dirty="0"/>
          </a:p>
        </p:txBody>
      </p:sp>
      <p:sp>
        <p:nvSpPr>
          <p:cNvPr id="30" name="Shape 27"/>
          <p:cNvSpPr/>
          <p:nvPr/>
        </p:nvSpPr>
        <p:spPr>
          <a:xfrm>
            <a:off x="8833104" y="5532120"/>
            <a:ext cx="91440" cy="91440"/>
          </a:xfrm>
          <a:prstGeom prst="roundRect">
            <a:avLst>
              <a:gd name="adj" fmla="val 200000"/>
            </a:avLst>
          </a:prstGeom>
          <a:solidFill>
            <a:srgbClr val="B25A22"/>
          </a:solidFill>
          <a:ln w="12700">
            <a:solidFill>
              <a:srgbClr val="B25A22"/>
            </a:solidFill>
            <a:prstDash val="solid"/>
          </a:ln>
        </p:spPr>
      </p:sp>
      <p:sp>
        <p:nvSpPr>
          <p:cNvPr id="31" name="Text 28"/>
          <p:cNvSpPr/>
          <p:nvPr/>
        </p:nvSpPr>
        <p:spPr>
          <a:xfrm>
            <a:off x="8997696" y="5468112"/>
            <a:ext cx="2468880" cy="201168"/>
          </a:xfrm>
          <a:prstGeom prst="rect">
            <a:avLst/>
          </a:prstGeom>
          <a:noFill/>
          <a:ln/>
        </p:spPr>
        <p:txBody>
          <a:bodyPr wrap="square" lIns="0" tIns="0" rIns="0" bIns="0" rtlCol="0" anchor="ctr"/>
          <a:lstStyle/>
          <a:p>
            <a:pPr indent="0" marL="0">
              <a:buNone/>
            </a:pPr>
            <a:r>
              <a:rPr lang="en-US" sz="1050" b="1" dirty="0">
                <a:solidFill>
                  <a:srgbClr val="232834"/>
                </a:solidFill>
                <a:latin typeface="Arial" pitchFamily="34" charset="0"/>
                <a:ea typeface="Arial" pitchFamily="34" charset="-122"/>
                <a:cs typeface="Arial" pitchFamily="34" charset="-120"/>
              </a:rPr>
              <a:t>XSR / USR SerDes</a:t>
            </a:r>
            <a:endParaRPr lang="en-US" sz="1050" dirty="0"/>
          </a:p>
        </p:txBody>
      </p:sp>
      <p:sp>
        <p:nvSpPr>
          <p:cNvPr id="32" name="Text 29"/>
          <p:cNvSpPr/>
          <p:nvPr/>
        </p:nvSpPr>
        <p:spPr>
          <a:xfrm>
            <a:off x="8997696" y="5650992"/>
            <a:ext cx="2468880" cy="292608"/>
          </a:xfrm>
          <a:prstGeom prst="rect">
            <a:avLst/>
          </a:prstGeom>
          <a:noFill/>
          <a:ln/>
        </p:spPr>
        <p:txBody>
          <a:bodyPr wrap="square" lIns="0" tIns="0" rIns="0" bIns="0" rtlCol="0" anchor="ctr"/>
          <a:lstStyle/>
          <a:p>
            <a:pPr indent="0" marL="0">
              <a:buNone/>
            </a:pPr>
            <a:r>
              <a:rPr lang="en-US" sz="900" dirty="0">
                <a:solidFill>
                  <a:srgbClr val="6B7381"/>
                </a:solidFill>
                <a:latin typeface="Calibri" pitchFamily="34" charset="0"/>
                <a:ea typeface="Calibri" pitchFamily="34" charset="-122"/>
                <a:cs typeface="Calibri" pitchFamily="34" charset="-120"/>
              </a:rPr>
              <a:t>OIF 직렬 방식. 배선은 적고 거리는 길지만 pJ/bit가 높다.</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08</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CASE STUDIES</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실제 제품 사례</a:t>
            </a:r>
            <a:endParaRPr lang="en-US" sz="2900" dirty="0"/>
          </a:p>
        </p:txBody>
      </p:sp>
      <p:sp>
        <p:nvSpPr>
          <p:cNvPr id="5" name="Shape 3"/>
          <p:cNvSpPr/>
          <p:nvPr/>
        </p:nvSpPr>
        <p:spPr>
          <a:xfrm>
            <a:off x="640080" y="1371600"/>
            <a:ext cx="5294376" cy="2121408"/>
          </a:xfrm>
          <a:prstGeom prst="roundRect">
            <a:avLst>
              <a:gd name="adj" fmla="val 2586"/>
            </a:avLst>
          </a:prstGeom>
          <a:solidFill>
            <a:srgbClr val="F1F2F5"/>
          </a:solidFill>
          <a:ln w="9525">
            <a:solidFill>
              <a:srgbClr val="D5D9E0"/>
            </a:solidFill>
            <a:prstDash val="solid"/>
          </a:ln>
        </p:spPr>
      </p:sp>
      <p:sp>
        <p:nvSpPr>
          <p:cNvPr id="6" name="Text 4"/>
          <p:cNvSpPr/>
          <p:nvPr/>
        </p:nvSpPr>
        <p:spPr>
          <a:xfrm>
            <a:off x="932688" y="1554480"/>
            <a:ext cx="1828800" cy="310896"/>
          </a:xfrm>
          <a:prstGeom prst="rect">
            <a:avLst/>
          </a:prstGeom>
          <a:noFill/>
          <a:ln/>
        </p:spPr>
        <p:txBody>
          <a:bodyPr wrap="square" lIns="0" tIns="0" rIns="0" bIns="0" rtlCol="0" anchor="ctr"/>
          <a:lstStyle/>
          <a:p>
            <a:pPr indent="0" marL="0">
              <a:buNone/>
            </a:pPr>
            <a:r>
              <a:rPr lang="en-US" sz="1600" b="1" dirty="0">
                <a:solidFill>
                  <a:srgbClr val="B25A22"/>
                </a:solidFill>
                <a:latin typeface="Arial" pitchFamily="34" charset="0"/>
                <a:ea typeface="Arial" pitchFamily="34" charset="-122"/>
                <a:cs typeface="Arial" pitchFamily="34" charset="-120"/>
              </a:rPr>
              <a:t>AMD</a:t>
            </a:r>
            <a:endParaRPr lang="en-US" sz="1600" dirty="0"/>
          </a:p>
        </p:txBody>
      </p:sp>
      <p:sp>
        <p:nvSpPr>
          <p:cNvPr id="7" name="Text 5"/>
          <p:cNvSpPr/>
          <p:nvPr/>
        </p:nvSpPr>
        <p:spPr>
          <a:xfrm>
            <a:off x="2651760" y="1609344"/>
            <a:ext cx="2990088" cy="274320"/>
          </a:xfrm>
          <a:prstGeom prst="rect">
            <a:avLst/>
          </a:prstGeom>
          <a:noFill/>
          <a:ln/>
        </p:spPr>
        <p:txBody>
          <a:bodyPr wrap="square" lIns="0" tIns="0" rIns="0" bIns="0" rtlCol="0" anchor="ctr"/>
          <a:lstStyle/>
          <a:p>
            <a:pPr algn="r" indent="0" marL="0">
              <a:buNone/>
            </a:pPr>
            <a:r>
              <a:rPr lang="en-US" sz="1050" dirty="0">
                <a:solidFill>
                  <a:srgbClr val="6B7381"/>
                </a:solidFill>
                <a:latin typeface="Calibri" pitchFamily="34" charset="0"/>
                <a:ea typeface="Calibri" pitchFamily="34" charset="-122"/>
                <a:cs typeface="Calibri" pitchFamily="34" charset="-120"/>
              </a:rPr>
              <a:t>EPYC (Zen 4) · Instinct MI300X</a:t>
            </a:r>
            <a:endParaRPr lang="en-US" sz="1050" dirty="0"/>
          </a:p>
        </p:txBody>
      </p:sp>
      <p:sp>
        <p:nvSpPr>
          <p:cNvPr id="8" name="Text 6"/>
          <p:cNvSpPr/>
          <p:nvPr/>
        </p:nvSpPr>
        <p:spPr>
          <a:xfrm>
            <a:off x="932688" y="1975104"/>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EPYC Genoa</a:t>
            </a:r>
            <a:endParaRPr lang="en-US" sz="1000" dirty="0"/>
          </a:p>
        </p:txBody>
      </p:sp>
      <p:sp>
        <p:nvSpPr>
          <p:cNvPr id="9" name="Text 7"/>
          <p:cNvSpPr/>
          <p:nvPr/>
        </p:nvSpPr>
        <p:spPr>
          <a:xfrm>
            <a:off x="2267712" y="1975104"/>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CCD 66 mm² (N5) 최대 12개 + IOD 122 mm² (N6), 유기 기판 2D · Infinity Fabric</a:t>
            </a:r>
            <a:endParaRPr lang="en-US" sz="1050" dirty="0"/>
          </a:p>
        </p:txBody>
      </p:sp>
      <p:sp>
        <p:nvSpPr>
          <p:cNvPr id="10" name="Text 8"/>
          <p:cNvSpPr/>
          <p:nvPr/>
        </p:nvSpPr>
        <p:spPr>
          <a:xfrm>
            <a:off x="932688" y="2459736"/>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MI300X</a:t>
            </a:r>
            <a:endParaRPr lang="en-US" sz="1000" dirty="0"/>
          </a:p>
        </p:txBody>
      </p:sp>
      <p:sp>
        <p:nvSpPr>
          <p:cNvPr id="11" name="Text 9"/>
          <p:cNvSpPr/>
          <p:nvPr/>
        </p:nvSpPr>
        <p:spPr>
          <a:xfrm>
            <a:off x="2267712" y="2459736"/>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XCD 8 (N5) + IOD 4 (N6) 하이브리드 본딩 + HBM3 8스택, 약 1,530억 TR</a:t>
            </a:r>
            <a:endParaRPr lang="en-US" sz="1050" dirty="0"/>
          </a:p>
        </p:txBody>
      </p:sp>
      <p:sp>
        <p:nvSpPr>
          <p:cNvPr id="12" name="Text 10"/>
          <p:cNvSpPr/>
          <p:nvPr/>
        </p:nvSpPr>
        <p:spPr>
          <a:xfrm>
            <a:off x="932688" y="2944368"/>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3D V-Cache</a:t>
            </a:r>
            <a:endParaRPr lang="en-US" sz="1000" dirty="0"/>
          </a:p>
        </p:txBody>
      </p:sp>
      <p:sp>
        <p:nvSpPr>
          <p:cNvPr id="13" name="Text 11"/>
          <p:cNvSpPr/>
          <p:nvPr/>
        </p:nvSpPr>
        <p:spPr>
          <a:xfrm>
            <a:off x="2267712" y="2944368"/>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SRAM 다이를 CCD 위에 Cu–Cu 직접 접합</a:t>
            </a:r>
            <a:endParaRPr lang="en-US" sz="1050" dirty="0"/>
          </a:p>
        </p:txBody>
      </p:sp>
      <p:sp>
        <p:nvSpPr>
          <p:cNvPr id="14" name="Shape 12"/>
          <p:cNvSpPr/>
          <p:nvPr/>
        </p:nvSpPr>
        <p:spPr>
          <a:xfrm>
            <a:off x="6254496" y="1371600"/>
            <a:ext cx="5294376" cy="2121408"/>
          </a:xfrm>
          <a:prstGeom prst="roundRect">
            <a:avLst>
              <a:gd name="adj" fmla="val 2586"/>
            </a:avLst>
          </a:prstGeom>
          <a:solidFill>
            <a:srgbClr val="F1F2F5"/>
          </a:solidFill>
          <a:ln w="9525">
            <a:solidFill>
              <a:srgbClr val="D5D9E0"/>
            </a:solidFill>
            <a:prstDash val="solid"/>
          </a:ln>
        </p:spPr>
      </p:sp>
      <p:sp>
        <p:nvSpPr>
          <p:cNvPr id="15" name="Text 13"/>
          <p:cNvSpPr/>
          <p:nvPr/>
        </p:nvSpPr>
        <p:spPr>
          <a:xfrm>
            <a:off x="6547104" y="1554480"/>
            <a:ext cx="1828800" cy="310896"/>
          </a:xfrm>
          <a:prstGeom prst="rect">
            <a:avLst/>
          </a:prstGeom>
          <a:noFill/>
          <a:ln/>
        </p:spPr>
        <p:txBody>
          <a:bodyPr wrap="square" lIns="0" tIns="0" rIns="0" bIns="0" rtlCol="0" anchor="ctr"/>
          <a:lstStyle/>
          <a:p>
            <a:pPr indent="0" marL="0">
              <a:buNone/>
            </a:pPr>
            <a:r>
              <a:rPr lang="en-US" sz="1600" b="1" dirty="0">
                <a:solidFill>
                  <a:srgbClr val="B25A22"/>
                </a:solidFill>
                <a:latin typeface="Arial" pitchFamily="34" charset="0"/>
                <a:ea typeface="Arial" pitchFamily="34" charset="-122"/>
                <a:cs typeface="Arial" pitchFamily="34" charset="-120"/>
              </a:rPr>
              <a:t>Intel</a:t>
            </a:r>
            <a:endParaRPr lang="en-US" sz="1600" dirty="0"/>
          </a:p>
        </p:txBody>
      </p:sp>
      <p:sp>
        <p:nvSpPr>
          <p:cNvPr id="16" name="Text 14"/>
          <p:cNvSpPr/>
          <p:nvPr/>
        </p:nvSpPr>
        <p:spPr>
          <a:xfrm>
            <a:off x="8266176" y="1609344"/>
            <a:ext cx="2990088" cy="274320"/>
          </a:xfrm>
          <a:prstGeom prst="rect">
            <a:avLst/>
          </a:prstGeom>
          <a:noFill/>
          <a:ln/>
        </p:spPr>
        <p:txBody>
          <a:bodyPr wrap="square" lIns="0" tIns="0" rIns="0" bIns="0" rtlCol="0" anchor="ctr"/>
          <a:lstStyle/>
          <a:p>
            <a:pPr algn="r" indent="0" marL="0">
              <a:buNone/>
            </a:pPr>
            <a:r>
              <a:rPr lang="en-US" sz="1050" dirty="0">
                <a:solidFill>
                  <a:srgbClr val="6B7381"/>
                </a:solidFill>
                <a:latin typeface="Calibri" pitchFamily="34" charset="0"/>
                <a:ea typeface="Calibri" pitchFamily="34" charset="-122"/>
                <a:cs typeface="Calibri" pitchFamily="34" charset="-120"/>
              </a:rPr>
              <a:t>Meteor Lake · Ponte Vecchio</a:t>
            </a:r>
            <a:endParaRPr lang="en-US" sz="1050" dirty="0"/>
          </a:p>
        </p:txBody>
      </p:sp>
      <p:sp>
        <p:nvSpPr>
          <p:cNvPr id="17" name="Text 15"/>
          <p:cNvSpPr/>
          <p:nvPr/>
        </p:nvSpPr>
        <p:spPr>
          <a:xfrm>
            <a:off x="6547104" y="1975104"/>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Meteor Lake</a:t>
            </a:r>
            <a:endParaRPr lang="en-US" sz="1000" dirty="0"/>
          </a:p>
        </p:txBody>
      </p:sp>
      <p:sp>
        <p:nvSpPr>
          <p:cNvPr id="18" name="Text 16"/>
          <p:cNvSpPr/>
          <p:nvPr/>
        </p:nvSpPr>
        <p:spPr>
          <a:xfrm>
            <a:off x="7882128" y="1975104"/>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4개 타일 — Compute(Intel 4) / Graphics(N5) / SoC(N6) / IO(N6), Foveros 36 µm</a:t>
            </a:r>
            <a:endParaRPr lang="en-US" sz="1050" dirty="0"/>
          </a:p>
        </p:txBody>
      </p:sp>
      <p:sp>
        <p:nvSpPr>
          <p:cNvPr id="19" name="Text 17"/>
          <p:cNvSpPr/>
          <p:nvPr/>
        </p:nvSpPr>
        <p:spPr>
          <a:xfrm>
            <a:off x="6547104" y="2459736"/>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Ponte Vecchio</a:t>
            </a:r>
            <a:endParaRPr lang="en-US" sz="1000" dirty="0"/>
          </a:p>
        </p:txBody>
      </p:sp>
      <p:sp>
        <p:nvSpPr>
          <p:cNvPr id="20" name="Text 18"/>
          <p:cNvSpPr/>
          <p:nvPr/>
        </p:nvSpPr>
        <p:spPr>
          <a:xfrm>
            <a:off x="7882128" y="2459736"/>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47개 타일 · 5개 공정 노드, EMIB + Foveros 혼용</a:t>
            </a:r>
            <a:endParaRPr lang="en-US" sz="1050" dirty="0"/>
          </a:p>
        </p:txBody>
      </p:sp>
      <p:sp>
        <p:nvSpPr>
          <p:cNvPr id="21" name="Text 19"/>
          <p:cNvSpPr/>
          <p:nvPr/>
        </p:nvSpPr>
        <p:spPr>
          <a:xfrm>
            <a:off x="6547104" y="2944368"/>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의미</a:t>
            </a:r>
            <a:endParaRPr lang="en-US" sz="1000" dirty="0"/>
          </a:p>
        </p:txBody>
      </p:sp>
      <p:sp>
        <p:nvSpPr>
          <p:cNvPr id="22" name="Text 20"/>
          <p:cNvSpPr/>
          <p:nvPr/>
        </p:nvSpPr>
        <p:spPr>
          <a:xfrm>
            <a:off x="7882128" y="2944368"/>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자사 · 파운드리 공정을 한 패키지에 혼합한 첫 대량 양산 사례</a:t>
            </a:r>
            <a:endParaRPr lang="en-US" sz="1050" dirty="0"/>
          </a:p>
        </p:txBody>
      </p:sp>
      <p:sp>
        <p:nvSpPr>
          <p:cNvPr id="23" name="Shape 21"/>
          <p:cNvSpPr/>
          <p:nvPr/>
        </p:nvSpPr>
        <p:spPr>
          <a:xfrm>
            <a:off x="640080" y="3749040"/>
            <a:ext cx="5294376" cy="2121408"/>
          </a:xfrm>
          <a:prstGeom prst="roundRect">
            <a:avLst>
              <a:gd name="adj" fmla="val 2586"/>
            </a:avLst>
          </a:prstGeom>
          <a:solidFill>
            <a:srgbClr val="F1F2F5"/>
          </a:solidFill>
          <a:ln w="9525">
            <a:solidFill>
              <a:srgbClr val="D5D9E0"/>
            </a:solidFill>
            <a:prstDash val="solid"/>
          </a:ln>
        </p:spPr>
      </p:sp>
      <p:sp>
        <p:nvSpPr>
          <p:cNvPr id="24" name="Text 22"/>
          <p:cNvSpPr/>
          <p:nvPr/>
        </p:nvSpPr>
        <p:spPr>
          <a:xfrm>
            <a:off x="932688" y="3931920"/>
            <a:ext cx="1828800" cy="310896"/>
          </a:xfrm>
          <a:prstGeom prst="rect">
            <a:avLst/>
          </a:prstGeom>
          <a:noFill/>
          <a:ln/>
        </p:spPr>
        <p:txBody>
          <a:bodyPr wrap="square" lIns="0" tIns="0" rIns="0" bIns="0" rtlCol="0" anchor="ctr"/>
          <a:lstStyle/>
          <a:p>
            <a:pPr indent="0" marL="0">
              <a:buNone/>
            </a:pPr>
            <a:r>
              <a:rPr lang="en-US" sz="1600" b="1" dirty="0">
                <a:solidFill>
                  <a:srgbClr val="B25A22"/>
                </a:solidFill>
                <a:latin typeface="Arial" pitchFamily="34" charset="0"/>
                <a:ea typeface="Arial" pitchFamily="34" charset="-122"/>
                <a:cs typeface="Arial" pitchFamily="34" charset="-120"/>
              </a:rPr>
              <a:t>NVIDIA</a:t>
            </a:r>
            <a:endParaRPr lang="en-US" sz="1600" dirty="0"/>
          </a:p>
        </p:txBody>
      </p:sp>
      <p:sp>
        <p:nvSpPr>
          <p:cNvPr id="25" name="Text 23"/>
          <p:cNvSpPr/>
          <p:nvPr/>
        </p:nvSpPr>
        <p:spPr>
          <a:xfrm>
            <a:off x="2651760" y="3986784"/>
            <a:ext cx="2990088" cy="274320"/>
          </a:xfrm>
          <a:prstGeom prst="rect">
            <a:avLst/>
          </a:prstGeom>
          <a:noFill/>
          <a:ln/>
        </p:spPr>
        <p:txBody>
          <a:bodyPr wrap="square" lIns="0" tIns="0" rIns="0" bIns="0" rtlCol="0" anchor="ctr"/>
          <a:lstStyle/>
          <a:p>
            <a:pPr algn="r" indent="0" marL="0">
              <a:buNone/>
            </a:pPr>
            <a:r>
              <a:rPr lang="en-US" sz="1050" dirty="0">
                <a:solidFill>
                  <a:srgbClr val="6B7381"/>
                </a:solidFill>
                <a:latin typeface="Calibri" pitchFamily="34" charset="0"/>
                <a:ea typeface="Calibri" pitchFamily="34" charset="-122"/>
                <a:cs typeface="Calibri" pitchFamily="34" charset="-120"/>
              </a:rPr>
              <a:t>Blackwell B200</a:t>
            </a:r>
            <a:endParaRPr lang="en-US" sz="1050" dirty="0"/>
          </a:p>
        </p:txBody>
      </p:sp>
      <p:sp>
        <p:nvSpPr>
          <p:cNvPr id="26" name="Text 24"/>
          <p:cNvSpPr/>
          <p:nvPr/>
        </p:nvSpPr>
        <p:spPr>
          <a:xfrm>
            <a:off x="932688" y="4352544"/>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구성</a:t>
            </a:r>
            <a:endParaRPr lang="en-US" sz="1000" dirty="0"/>
          </a:p>
        </p:txBody>
      </p:sp>
      <p:sp>
        <p:nvSpPr>
          <p:cNvPr id="27" name="Text 25"/>
          <p:cNvSpPr/>
          <p:nvPr/>
        </p:nvSpPr>
        <p:spPr>
          <a:xfrm>
            <a:off x="2267712" y="4352544"/>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레티클 한계급 다이 2개를 하나의 GPU로 결합, 약 2,080억 TR</a:t>
            </a:r>
            <a:endParaRPr lang="en-US" sz="1050" dirty="0"/>
          </a:p>
        </p:txBody>
      </p:sp>
      <p:sp>
        <p:nvSpPr>
          <p:cNvPr id="28" name="Text 26"/>
          <p:cNvSpPr/>
          <p:nvPr/>
        </p:nvSpPr>
        <p:spPr>
          <a:xfrm>
            <a:off x="932688" y="4837176"/>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인터커넥트</a:t>
            </a:r>
            <a:endParaRPr lang="en-US" sz="1000" dirty="0"/>
          </a:p>
        </p:txBody>
      </p:sp>
      <p:sp>
        <p:nvSpPr>
          <p:cNvPr id="29" name="Text 27"/>
          <p:cNvSpPr/>
          <p:nvPr/>
        </p:nvSpPr>
        <p:spPr>
          <a:xfrm>
            <a:off x="2267712" y="4837176"/>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NV-HBI 10 TB/s — 두 다이를 소프트웨어에 단일 GPU로 노출</a:t>
            </a:r>
            <a:endParaRPr lang="en-US" sz="1050" dirty="0"/>
          </a:p>
        </p:txBody>
      </p:sp>
      <p:sp>
        <p:nvSpPr>
          <p:cNvPr id="30" name="Text 28"/>
          <p:cNvSpPr/>
          <p:nvPr/>
        </p:nvSpPr>
        <p:spPr>
          <a:xfrm>
            <a:off x="932688" y="5321808"/>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패키지</a:t>
            </a:r>
            <a:endParaRPr lang="en-US" sz="1000" dirty="0"/>
          </a:p>
        </p:txBody>
      </p:sp>
      <p:sp>
        <p:nvSpPr>
          <p:cNvPr id="31" name="Text 29"/>
          <p:cNvSpPr/>
          <p:nvPr/>
        </p:nvSpPr>
        <p:spPr>
          <a:xfrm>
            <a:off x="2267712" y="5321808"/>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CoWoS-L + HBM3E 8스택</a:t>
            </a:r>
            <a:endParaRPr lang="en-US" sz="1050" dirty="0"/>
          </a:p>
        </p:txBody>
      </p:sp>
      <p:sp>
        <p:nvSpPr>
          <p:cNvPr id="32" name="Shape 30"/>
          <p:cNvSpPr/>
          <p:nvPr/>
        </p:nvSpPr>
        <p:spPr>
          <a:xfrm>
            <a:off x="6254496" y="3749040"/>
            <a:ext cx="5294376" cy="2121408"/>
          </a:xfrm>
          <a:prstGeom prst="roundRect">
            <a:avLst>
              <a:gd name="adj" fmla="val 2586"/>
            </a:avLst>
          </a:prstGeom>
          <a:solidFill>
            <a:srgbClr val="F1F2F5"/>
          </a:solidFill>
          <a:ln w="9525">
            <a:solidFill>
              <a:srgbClr val="D5D9E0"/>
            </a:solidFill>
            <a:prstDash val="solid"/>
          </a:ln>
        </p:spPr>
      </p:sp>
      <p:sp>
        <p:nvSpPr>
          <p:cNvPr id="33" name="Text 31"/>
          <p:cNvSpPr/>
          <p:nvPr/>
        </p:nvSpPr>
        <p:spPr>
          <a:xfrm>
            <a:off x="6547104" y="3931920"/>
            <a:ext cx="1828800" cy="310896"/>
          </a:xfrm>
          <a:prstGeom prst="rect">
            <a:avLst/>
          </a:prstGeom>
          <a:noFill/>
          <a:ln/>
        </p:spPr>
        <p:txBody>
          <a:bodyPr wrap="square" lIns="0" tIns="0" rIns="0" bIns="0" rtlCol="0" anchor="ctr"/>
          <a:lstStyle/>
          <a:p>
            <a:pPr indent="0" marL="0">
              <a:buNone/>
            </a:pPr>
            <a:r>
              <a:rPr lang="en-US" sz="1600" b="1" dirty="0">
                <a:solidFill>
                  <a:srgbClr val="B25A22"/>
                </a:solidFill>
                <a:latin typeface="Arial" pitchFamily="34" charset="0"/>
                <a:ea typeface="Arial" pitchFamily="34" charset="-122"/>
                <a:cs typeface="Arial" pitchFamily="34" charset="-120"/>
              </a:rPr>
              <a:t>Apple</a:t>
            </a:r>
            <a:endParaRPr lang="en-US" sz="1600" dirty="0"/>
          </a:p>
        </p:txBody>
      </p:sp>
      <p:sp>
        <p:nvSpPr>
          <p:cNvPr id="34" name="Text 32"/>
          <p:cNvSpPr/>
          <p:nvPr/>
        </p:nvSpPr>
        <p:spPr>
          <a:xfrm>
            <a:off x="8266176" y="3986784"/>
            <a:ext cx="2990088" cy="274320"/>
          </a:xfrm>
          <a:prstGeom prst="rect">
            <a:avLst/>
          </a:prstGeom>
          <a:noFill/>
          <a:ln/>
        </p:spPr>
        <p:txBody>
          <a:bodyPr wrap="square" lIns="0" tIns="0" rIns="0" bIns="0" rtlCol="0" anchor="ctr"/>
          <a:lstStyle/>
          <a:p>
            <a:pPr algn="r" indent="0" marL="0">
              <a:buNone/>
            </a:pPr>
            <a:r>
              <a:rPr lang="en-US" sz="1050" dirty="0">
                <a:solidFill>
                  <a:srgbClr val="6B7381"/>
                </a:solidFill>
                <a:latin typeface="Calibri" pitchFamily="34" charset="0"/>
                <a:ea typeface="Calibri" pitchFamily="34" charset="-122"/>
                <a:cs typeface="Calibri" pitchFamily="34" charset="-120"/>
              </a:rPr>
              <a:t>M1 / M2 Ultra — UltraFusion</a:t>
            </a:r>
            <a:endParaRPr lang="en-US" sz="1050" dirty="0"/>
          </a:p>
        </p:txBody>
      </p:sp>
      <p:sp>
        <p:nvSpPr>
          <p:cNvPr id="35" name="Text 33"/>
          <p:cNvSpPr/>
          <p:nvPr/>
        </p:nvSpPr>
        <p:spPr>
          <a:xfrm>
            <a:off x="6547104" y="4352544"/>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구성</a:t>
            </a:r>
            <a:endParaRPr lang="en-US" sz="1000" dirty="0"/>
          </a:p>
        </p:txBody>
      </p:sp>
      <p:sp>
        <p:nvSpPr>
          <p:cNvPr id="36" name="Text 34"/>
          <p:cNvSpPr/>
          <p:nvPr/>
        </p:nvSpPr>
        <p:spPr>
          <a:xfrm>
            <a:off x="7882128" y="4352544"/>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Max 다이 2개를 실리콘 인터포저로 미러 결합</a:t>
            </a:r>
            <a:endParaRPr lang="en-US" sz="1050" dirty="0"/>
          </a:p>
        </p:txBody>
      </p:sp>
      <p:sp>
        <p:nvSpPr>
          <p:cNvPr id="37" name="Text 35"/>
          <p:cNvSpPr/>
          <p:nvPr/>
        </p:nvSpPr>
        <p:spPr>
          <a:xfrm>
            <a:off x="6547104" y="4837176"/>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대역폭</a:t>
            </a:r>
            <a:endParaRPr lang="en-US" sz="1000" dirty="0"/>
          </a:p>
        </p:txBody>
      </p:sp>
      <p:sp>
        <p:nvSpPr>
          <p:cNvPr id="38" name="Text 36"/>
          <p:cNvSpPr/>
          <p:nvPr/>
        </p:nvSpPr>
        <p:spPr>
          <a:xfrm>
            <a:off x="7882128" y="4837176"/>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다이 간 2.5 TB/s, 저지연으로 OS에 단일 SoC로 인식</a:t>
            </a:r>
            <a:endParaRPr lang="en-US" sz="1050" dirty="0"/>
          </a:p>
        </p:txBody>
      </p:sp>
      <p:sp>
        <p:nvSpPr>
          <p:cNvPr id="39" name="Text 37"/>
          <p:cNvSpPr/>
          <p:nvPr/>
        </p:nvSpPr>
        <p:spPr>
          <a:xfrm>
            <a:off x="6547104" y="5321808"/>
            <a:ext cx="1298448" cy="219456"/>
          </a:xfrm>
          <a:prstGeom prst="rect">
            <a:avLst/>
          </a:prstGeom>
          <a:noFill/>
          <a:ln/>
        </p:spPr>
        <p:txBody>
          <a:bodyPr wrap="square" lIns="0" tIns="0" rIns="0" bIns="0" rtlCol="0" anchor="ctr"/>
          <a:lstStyle/>
          <a:p>
            <a:pPr indent="0" marL="0">
              <a:buNone/>
            </a:pPr>
            <a:r>
              <a:rPr lang="en-US" sz="1000" b="1" dirty="0">
                <a:solidFill>
                  <a:srgbClr val="232834"/>
                </a:solidFill>
                <a:latin typeface="Arial" pitchFamily="34" charset="0"/>
                <a:ea typeface="Arial" pitchFamily="34" charset="-122"/>
                <a:cs typeface="Arial" pitchFamily="34" charset="-120"/>
              </a:rPr>
              <a:t>의미</a:t>
            </a:r>
            <a:endParaRPr lang="en-US" sz="1000" dirty="0"/>
          </a:p>
        </p:txBody>
      </p:sp>
      <p:sp>
        <p:nvSpPr>
          <p:cNvPr id="40" name="Text 38"/>
          <p:cNvSpPr/>
          <p:nvPr/>
        </p:nvSpPr>
        <p:spPr>
          <a:xfrm>
            <a:off x="7882128" y="5321808"/>
            <a:ext cx="3374136" cy="457200"/>
          </a:xfrm>
          <a:prstGeom prst="rect">
            <a:avLst/>
          </a:prstGeom>
          <a:noFill/>
          <a:ln/>
        </p:spPr>
        <p:txBody>
          <a:bodyPr wrap="square" lIns="0" tIns="0" rIns="0" bIns="0" rtlCol="0" anchor="t"/>
          <a:lstStyle/>
          <a:p>
            <a:pPr indent="0" marL="0">
              <a:buNone/>
            </a:pPr>
            <a:r>
              <a:rPr lang="en-US" sz="1050" dirty="0">
                <a:solidFill>
                  <a:srgbClr val="6B7381"/>
                </a:solidFill>
                <a:latin typeface="Calibri" pitchFamily="34" charset="0"/>
                <a:ea typeface="Calibri" pitchFamily="34" charset="-122"/>
                <a:cs typeface="Calibri" pitchFamily="34" charset="-120"/>
              </a:rPr>
              <a:t>동일 다이 2개 = 상위 SKU. 파생 전략의 교과서적 사례</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6B7381"/>
                </a:solidFill>
                <a:latin typeface="Arial" pitchFamily="34" charset="0"/>
                <a:ea typeface="Arial" pitchFamily="34" charset="-122"/>
                <a:cs typeface="Arial" pitchFamily="34" charset="-120"/>
              </a:rPr>
              <a:t>09</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B25A22"/>
                </a:solidFill>
                <a:latin typeface="Arial" pitchFamily="34" charset="0"/>
                <a:ea typeface="Arial" pitchFamily="34" charset="-122"/>
                <a:cs typeface="Arial" pitchFamily="34" charset="-120"/>
              </a:rPr>
              <a:t>OPEN CHALLENGES</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232834"/>
                </a:solidFill>
                <a:latin typeface="Arial" pitchFamily="34" charset="0"/>
                <a:ea typeface="Arial" pitchFamily="34" charset="-122"/>
                <a:cs typeface="Arial" pitchFamily="34" charset="-120"/>
              </a:rPr>
              <a:t>남은 과제</a:t>
            </a:r>
            <a:endParaRPr lang="en-US" sz="2900" dirty="0"/>
          </a:p>
        </p:txBody>
      </p:sp>
      <p:sp>
        <p:nvSpPr>
          <p:cNvPr id="5" name="Shape 3"/>
          <p:cNvSpPr/>
          <p:nvPr/>
        </p:nvSpPr>
        <p:spPr>
          <a:xfrm>
            <a:off x="640080" y="1389888"/>
            <a:ext cx="10908792" cy="1042416"/>
          </a:xfrm>
          <a:prstGeom prst="roundRect">
            <a:avLst>
              <a:gd name="adj" fmla="val 5263"/>
            </a:avLst>
          </a:prstGeom>
          <a:solidFill>
            <a:srgbClr val="F1F2F5"/>
          </a:solidFill>
          <a:ln w="9525">
            <a:solidFill>
              <a:srgbClr val="D5D9E0"/>
            </a:solidFill>
            <a:prstDash val="solid"/>
          </a:ln>
        </p:spPr>
      </p:sp>
      <p:sp>
        <p:nvSpPr>
          <p:cNvPr id="6" name="Shape 4"/>
          <p:cNvSpPr/>
          <p:nvPr/>
        </p:nvSpPr>
        <p:spPr>
          <a:xfrm>
            <a:off x="932688" y="1627632"/>
            <a:ext cx="566928" cy="566928"/>
          </a:xfrm>
          <a:prstGeom prst="roundRect">
            <a:avLst>
              <a:gd name="adj" fmla="val 22581"/>
            </a:avLst>
          </a:prstGeom>
          <a:solidFill>
            <a:srgbClr val="B25A22"/>
          </a:solidFill>
          <a:ln w="12700">
            <a:solidFill>
              <a:srgbClr val="333333"/>
            </a:solidFill>
            <a:prstDash val="solid"/>
          </a:ln>
        </p:spPr>
      </p:sp>
      <p:sp>
        <p:nvSpPr>
          <p:cNvPr id="7" name="Text 5"/>
          <p:cNvSpPr/>
          <p:nvPr/>
        </p:nvSpPr>
        <p:spPr>
          <a:xfrm>
            <a:off x="932688" y="16276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8" name="Text 6"/>
          <p:cNvSpPr/>
          <p:nvPr/>
        </p:nvSpPr>
        <p:spPr>
          <a:xfrm>
            <a:off x="1737360" y="1627632"/>
            <a:ext cx="2743200" cy="292608"/>
          </a:xfrm>
          <a:prstGeom prst="rect">
            <a:avLst/>
          </a:prstGeom>
          <a:noFill/>
          <a:ln/>
        </p:spPr>
        <p:txBody>
          <a:bodyPr wrap="square" lIns="0" tIns="0" rIns="0" bIns="0" rtlCol="0" anchor="ctr"/>
          <a:lstStyle/>
          <a:p>
            <a:pPr indent="0" marL="0">
              <a:buNone/>
            </a:pPr>
            <a:r>
              <a:rPr lang="en-US" sz="1450" b="1" dirty="0">
                <a:solidFill>
                  <a:srgbClr val="232834"/>
                </a:solidFill>
                <a:latin typeface="Arial" pitchFamily="34" charset="0"/>
                <a:ea typeface="Arial" pitchFamily="34" charset="-122"/>
                <a:cs typeface="Arial" pitchFamily="34" charset="-120"/>
              </a:rPr>
              <a:t>생태계 상호운용성</a:t>
            </a:r>
            <a:endParaRPr lang="en-US" sz="1450" dirty="0"/>
          </a:p>
        </p:txBody>
      </p:sp>
      <p:sp>
        <p:nvSpPr>
          <p:cNvPr id="9" name="Text 7"/>
          <p:cNvSpPr/>
          <p:nvPr/>
        </p:nvSpPr>
        <p:spPr>
          <a:xfrm>
            <a:off x="1737360" y="1938528"/>
            <a:ext cx="2743200"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Interoperability</a:t>
            </a:r>
            <a:endParaRPr lang="en-US" sz="1000" dirty="0"/>
          </a:p>
        </p:txBody>
      </p:sp>
      <p:sp>
        <p:nvSpPr>
          <p:cNvPr id="10" name="Text 8"/>
          <p:cNvSpPr/>
          <p:nvPr/>
        </p:nvSpPr>
        <p:spPr>
          <a:xfrm>
            <a:off x="4617720" y="1572768"/>
            <a:ext cx="6656832" cy="731520"/>
          </a:xfrm>
          <a:prstGeom prst="rect">
            <a:avLst/>
          </a:prstGeom>
          <a:noFill/>
          <a:ln/>
        </p:spPr>
        <p:txBody>
          <a:bodyPr wrap="square" lIns="0" tIns="0" rIns="0" bIns="0" rtlCol="0" anchor="t"/>
          <a:lstStyle/>
          <a:p>
            <a:pPr indent="0" marL="0">
              <a:lnSpc>
                <a:spcPct val="114000"/>
              </a:lnSpc>
              <a:buNone/>
            </a:pPr>
            <a:r>
              <a:rPr lang="en-US" sz="1150" dirty="0">
                <a:solidFill>
                  <a:srgbClr val="6B7381"/>
                </a:solidFill>
                <a:latin typeface="Calibri" pitchFamily="34" charset="0"/>
                <a:ea typeface="Calibri" pitchFamily="34" charset="-122"/>
                <a:cs typeface="Calibri" pitchFamily="34" charset="-120"/>
              </a:rPr>
              <a:t>UCIe가 전기 · 프로토콜 규격을 통일했지만, 실제 서드파티 다이를 섞으려면 범프 맵 · 전력 시퀀싱 · 테스트 접근 · 펌웨어까지 합의가 필요하다. '칩렛 마켓플레이스'는 아직 기술보다 사업 · 계약 문제에 가깝다.</a:t>
            </a:r>
            <a:endParaRPr lang="en-US" sz="1150" dirty="0"/>
          </a:p>
        </p:txBody>
      </p:sp>
      <p:sp>
        <p:nvSpPr>
          <p:cNvPr id="11" name="Shape 9"/>
          <p:cNvSpPr/>
          <p:nvPr/>
        </p:nvSpPr>
        <p:spPr>
          <a:xfrm>
            <a:off x="640080" y="2560320"/>
            <a:ext cx="10908792" cy="1042416"/>
          </a:xfrm>
          <a:prstGeom prst="roundRect">
            <a:avLst>
              <a:gd name="adj" fmla="val 5263"/>
            </a:avLst>
          </a:prstGeom>
          <a:solidFill>
            <a:srgbClr val="F1F2F5"/>
          </a:solidFill>
          <a:ln w="9525">
            <a:solidFill>
              <a:srgbClr val="D5D9E0"/>
            </a:solidFill>
            <a:prstDash val="solid"/>
          </a:ln>
        </p:spPr>
      </p:sp>
      <p:sp>
        <p:nvSpPr>
          <p:cNvPr id="12" name="Shape 10"/>
          <p:cNvSpPr/>
          <p:nvPr/>
        </p:nvSpPr>
        <p:spPr>
          <a:xfrm>
            <a:off x="932688" y="2798064"/>
            <a:ext cx="566928" cy="566928"/>
          </a:xfrm>
          <a:prstGeom prst="roundRect">
            <a:avLst>
              <a:gd name="adj" fmla="val 22581"/>
            </a:avLst>
          </a:prstGeom>
          <a:solidFill>
            <a:srgbClr val="B25A22"/>
          </a:solidFill>
          <a:ln w="12700">
            <a:solidFill>
              <a:srgbClr val="333333"/>
            </a:solidFill>
            <a:prstDash val="solid"/>
          </a:ln>
        </p:spPr>
      </p:sp>
      <p:sp>
        <p:nvSpPr>
          <p:cNvPr id="13" name="Text 11"/>
          <p:cNvSpPr/>
          <p:nvPr/>
        </p:nvSpPr>
        <p:spPr>
          <a:xfrm>
            <a:off x="932688" y="279806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14" name="Text 12"/>
          <p:cNvSpPr/>
          <p:nvPr/>
        </p:nvSpPr>
        <p:spPr>
          <a:xfrm>
            <a:off x="1737360" y="2798064"/>
            <a:ext cx="2743200" cy="292608"/>
          </a:xfrm>
          <a:prstGeom prst="rect">
            <a:avLst/>
          </a:prstGeom>
          <a:noFill/>
          <a:ln/>
        </p:spPr>
        <p:txBody>
          <a:bodyPr wrap="square" lIns="0" tIns="0" rIns="0" bIns="0" rtlCol="0" anchor="ctr"/>
          <a:lstStyle/>
          <a:p>
            <a:pPr indent="0" marL="0">
              <a:buNone/>
            </a:pPr>
            <a:r>
              <a:rPr lang="en-US" sz="1450" b="1" dirty="0">
                <a:solidFill>
                  <a:srgbClr val="232834"/>
                </a:solidFill>
                <a:latin typeface="Arial" pitchFamily="34" charset="0"/>
                <a:ea typeface="Arial" pitchFamily="34" charset="-122"/>
                <a:cs typeface="Arial" pitchFamily="34" charset="-120"/>
              </a:rPr>
              <a:t>열 관리</a:t>
            </a:r>
            <a:endParaRPr lang="en-US" sz="1450" dirty="0"/>
          </a:p>
        </p:txBody>
      </p:sp>
      <p:sp>
        <p:nvSpPr>
          <p:cNvPr id="15" name="Text 13"/>
          <p:cNvSpPr/>
          <p:nvPr/>
        </p:nvSpPr>
        <p:spPr>
          <a:xfrm>
            <a:off x="1737360" y="3108960"/>
            <a:ext cx="2743200"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Thermal</a:t>
            </a:r>
            <a:endParaRPr lang="en-US" sz="1000" dirty="0"/>
          </a:p>
        </p:txBody>
      </p:sp>
      <p:sp>
        <p:nvSpPr>
          <p:cNvPr id="16" name="Text 14"/>
          <p:cNvSpPr/>
          <p:nvPr/>
        </p:nvSpPr>
        <p:spPr>
          <a:xfrm>
            <a:off x="4617720" y="2743200"/>
            <a:ext cx="6656832" cy="731520"/>
          </a:xfrm>
          <a:prstGeom prst="rect">
            <a:avLst/>
          </a:prstGeom>
          <a:noFill/>
          <a:ln/>
        </p:spPr>
        <p:txBody>
          <a:bodyPr wrap="square" lIns="0" tIns="0" rIns="0" bIns="0" rtlCol="0" anchor="t"/>
          <a:lstStyle/>
          <a:p>
            <a:pPr indent="0" marL="0">
              <a:lnSpc>
                <a:spcPct val="114000"/>
              </a:lnSpc>
              <a:buNone/>
            </a:pPr>
            <a:r>
              <a:rPr lang="en-US" sz="1150" dirty="0">
                <a:solidFill>
                  <a:srgbClr val="6B7381"/>
                </a:solidFill>
                <a:latin typeface="Calibri" pitchFamily="34" charset="0"/>
                <a:ea typeface="Calibri" pitchFamily="34" charset="-122"/>
                <a:cs typeface="Calibri" pitchFamily="34" charset="-120"/>
              </a:rPr>
              <a:t>3D 적층은 열원을 수직으로 겹친다. 상부 다이의 열이 하부를 통과해야 하고, 하이브리드 본딩은 TIM을 넣을 공간조차 없다. 백사이드 전력 공급(BSPDN)과 열 경로 설계가 함께 풀려야 한다.</a:t>
            </a:r>
            <a:endParaRPr lang="en-US" sz="1150" dirty="0"/>
          </a:p>
        </p:txBody>
      </p:sp>
      <p:sp>
        <p:nvSpPr>
          <p:cNvPr id="17" name="Shape 15"/>
          <p:cNvSpPr/>
          <p:nvPr/>
        </p:nvSpPr>
        <p:spPr>
          <a:xfrm>
            <a:off x="640080" y="3730752"/>
            <a:ext cx="10908792" cy="1042416"/>
          </a:xfrm>
          <a:prstGeom prst="roundRect">
            <a:avLst>
              <a:gd name="adj" fmla="val 5263"/>
            </a:avLst>
          </a:prstGeom>
          <a:solidFill>
            <a:srgbClr val="F1F2F5"/>
          </a:solidFill>
          <a:ln w="9525">
            <a:solidFill>
              <a:srgbClr val="D5D9E0"/>
            </a:solidFill>
            <a:prstDash val="solid"/>
          </a:ln>
        </p:spPr>
      </p:sp>
      <p:sp>
        <p:nvSpPr>
          <p:cNvPr id="18" name="Shape 16"/>
          <p:cNvSpPr/>
          <p:nvPr/>
        </p:nvSpPr>
        <p:spPr>
          <a:xfrm>
            <a:off x="932688" y="3968496"/>
            <a:ext cx="566928" cy="566928"/>
          </a:xfrm>
          <a:prstGeom prst="roundRect">
            <a:avLst>
              <a:gd name="adj" fmla="val 22581"/>
            </a:avLst>
          </a:prstGeom>
          <a:solidFill>
            <a:srgbClr val="B25A22"/>
          </a:solidFill>
          <a:ln w="12700">
            <a:solidFill>
              <a:srgbClr val="333333"/>
            </a:solidFill>
            <a:prstDash val="solid"/>
          </a:ln>
        </p:spPr>
      </p:sp>
      <p:sp>
        <p:nvSpPr>
          <p:cNvPr id="19" name="Text 17"/>
          <p:cNvSpPr/>
          <p:nvPr/>
        </p:nvSpPr>
        <p:spPr>
          <a:xfrm>
            <a:off x="932688" y="396849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sp>
        <p:nvSpPr>
          <p:cNvPr id="20" name="Text 18"/>
          <p:cNvSpPr/>
          <p:nvPr/>
        </p:nvSpPr>
        <p:spPr>
          <a:xfrm>
            <a:off x="1737360" y="3968496"/>
            <a:ext cx="2743200" cy="292608"/>
          </a:xfrm>
          <a:prstGeom prst="rect">
            <a:avLst/>
          </a:prstGeom>
          <a:noFill/>
          <a:ln/>
        </p:spPr>
        <p:txBody>
          <a:bodyPr wrap="square" lIns="0" tIns="0" rIns="0" bIns="0" rtlCol="0" anchor="ctr"/>
          <a:lstStyle/>
          <a:p>
            <a:pPr indent="0" marL="0">
              <a:buNone/>
            </a:pPr>
            <a:r>
              <a:rPr lang="en-US" sz="1450" b="1" dirty="0">
                <a:solidFill>
                  <a:srgbClr val="232834"/>
                </a:solidFill>
                <a:latin typeface="Arial" pitchFamily="34" charset="0"/>
                <a:ea typeface="Arial" pitchFamily="34" charset="-122"/>
                <a:cs typeface="Arial" pitchFamily="34" charset="-120"/>
              </a:rPr>
              <a:t>테스트 · 책임 소재</a:t>
            </a:r>
            <a:endParaRPr lang="en-US" sz="1450" dirty="0"/>
          </a:p>
        </p:txBody>
      </p:sp>
      <p:sp>
        <p:nvSpPr>
          <p:cNvPr id="21" name="Text 19"/>
          <p:cNvSpPr/>
          <p:nvPr/>
        </p:nvSpPr>
        <p:spPr>
          <a:xfrm>
            <a:off x="1737360" y="4279392"/>
            <a:ext cx="2743200"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Test &amp; KGD</a:t>
            </a:r>
            <a:endParaRPr lang="en-US" sz="1000" dirty="0"/>
          </a:p>
        </p:txBody>
      </p:sp>
      <p:sp>
        <p:nvSpPr>
          <p:cNvPr id="22" name="Text 20"/>
          <p:cNvSpPr/>
          <p:nvPr/>
        </p:nvSpPr>
        <p:spPr>
          <a:xfrm>
            <a:off x="4617720" y="3913632"/>
            <a:ext cx="6656832" cy="731520"/>
          </a:xfrm>
          <a:prstGeom prst="rect">
            <a:avLst/>
          </a:prstGeom>
          <a:noFill/>
          <a:ln/>
        </p:spPr>
        <p:txBody>
          <a:bodyPr wrap="square" lIns="0" tIns="0" rIns="0" bIns="0" rtlCol="0" anchor="t"/>
          <a:lstStyle/>
          <a:p>
            <a:pPr indent="0" marL="0">
              <a:lnSpc>
                <a:spcPct val="114000"/>
              </a:lnSpc>
              <a:buNone/>
            </a:pPr>
            <a:r>
              <a:rPr lang="en-US" sz="1150" dirty="0">
                <a:solidFill>
                  <a:srgbClr val="6B7381"/>
                </a:solidFill>
                <a:latin typeface="Calibri" pitchFamily="34" charset="0"/>
                <a:ea typeface="Calibri" pitchFamily="34" charset="-122"/>
                <a:cs typeface="Calibri" pitchFamily="34" charset="-120"/>
              </a:rPr>
              <a:t>조립 후 불량이 났을 때 어느 다이 · 어느 공정의 책임인지 가리기 어렵다. 다이별 DFT, 패키지 내 접근 경로(IEEE 1838), 리페어 · RMA 정책이 표준화되어야 한다.</a:t>
            </a:r>
            <a:endParaRPr lang="en-US" sz="1150" dirty="0"/>
          </a:p>
        </p:txBody>
      </p:sp>
      <p:sp>
        <p:nvSpPr>
          <p:cNvPr id="23" name="Shape 21"/>
          <p:cNvSpPr/>
          <p:nvPr/>
        </p:nvSpPr>
        <p:spPr>
          <a:xfrm>
            <a:off x="640080" y="4901184"/>
            <a:ext cx="10908792" cy="1042416"/>
          </a:xfrm>
          <a:prstGeom prst="roundRect">
            <a:avLst>
              <a:gd name="adj" fmla="val 5263"/>
            </a:avLst>
          </a:prstGeom>
          <a:solidFill>
            <a:srgbClr val="F1F2F5"/>
          </a:solidFill>
          <a:ln w="9525">
            <a:solidFill>
              <a:srgbClr val="D5D9E0"/>
            </a:solidFill>
            <a:prstDash val="solid"/>
          </a:ln>
        </p:spPr>
      </p:sp>
      <p:sp>
        <p:nvSpPr>
          <p:cNvPr id="24" name="Shape 22"/>
          <p:cNvSpPr/>
          <p:nvPr/>
        </p:nvSpPr>
        <p:spPr>
          <a:xfrm>
            <a:off x="932688" y="5138928"/>
            <a:ext cx="566928" cy="566928"/>
          </a:xfrm>
          <a:prstGeom prst="roundRect">
            <a:avLst>
              <a:gd name="adj" fmla="val 22581"/>
            </a:avLst>
          </a:prstGeom>
          <a:solidFill>
            <a:srgbClr val="B25A22"/>
          </a:solidFill>
          <a:ln w="12700">
            <a:solidFill>
              <a:srgbClr val="333333"/>
            </a:solidFill>
            <a:prstDash val="solid"/>
          </a:ln>
        </p:spPr>
      </p:sp>
      <p:sp>
        <p:nvSpPr>
          <p:cNvPr id="25" name="Text 23"/>
          <p:cNvSpPr/>
          <p:nvPr/>
        </p:nvSpPr>
        <p:spPr>
          <a:xfrm>
            <a:off x="932688" y="5138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04</a:t>
            </a:r>
            <a:endParaRPr lang="en-US" sz="1500" dirty="0"/>
          </a:p>
        </p:txBody>
      </p:sp>
      <p:sp>
        <p:nvSpPr>
          <p:cNvPr id="26" name="Text 24"/>
          <p:cNvSpPr/>
          <p:nvPr/>
        </p:nvSpPr>
        <p:spPr>
          <a:xfrm>
            <a:off x="1737360" y="5138928"/>
            <a:ext cx="2743200" cy="292608"/>
          </a:xfrm>
          <a:prstGeom prst="rect">
            <a:avLst/>
          </a:prstGeom>
          <a:noFill/>
          <a:ln/>
        </p:spPr>
        <p:txBody>
          <a:bodyPr wrap="square" lIns="0" tIns="0" rIns="0" bIns="0" rtlCol="0" anchor="ctr"/>
          <a:lstStyle/>
          <a:p>
            <a:pPr indent="0" marL="0">
              <a:buNone/>
            </a:pPr>
            <a:r>
              <a:rPr lang="en-US" sz="1450" b="1" dirty="0">
                <a:solidFill>
                  <a:srgbClr val="232834"/>
                </a:solidFill>
                <a:latin typeface="Arial" pitchFamily="34" charset="0"/>
                <a:ea typeface="Arial" pitchFamily="34" charset="-122"/>
                <a:cs typeface="Arial" pitchFamily="34" charset="-120"/>
              </a:rPr>
              <a:t>설계 · EDA 흐름</a:t>
            </a:r>
            <a:endParaRPr lang="en-US" sz="1450" dirty="0"/>
          </a:p>
        </p:txBody>
      </p:sp>
      <p:sp>
        <p:nvSpPr>
          <p:cNvPr id="27" name="Text 25"/>
          <p:cNvSpPr/>
          <p:nvPr/>
        </p:nvSpPr>
        <p:spPr>
          <a:xfrm>
            <a:off x="1737360" y="5449824"/>
            <a:ext cx="2743200" cy="237744"/>
          </a:xfrm>
          <a:prstGeom prst="rect">
            <a:avLst/>
          </a:prstGeom>
          <a:noFill/>
          <a:ln/>
        </p:spPr>
        <p:txBody>
          <a:bodyPr wrap="square" lIns="0" tIns="0" rIns="0" bIns="0" rtlCol="0" anchor="ctr"/>
          <a:lstStyle/>
          <a:p>
            <a:pPr indent="0" marL="0">
              <a:buNone/>
            </a:pPr>
            <a:r>
              <a:rPr lang="en-US" sz="1000" i="1" dirty="0">
                <a:solidFill>
                  <a:srgbClr val="B25A22"/>
                </a:solidFill>
                <a:latin typeface="Calibri" pitchFamily="34" charset="0"/>
                <a:ea typeface="Calibri" pitchFamily="34" charset="-122"/>
                <a:cs typeface="Calibri" pitchFamily="34" charset="-120"/>
              </a:rPr>
              <a:t>Design Flow</a:t>
            </a:r>
            <a:endParaRPr lang="en-US" sz="1000" dirty="0"/>
          </a:p>
        </p:txBody>
      </p:sp>
      <p:sp>
        <p:nvSpPr>
          <p:cNvPr id="28" name="Text 26"/>
          <p:cNvSpPr/>
          <p:nvPr/>
        </p:nvSpPr>
        <p:spPr>
          <a:xfrm>
            <a:off x="4617720" y="5084064"/>
            <a:ext cx="6656832" cy="731520"/>
          </a:xfrm>
          <a:prstGeom prst="rect">
            <a:avLst/>
          </a:prstGeom>
          <a:noFill/>
          <a:ln/>
        </p:spPr>
        <p:txBody>
          <a:bodyPr wrap="square" lIns="0" tIns="0" rIns="0" bIns="0" rtlCol="0" anchor="t"/>
          <a:lstStyle/>
          <a:p>
            <a:pPr indent="0" marL="0">
              <a:lnSpc>
                <a:spcPct val="114000"/>
              </a:lnSpc>
              <a:buNone/>
            </a:pPr>
            <a:r>
              <a:rPr lang="en-US" sz="1150" dirty="0">
                <a:solidFill>
                  <a:srgbClr val="6B7381"/>
                </a:solidFill>
                <a:latin typeface="Calibri" pitchFamily="34" charset="0"/>
                <a:ea typeface="Calibri" pitchFamily="34" charset="-122"/>
                <a:cs typeface="Calibri" pitchFamily="34" charset="-120"/>
              </a:rPr>
              <a:t>다이 분할 결정, 패키지 · 다이 동시 최적화(co-design), 다이 간 SI/PI · 열 공동 해석 등 기존 SoC 흐름에 없던 단계가 필요하다. 3DIC 대응 EDA 흐름이 아직 성숙 중이다.</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11277295" y="6355080"/>
            <a:ext cx="457200" cy="274320"/>
          </a:xfrm>
          <a:prstGeom prst="rect">
            <a:avLst/>
          </a:prstGeom>
          <a:noFill/>
          <a:ln/>
        </p:spPr>
        <p:txBody>
          <a:bodyPr wrap="square" lIns="0" tIns="0" rIns="0" bIns="0" rtlCol="0" anchor="ctr"/>
          <a:lstStyle/>
          <a:p>
            <a:pPr algn="r" indent="0" marL="0">
              <a:buNone/>
            </a:pPr>
            <a:r>
              <a:rPr lang="en-US" sz="1000" b="1" dirty="0">
                <a:solidFill>
                  <a:srgbClr val="97A0B0"/>
                </a:solidFill>
                <a:latin typeface="Arial" pitchFamily="34" charset="0"/>
                <a:ea typeface="Arial" pitchFamily="34" charset="-122"/>
                <a:cs typeface="Arial" pitchFamily="34" charset="-120"/>
              </a:rPr>
              <a:t>10</a:t>
            </a:r>
            <a:endParaRPr lang="en-US" sz="1000" dirty="0"/>
          </a:p>
        </p:txBody>
      </p:sp>
      <p:sp>
        <p:nvSpPr>
          <p:cNvPr id="3" name="Text 1"/>
          <p:cNvSpPr/>
          <p:nvPr/>
        </p:nvSpPr>
        <p:spPr>
          <a:xfrm>
            <a:off x="640080" y="384048"/>
            <a:ext cx="10515600" cy="237744"/>
          </a:xfrm>
          <a:prstGeom prst="rect">
            <a:avLst/>
          </a:prstGeom>
          <a:noFill/>
          <a:ln/>
        </p:spPr>
        <p:txBody>
          <a:bodyPr wrap="square" lIns="0" tIns="0" rIns="0" bIns="0" rtlCol="0" anchor="ctr"/>
          <a:lstStyle/>
          <a:p>
            <a:pPr indent="0" marL="0">
              <a:buNone/>
            </a:pPr>
            <a:r>
              <a:rPr lang="en-US" sz="1050" b="1" spc="260" kern="0" dirty="0">
                <a:solidFill>
                  <a:srgbClr val="E09A5F"/>
                </a:solidFill>
                <a:latin typeface="Arial" pitchFamily="34" charset="0"/>
                <a:ea typeface="Arial" pitchFamily="34" charset="-122"/>
                <a:cs typeface="Arial" pitchFamily="34" charset="-120"/>
              </a:rPr>
              <a:t>SUMMARY &amp; OUTLOOK</a:t>
            </a:r>
            <a:endParaRPr lang="en-US" sz="1050" dirty="0"/>
          </a:p>
        </p:txBody>
      </p:sp>
      <p:sp>
        <p:nvSpPr>
          <p:cNvPr id="4" name="Text 2"/>
          <p:cNvSpPr/>
          <p:nvPr/>
        </p:nvSpPr>
        <p:spPr>
          <a:xfrm>
            <a:off x="640080" y="658368"/>
            <a:ext cx="1088136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정리와 전망</a:t>
            </a:r>
            <a:endParaRPr lang="en-US" sz="2900" dirty="0"/>
          </a:p>
        </p:txBody>
      </p:sp>
      <p:sp>
        <p:nvSpPr>
          <p:cNvPr id="5" name="Shape 3"/>
          <p:cNvSpPr/>
          <p:nvPr/>
        </p:nvSpPr>
        <p:spPr>
          <a:xfrm>
            <a:off x="640080" y="1545336"/>
            <a:ext cx="182880" cy="182880"/>
          </a:xfrm>
          <a:prstGeom prst="roundRect">
            <a:avLst>
              <a:gd name="adj" fmla="val 100000"/>
            </a:avLst>
          </a:prstGeom>
          <a:solidFill>
            <a:srgbClr val="B25A22"/>
          </a:solidFill>
          <a:ln w="12700">
            <a:solidFill>
              <a:srgbClr val="B25A22"/>
            </a:solidFill>
            <a:prstDash val="solid"/>
          </a:ln>
        </p:spPr>
      </p:sp>
      <p:sp>
        <p:nvSpPr>
          <p:cNvPr id="6" name="Text 4"/>
          <p:cNvSpPr/>
          <p:nvPr/>
        </p:nvSpPr>
        <p:spPr>
          <a:xfrm>
            <a:off x="1024128" y="1481328"/>
            <a:ext cx="667512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칩렛은 목적이 아니라 수단이다.</a:t>
            </a:r>
            <a:endParaRPr lang="en-US" sz="1500" dirty="0"/>
          </a:p>
        </p:txBody>
      </p:sp>
      <p:sp>
        <p:nvSpPr>
          <p:cNvPr id="7" name="Text 5"/>
          <p:cNvSpPr/>
          <p:nvPr/>
        </p:nvSpPr>
        <p:spPr>
          <a:xfrm>
            <a:off x="1024128" y="1810512"/>
            <a:ext cx="6675120" cy="457200"/>
          </a:xfrm>
          <a:prstGeom prst="rect">
            <a:avLst/>
          </a:prstGeom>
          <a:noFill/>
          <a:ln/>
        </p:spPr>
        <p:txBody>
          <a:bodyPr wrap="square" lIns="0" tIns="0" rIns="0" bIns="0" rtlCol="0" anchor="ctr"/>
          <a:lstStyle/>
          <a:p>
            <a:pPr indent="0" marL="0">
              <a:lnSpc>
                <a:spcPct val="110000"/>
              </a:lnSpc>
              <a:buNone/>
            </a:pPr>
            <a:r>
              <a:rPr lang="en-US" sz="1200" dirty="0">
                <a:solidFill>
                  <a:srgbClr val="97A0B0"/>
                </a:solidFill>
                <a:latin typeface="Calibri" pitchFamily="34" charset="0"/>
                <a:ea typeface="Calibri" pitchFamily="34" charset="-122"/>
                <a:cs typeface="Calibri" pitchFamily="34" charset="-120"/>
              </a:rPr>
              <a:t>레티클 · 수율 · 노드 원가라는 세 가지 물리적 · 경제적 제약을 우회하기 위한 선택.</a:t>
            </a:r>
            <a:endParaRPr lang="en-US" sz="1200" dirty="0"/>
          </a:p>
        </p:txBody>
      </p:sp>
      <p:sp>
        <p:nvSpPr>
          <p:cNvPr id="8" name="Shape 6"/>
          <p:cNvSpPr/>
          <p:nvPr/>
        </p:nvSpPr>
        <p:spPr>
          <a:xfrm>
            <a:off x="640080" y="2496312"/>
            <a:ext cx="182880" cy="182880"/>
          </a:xfrm>
          <a:prstGeom prst="roundRect">
            <a:avLst>
              <a:gd name="adj" fmla="val 100000"/>
            </a:avLst>
          </a:prstGeom>
          <a:solidFill>
            <a:srgbClr val="B25A22"/>
          </a:solidFill>
          <a:ln w="12700">
            <a:solidFill>
              <a:srgbClr val="B25A22"/>
            </a:solidFill>
            <a:prstDash val="solid"/>
          </a:ln>
        </p:spPr>
      </p:sp>
      <p:sp>
        <p:nvSpPr>
          <p:cNvPr id="9" name="Text 7"/>
          <p:cNvSpPr/>
          <p:nvPr/>
        </p:nvSpPr>
        <p:spPr>
          <a:xfrm>
            <a:off x="1024128" y="2432304"/>
            <a:ext cx="667512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분할 지점이 설계를 결정한다.</a:t>
            </a:r>
            <a:endParaRPr lang="en-US" sz="1500" dirty="0"/>
          </a:p>
        </p:txBody>
      </p:sp>
      <p:sp>
        <p:nvSpPr>
          <p:cNvPr id="10" name="Text 8"/>
          <p:cNvSpPr/>
          <p:nvPr/>
        </p:nvSpPr>
        <p:spPr>
          <a:xfrm>
            <a:off x="1024128" y="2761488"/>
            <a:ext cx="6675120" cy="457200"/>
          </a:xfrm>
          <a:prstGeom prst="rect">
            <a:avLst/>
          </a:prstGeom>
          <a:noFill/>
          <a:ln/>
        </p:spPr>
        <p:txBody>
          <a:bodyPr wrap="square" lIns="0" tIns="0" rIns="0" bIns="0" rtlCol="0" anchor="ctr"/>
          <a:lstStyle/>
          <a:p>
            <a:pPr indent="0" marL="0">
              <a:lnSpc>
                <a:spcPct val="110000"/>
              </a:lnSpc>
              <a:buNone/>
            </a:pPr>
            <a:r>
              <a:rPr lang="en-US" sz="1200" dirty="0">
                <a:solidFill>
                  <a:srgbClr val="97A0B0"/>
                </a:solidFill>
                <a:latin typeface="Calibri" pitchFamily="34" charset="0"/>
                <a:ea typeface="Calibri" pitchFamily="34" charset="-122"/>
                <a:cs typeface="Calibri" pitchFamily="34" charset="-120"/>
              </a:rPr>
              <a:t>경계를 넘는 대역폭 × pJ/bit 가 전력 예산에 들어오는 지점만 쪼갤 수 있다.</a:t>
            </a:r>
            <a:endParaRPr lang="en-US" sz="1200" dirty="0"/>
          </a:p>
        </p:txBody>
      </p:sp>
      <p:sp>
        <p:nvSpPr>
          <p:cNvPr id="11" name="Shape 9"/>
          <p:cNvSpPr/>
          <p:nvPr/>
        </p:nvSpPr>
        <p:spPr>
          <a:xfrm>
            <a:off x="640080" y="3447288"/>
            <a:ext cx="182880" cy="182880"/>
          </a:xfrm>
          <a:prstGeom prst="roundRect">
            <a:avLst>
              <a:gd name="adj" fmla="val 100000"/>
            </a:avLst>
          </a:prstGeom>
          <a:solidFill>
            <a:srgbClr val="B25A22"/>
          </a:solidFill>
          <a:ln w="12700">
            <a:solidFill>
              <a:srgbClr val="B25A22"/>
            </a:solidFill>
            <a:prstDash val="solid"/>
          </a:ln>
        </p:spPr>
      </p:sp>
      <p:sp>
        <p:nvSpPr>
          <p:cNvPr id="12" name="Text 10"/>
          <p:cNvSpPr/>
          <p:nvPr/>
        </p:nvSpPr>
        <p:spPr>
          <a:xfrm>
            <a:off x="1024128" y="3383280"/>
            <a:ext cx="667512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패키징이 성능의 일부가 되었다.</a:t>
            </a:r>
            <a:endParaRPr lang="en-US" sz="1500" dirty="0"/>
          </a:p>
        </p:txBody>
      </p:sp>
      <p:sp>
        <p:nvSpPr>
          <p:cNvPr id="13" name="Text 11"/>
          <p:cNvSpPr/>
          <p:nvPr/>
        </p:nvSpPr>
        <p:spPr>
          <a:xfrm>
            <a:off x="1024128" y="3712464"/>
            <a:ext cx="6675120" cy="457200"/>
          </a:xfrm>
          <a:prstGeom prst="rect">
            <a:avLst/>
          </a:prstGeom>
          <a:noFill/>
          <a:ln/>
        </p:spPr>
        <p:txBody>
          <a:bodyPr wrap="square" lIns="0" tIns="0" rIns="0" bIns="0" rtlCol="0" anchor="ctr"/>
          <a:lstStyle/>
          <a:p>
            <a:pPr indent="0" marL="0">
              <a:lnSpc>
                <a:spcPct val="110000"/>
              </a:lnSpc>
              <a:buNone/>
            </a:pPr>
            <a:r>
              <a:rPr lang="en-US" sz="1200" dirty="0">
                <a:solidFill>
                  <a:srgbClr val="97A0B0"/>
                </a:solidFill>
                <a:latin typeface="Calibri" pitchFamily="34" charset="0"/>
                <a:ea typeface="Calibri" pitchFamily="34" charset="-122"/>
                <a:cs typeface="Calibri" pitchFamily="34" charset="-120"/>
              </a:rPr>
              <a:t>범프 피치가 D2D 대역폭 밀도를 정한다. 패키지 선택은 이제 아키텍처 결정이다.</a:t>
            </a:r>
            <a:endParaRPr lang="en-US" sz="1200" dirty="0"/>
          </a:p>
        </p:txBody>
      </p:sp>
      <p:sp>
        <p:nvSpPr>
          <p:cNvPr id="14" name="Shape 12"/>
          <p:cNvSpPr/>
          <p:nvPr/>
        </p:nvSpPr>
        <p:spPr>
          <a:xfrm>
            <a:off x="640080" y="4398264"/>
            <a:ext cx="182880" cy="182880"/>
          </a:xfrm>
          <a:prstGeom prst="roundRect">
            <a:avLst>
              <a:gd name="adj" fmla="val 100000"/>
            </a:avLst>
          </a:prstGeom>
          <a:solidFill>
            <a:srgbClr val="B25A22"/>
          </a:solidFill>
          <a:ln w="12700">
            <a:solidFill>
              <a:srgbClr val="B25A22"/>
            </a:solidFill>
            <a:prstDash val="solid"/>
          </a:ln>
        </p:spPr>
      </p:sp>
      <p:sp>
        <p:nvSpPr>
          <p:cNvPr id="15" name="Text 13"/>
          <p:cNvSpPr/>
          <p:nvPr/>
        </p:nvSpPr>
        <p:spPr>
          <a:xfrm>
            <a:off x="1024128" y="4334256"/>
            <a:ext cx="667512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표준은 필요조건이지 충분조건이 아니다.</a:t>
            </a:r>
            <a:endParaRPr lang="en-US" sz="1500" dirty="0"/>
          </a:p>
        </p:txBody>
      </p:sp>
      <p:sp>
        <p:nvSpPr>
          <p:cNvPr id="16" name="Text 14"/>
          <p:cNvSpPr/>
          <p:nvPr/>
        </p:nvSpPr>
        <p:spPr>
          <a:xfrm>
            <a:off x="1024128" y="4663440"/>
            <a:ext cx="6675120" cy="457200"/>
          </a:xfrm>
          <a:prstGeom prst="rect">
            <a:avLst/>
          </a:prstGeom>
          <a:noFill/>
          <a:ln/>
        </p:spPr>
        <p:txBody>
          <a:bodyPr wrap="square" lIns="0" tIns="0" rIns="0" bIns="0" rtlCol="0" anchor="ctr"/>
          <a:lstStyle/>
          <a:p>
            <a:pPr indent="0" marL="0">
              <a:lnSpc>
                <a:spcPct val="110000"/>
              </a:lnSpc>
              <a:buNone/>
            </a:pPr>
            <a:r>
              <a:rPr lang="en-US" sz="1200" dirty="0">
                <a:solidFill>
                  <a:srgbClr val="97A0B0"/>
                </a:solidFill>
                <a:latin typeface="Calibri" pitchFamily="34" charset="0"/>
                <a:ea typeface="Calibri" pitchFamily="34" charset="-122"/>
                <a:cs typeface="Calibri" pitchFamily="34" charset="-120"/>
              </a:rPr>
              <a:t>UCIe가 전기 규격을 통일했으나, 이종 벤더 조립은 여전히 사업 · 검증의 문제다.</a:t>
            </a:r>
            <a:endParaRPr lang="en-US" sz="1200" dirty="0"/>
          </a:p>
        </p:txBody>
      </p:sp>
      <p:sp>
        <p:nvSpPr>
          <p:cNvPr id="17" name="Shape 15"/>
          <p:cNvSpPr/>
          <p:nvPr/>
        </p:nvSpPr>
        <p:spPr>
          <a:xfrm>
            <a:off x="7909560" y="1417320"/>
            <a:ext cx="3657600" cy="3977640"/>
          </a:xfrm>
          <a:prstGeom prst="roundRect">
            <a:avLst>
              <a:gd name="adj" fmla="val 1500"/>
            </a:avLst>
          </a:prstGeom>
          <a:solidFill>
            <a:srgbClr val="1E2431"/>
          </a:solidFill>
          <a:ln w="9525">
            <a:solidFill>
              <a:srgbClr val="2C3444"/>
            </a:solidFill>
            <a:prstDash val="solid"/>
          </a:ln>
        </p:spPr>
      </p:sp>
      <p:sp>
        <p:nvSpPr>
          <p:cNvPr id="18" name="Text 16"/>
          <p:cNvSpPr/>
          <p:nvPr/>
        </p:nvSpPr>
        <p:spPr>
          <a:xfrm>
            <a:off x="8183880" y="1591056"/>
            <a:ext cx="310896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전망</a:t>
            </a:r>
            <a:endParaRPr lang="en-US" sz="1400" dirty="0"/>
          </a:p>
        </p:txBody>
      </p:sp>
      <p:sp>
        <p:nvSpPr>
          <p:cNvPr id="19" name="Text 17"/>
          <p:cNvSpPr/>
          <p:nvPr/>
        </p:nvSpPr>
        <p:spPr>
          <a:xfrm>
            <a:off x="8183880" y="1865376"/>
            <a:ext cx="3108960" cy="219456"/>
          </a:xfrm>
          <a:prstGeom prst="rect">
            <a:avLst/>
          </a:prstGeom>
          <a:noFill/>
          <a:ln/>
        </p:spPr>
        <p:txBody>
          <a:bodyPr wrap="square" lIns="0" tIns="0" rIns="0" bIns="0" rtlCol="0" anchor="ctr"/>
          <a:lstStyle/>
          <a:p>
            <a:pPr indent="0" marL="0">
              <a:buNone/>
            </a:pPr>
            <a:r>
              <a:rPr lang="en-US" sz="1000" i="1" dirty="0">
                <a:solidFill>
                  <a:srgbClr val="E09A5F"/>
                </a:solidFill>
                <a:latin typeface="Calibri" pitchFamily="34" charset="0"/>
                <a:ea typeface="Calibri" pitchFamily="34" charset="-122"/>
                <a:cs typeface="Calibri" pitchFamily="34" charset="-120"/>
              </a:rPr>
              <a:t>Outlook</a:t>
            </a:r>
            <a:endParaRPr lang="en-US" sz="1000" dirty="0"/>
          </a:p>
        </p:txBody>
      </p:sp>
      <p:sp>
        <p:nvSpPr>
          <p:cNvPr id="20" name="Shape 18"/>
          <p:cNvSpPr/>
          <p:nvPr/>
        </p:nvSpPr>
        <p:spPr>
          <a:xfrm>
            <a:off x="8202168" y="2340864"/>
            <a:ext cx="137160" cy="137160"/>
          </a:xfrm>
          <a:prstGeom prst="ellipse">
            <a:avLst/>
          </a:prstGeom>
          <a:solidFill>
            <a:srgbClr val="7C97A6"/>
          </a:solidFill>
          <a:ln w="12700">
            <a:solidFill>
              <a:srgbClr val="333333"/>
            </a:solidFill>
            <a:prstDash val="solid"/>
          </a:ln>
        </p:spPr>
      </p:sp>
      <p:sp>
        <p:nvSpPr>
          <p:cNvPr id="21" name="Shape 19"/>
          <p:cNvSpPr/>
          <p:nvPr/>
        </p:nvSpPr>
        <p:spPr>
          <a:xfrm>
            <a:off x="8262518" y="2478024"/>
            <a:ext cx="16459" cy="649224"/>
          </a:xfrm>
          <a:prstGeom prst="rect">
            <a:avLst/>
          </a:prstGeom>
          <a:solidFill>
            <a:srgbClr val="3A4657"/>
          </a:solidFill>
          <a:ln w="12700">
            <a:solidFill>
              <a:srgbClr val="333333"/>
            </a:solidFill>
            <a:prstDash val="solid"/>
          </a:ln>
        </p:spPr>
      </p:sp>
      <p:sp>
        <p:nvSpPr>
          <p:cNvPr id="22" name="Text 20"/>
          <p:cNvSpPr/>
          <p:nvPr/>
        </p:nvSpPr>
        <p:spPr>
          <a:xfrm>
            <a:off x="8476488" y="2286000"/>
            <a:ext cx="1005840" cy="237744"/>
          </a:xfrm>
          <a:prstGeom prst="rect">
            <a:avLst/>
          </a:prstGeom>
          <a:noFill/>
          <a:ln/>
        </p:spPr>
        <p:txBody>
          <a:bodyPr wrap="square" lIns="0" tIns="0" rIns="0" bIns="0" rtlCol="0" anchor="ctr"/>
          <a:lstStyle/>
          <a:p>
            <a:pPr indent="0" marL="0">
              <a:buNone/>
            </a:pPr>
            <a:r>
              <a:rPr lang="en-US" sz="1100" b="1" dirty="0">
                <a:solidFill>
                  <a:srgbClr val="E09A5F"/>
                </a:solidFill>
                <a:latin typeface="Arial" pitchFamily="34" charset="0"/>
                <a:ea typeface="Arial" pitchFamily="34" charset="-122"/>
                <a:cs typeface="Arial" pitchFamily="34" charset="-120"/>
              </a:rPr>
              <a:t>~2020</a:t>
            </a:r>
            <a:endParaRPr lang="en-US" sz="1100" dirty="0"/>
          </a:p>
        </p:txBody>
      </p:sp>
      <p:sp>
        <p:nvSpPr>
          <p:cNvPr id="23" name="Text 21"/>
          <p:cNvSpPr/>
          <p:nvPr/>
        </p:nvSpPr>
        <p:spPr>
          <a:xfrm>
            <a:off x="8476488" y="2523744"/>
            <a:ext cx="2788920" cy="502920"/>
          </a:xfrm>
          <a:prstGeom prst="rect">
            <a:avLst/>
          </a:prstGeom>
          <a:noFill/>
          <a:ln/>
        </p:spPr>
        <p:txBody>
          <a:bodyPr wrap="square" lIns="0" tIns="0" rIns="0" bIns="0" rtlCol="0" anchor="ctr"/>
          <a:lstStyle/>
          <a:p>
            <a:pPr indent="0" marL="0">
              <a:lnSpc>
                <a:spcPct val="108000"/>
              </a:lnSpc>
              <a:buNone/>
            </a:pPr>
            <a:r>
              <a:rPr lang="en-US" sz="1100" dirty="0">
                <a:solidFill>
                  <a:srgbClr val="E7EAF0"/>
                </a:solidFill>
                <a:latin typeface="Calibri" pitchFamily="34" charset="0"/>
                <a:ea typeface="Calibri" pitchFamily="34" charset="-122"/>
                <a:cs typeface="Calibri" pitchFamily="34" charset="-120"/>
              </a:rPr>
              <a:t>유기 기판 2D 분할이 서버 CPU에 정착</a:t>
            </a:r>
            <a:endParaRPr lang="en-US" sz="1100" dirty="0"/>
          </a:p>
        </p:txBody>
      </p:sp>
      <p:sp>
        <p:nvSpPr>
          <p:cNvPr id="24" name="Shape 22"/>
          <p:cNvSpPr/>
          <p:nvPr/>
        </p:nvSpPr>
        <p:spPr>
          <a:xfrm>
            <a:off x="8202168" y="3127248"/>
            <a:ext cx="137160" cy="137160"/>
          </a:xfrm>
          <a:prstGeom prst="ellipse">
            <a:avLst/>
          </a:prstGeom>
          <a:solidFill>
            <a:srgbClr val="7C97A6"/>
          </a:solidFill>
          <a:ln w="12700">
            <a:solidFill>
              <a:srgbClr val="333333"/>
            </a:solidFill>
            <a:prstDash val="solid"/>
          </a:ln>
        </p:spPr>
      </p:sp>
      <p:sp>
        <p:nvSpPr>
          <p:cNvPr id="25" name="Shape 23"/>
          <p:cNvSpPr/>
          <p:nvPr/>
        </p:nvSpPr>
        <p:spPr>
          <a:xfrm>
            <a:off x="8262518" y="3264408"/>
            <a:ext cx="16459" cy="649224"/>
          </a:xfrm>
          <a:prstGeom prst="rect">
            <a:avLst/>
          </a:prstGeom>
          <a:solidFill>
            <a:srgbClr val="3A4657"/>
          </a:solidFill>
          <a:ln w="12700">
            <a:solidFill>
              <a:srgbClr val="333333"/>
            </a:solidFill>
            <a:prstDash val="solid"/>
          </a:ln>
        </p:spPr>
      </p:sp>
      <p:sp>
        <p:nvSpPr>
          <p:cNvPr id="26" name="Text 24"/>
          <p:cNvSpPr/>
          <p:nvPr/>
        </p:nvSpPr>
        <p:spPr>
          <a:xfrm>
            <a:off x="8476488" y="3072384"/>
            <a:ext cx="1005840" cy="237744"/>
          </a:xfrm>
          <a:prstGeom prst="rect">
            <a:avLst/>
          </a:prstGeom>
          <a:noFill/>
          <a:ln/>
        </p:spPr>
        <p:txBody>
          <a:bodyPr wrap="square" lIns="0" tIns="0" rIns="0" bIns="0" rtlCol="0" anchor="ctr"/>
          <a:lstStyle/>
          <a:p>
            <a:pPr indent="0" marL="0">
              <a:buNone/>
            </a:pPr>
            <a:r>
              <a:rPr lang="en-US" sz="1100" b="1" dirty="0">
                <a:solidFill>
                  <a:srgbClr val="E09A5F"/>
                </a:solidFill>
                <a:latin typeface="Arial" pitchFamily="34" charset="0"/>
                <a:ea typeface="Arial" pitchFamily="34" charset="-122"/>
                <a:cs typeface="Arial" pitchFamily="34" charset="-120"/>
              </a:rPr>
              <a:t>2022 –</a:t>
            </a:r>
            <a:endParaRPr lang="en-US" sz="1100" dirty="0"/>
          </a:p>
        </p:txBody>
      </p:sp>
      <p:sp>
        <p:nvSpPr>
          <p:cNvPr id="27" name="Text 25"/>
          <p:cNvSpPr/>
          <p:nvPr/>
        </p:nvSpPr>
        <p:spPr>
          <a:xfrm>
            <a:off x="8476488" y="3310128"/>
            <a:ext cx="2788920" cy="502920"/>
          </a:xfrm>
          <a:prstGeom prst="rect">
            <a:avLst/>
          </a:prstGeom>
          <a:noFill/>
          <a:ln/>
        </p:spPr>
        <p:txBody>
          <a:bodyPr wrap="square" lIns="0" tIns="0" rIns="0" bIns="0" rtlCol="0" anchor="ctr"/>
          <a:lstStyle/>
          <a:p>
            <a:pPr indent="0" marL="0">
              <a:lnSpc>
                <a:spcPct val="108000"/>
              </a:lnSpc>
              <a:buNone/>
            </a:pPr>
            <a:r>
              <a:rPr lang="en-US" sz="1100" dirty="0">
                <a:solidFill>
                  <a:srgbClr val="E7EAF0"/>
                </a:solidFill>
                <a:latin typeface="Calibri" pitchFamily="34" charset="0"/>
                <a:ea typeface="Calibri" pitchFamily="34" charset="-122"/>
                <a:cs typeface="Calibri" pitchFamily="34" charset="-120"/>
              </a:rPr>
              <a:t>2.5D 인터포저 + HBM이 AI 가속기의 기본형이 됨</a:t>
            </a:r>
            <a:endParaRPr lang="en-US" sz="1100" dirty="0"/>
          </a:p>
        </p:txBody>
      </p:sp>
      <p:sp>
        <p:nvSpPr>
          <p:cNvPr id="28" name="Shape 26"/>
          <p:cNvSpPr/>
          <p:nvPr/>
        </p:nvSpPr>
        <p:spPr>
          <a:xfrm>
            <a:off x="8202168" y="3913632"/>
            <a:ext cx="137160" cy="137160"/>
          </a:xfrm>
          <a:prstGeom prst="ellipse">
            <a:avLst/>
          </a:prstGeom>
          <a:solidFill>
            <a:srgbClr val="7C97A6"/>
          </a:solidFill>
          <a:ln w="12700">
            <a:solidFill>
              <a:srgbClr val="333333"/>
            </a:solidFill>
            <a:prstDash val="solid"/>
          </a:ln>
        </p:spPr>
      </p:sp>
      <p:sp>
        <p:nvSpPr>
          <p:cNvPr id="29" name="Shape 27"/>
          <p:cNvSpPr/>
          <p:nvPr/>
        </p:nvSpPr>
        <p:spPr>
          <a:xfrm>
            <a:off x="8262518" y="4050792"/>
            <a:ext cx="16459" cy="649224"/>
          </a:xfrm>
          <a:prstGeom prst="rect">
            <a:avLst/>
          </a:prstGeom>
          <a:solidFill>
            <a:srgbClr val="3A4657"/>
          </a:solidFill>
          <a:ln w="12700">
            <a:solidFill>
              <a:srgbClr val="333333"/>
            </a:solidFill>
            <a:prstDash val="solid"/>
          </a:ln>
        </p:spPr>
      </p:sp>
      <p:sp>
        <p:nvSpPr>
          <p:cNvPr id="30" name="Text 28"/>
          <p:cNvSpPr/>
          <p:nvPr/>
        </p:nvSpPr>
        <p:spPr>
          <a:xfrm>
            <a:off x="8476488" y="3858768"/>
            <a:ext cx="1005840" cy="237744"/>
          </a:xfrm>
          <a:prstGeom prst="rect">
            <a:avLst/>
          </a:prstGeom>
          <a:noFill/>
          <a:ln/>
        </p:spPr>
        <p:txBody>
          <a:bodyPr wrap="square" lIns="0" tIns="0" rIns="0" bIns="0" rtlCol="0" anchor="ctr"/>
          <a:lstStyle/>
          <a:p>
            <a:pPr indent="0" marL="0">
              <a:buNone/>
            </a:pPr>
            <a:r>
              <a:rPr lang="en-US" sz="1100" b="1" dirty="0">
                <a:solidFill>
                  <a:srgbClr val="E09A5F"/>
                </a:solidFill>
                <a:latin typeface="Arial" pitchFamily="34" charset="0"/>
                <a:ea typeface="Arial" pitchFamily="34" charset="-122"/>
                <a:cs typeface="Arial" pitchFamily="34" charset="-120"/>
              </a:rPr>
              <a:t>2024 –</a:t>
            </a:r>
            <a:endParaRPr lang="en-US" sz="1100" dirty="0"/>
          </a:p>
        </p:txBody>
      </p:sp>
      <p:sp>
        <p:nvSpPr>
          <p:cNvPr id="31" name="Text 29"/>
          <p:cNvSpPr/>
          <p:nvPr/>
        </p:nvSpPr>
        <p:spPr>
          <a:xfrm>
            <a:off x="8476488" y="4096512"/>
            <a:ext cx="2788920" cy="502920"/>
          </a:xfrm>
          <a:prstGeom prst="rect">
            <a:avLst/>
          </a:prstGeom>
          <a:noFill/>
          <a:ln/>
        </p:spPr>
        <p:txBody>
          <a:bodyPr wrap="square" lIns="0" tIns="0" rIns="0" bIns="0" rtlCol="0" anchor="ctr"/>
          <a:lstStyle/>
          <a:p>
            <a:pPr indent="0" marL="0">
              <a:lnSpc>
                <a:spcPct val="108000"/>
              </a:lnSpc>
              <a:buNone/>
            </a:pPr>
            <a:r>
              <a:rPr lang="en-US" sz="1100" dirty="0">
                <a:solidFill>
                  <a:srgbClr val="E7EAF0"/>
                </a:solidFill>
                <a:latin typeface="Calibri" pitchFamily="34" charset="0"/>
                <a:ea typeface="Calibri" pitchFamily="34" charset="-122"/>
                <a:cs typeface="Calibri" pitchFamily="34" charset="-120"/>
              </a:rPr>
              <a:t>하이브리드 본딩 양산 진입, 패키지 캐파가 공급을 좌우</a:t>
            </a:r>
            <a:endParaRPr lang="en-US" sz="1100" dirty="0"/>
          </a:p>
        </p:txBody>
      </p:sp>
      <p:sp>
        <p:nvSpPr>
          <p:cNvPr id="32" name="Shape 30"/>
          <p:cNvSpPr/>
          <p:nvPr/>
        </p:nvSpPr>
        <p:spPr>
          <a:xfrm>
            <a:off x="8202168" y="4700016"/>
            <a:ext cx="137160" cy="137160"/>
          </a:xfrm>
          <a:prstGeom prst="ellipse">
            <a:avLst/>
          </a:prstGeom>
          <a:solidFill>
            <a:srgbClr val="E09A5F"/>
          </a:solidFill>
          <a:ln w="12700">
            <a:solidFill>
              <a:srgbClr val="333333"/>
            </a:solidFill>
            <a:prstDash val="solid"/>
          </a:ln>
        </p:spPr>
      </p:sp>
      <p:sp>
        <p:nvSpPr>
          <p:cNvPr id="33" name="Text 31"/>
          <p:cNvSpPr/>
          <p:nvPr/>
        </p:nvSpPr>
        <p:spPr>
          <a:xfrm>
            <a:off x="8476488" y="4645152"/>
            <a:ext cx="1005840" cy="237744"/>
          </a:xfrm>
          <a:prstGeom prst="rect">
            <a:avLst/>
          </a:prstGeom>
          <a:noFill/>
          <a:ln/>
        </p:spPr>
        <p:txBody>
          <a:bodyPr wrap="square" lIns="0" tIns="0" rIns="0" bIns="0" rtlCol="0" anchor="ctr"/>
          <a:lstStyle/>
          <a:p>
            <a:pPr indent="0" marL="0">
              <a:buNone/>
            </a:pPr>
            <a:r>
              <a:rPr lang="en-US" sz="1100" b="1" dirty="0">
                <a:solidFill>
                  <a:srgbClr val="E09A5F"/>
                </a:solidFill>
                <a:latin typeface="Arial" pitchFamily="34" charset="0"/>
                <a:ea typeface="Arial" pitchFamily="34" charset="-122"/>
                <a:cs typeface="Arial" pitchFamily="34" charset="-120"/>
              </a:rPr>
              <a:t>2026 →</a:t>
            </a:r>
            <a:endParaRPr lang="en-US" sz="1100" dirty="0"/>
          </a:p>
        </p:txBody>
      </p:sp>
      <p:sp>
        <p:nvSpPr>
          <p:cNvPr id="34" name="Text 32"/>
          <p:cNvSpPr/>
          <p:nvPr/>
        </p:nvSpPr>
        <p:spPr>
          <a:xfrm>
            <a:off x="8476488" y="4882896"/>
            <a:ext cx="2788920" cy="502920"/>
          </a:xfrm>
          <a:prstGeom prst="rect">
            <a:avLst/>
          </a:prstGeom>
          <a:noFill/>
          <a:ln/>
        </p:spPr>
        <p:txBody>
          <a:bodyPr wrap="square" lIns="0" tIns="0" rIns="0" bIns="0" rtlCol="0" anchor="ctr"/>
          <a:lstStyle/>
          <a:p>
            <a:pPr indent="0" marL="0">
              <a:lnSpc>
                <a:spcPct val="108000"/>
              </a:lnSpc>
              <a:buNone/>
            </a:pPr>
            <a:r>
              <a:rPr lang="en-US" sz="1100" dirty="0">
                <a:solidFill>
                  <a:srgbClr val="E7EAF0"/>
                </a:solidFill>
                <a:latin typeface="Calibri" pitchFamily="34" charset="0"/>
                <a:ea typeface="Calibri" pitchFamily="34" charset="-122"/>
                <a:cs typeface="Calibri" pitchFamily="34" charset="-120"/>
              </a:rPr>
              <a:t>UCIe 기반 이종 벤더 조립 · 광 I/O(CPO) 결합 시도</a:t>
            </a:r>
            <a:endParaRPr lang="en-US" sz="1100" dirty="0"/>
          </a:p>
        </p:txBody>
      </p:sp>
      <p:sp>
        <p:nvSpPr>
          <p:cNvPr id="35" name="Text 33"/>
          <p:cNvSpPr/>
          <p:nvPr/>
        </p:nvSpPr>
        <p:spPr>
          <a:xfrm>
            <a:off x="640080" y="5623560"/>
            <a:ext cx="10881360" cy="320040"/>
          </a:xfrm>
          <a:prstGeom prst="rect">
            <a:avLst/>
          </a:prstGeom>
          <a:noFill/>
          <a:ln/>
        </p:spPr>
        <p:txBody>
          <a:bodyPr wrap="square" lIns="0" tIns="0" rIns="0" bIns="0" rtlCol="0" anchor="ctr"/>
          <a:lstStyle/>
          <a:p>
            <a:pPr indent="0" marL="0">
              <a:buNone/>
            </a:pPr>
            <a:r>
              <a:rPr lang="en-US" sz="1300" i="1" dirty="0">
                <a:solidFill>
                  <a:srgbClr val="E09A5F"/>
                </a:solidFill>
                <a:latin typeface="Calibri" pitchFamily="34" charset="0"/>
                <a:ea typeface="Calibri" pitchFamily="34" charset="-122"/>
                <a:cs typeface="Calibri" pitchFamily="34" charset="-120"/>
              </a:rPr>
              <a:t>칩렛은 무어의 법칙을 대체하지 않는다. 미세화가 느려진 만큼을 패키지에서 벌어오는 것이다.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칩렛(Chiplet) 기술 개요</dc:title>
  <dc:subject>PptxGenJS Presentation</dc:subject>
  <dc:creator>Chiplet Overview</dc:creator>
  <cp:lastModifiedBy>Chiplet Overview</cp:lastModifiedBy>
  <cp:revision>1</cp:revision>
  <dcterms:created xsi:type="dcterms:W3CDTF">2026-08-23T05:29:07Z</dcterms:created>
  <dcterms:modified xsi:type="dcterms:W3CDTF">2026-08-23T05:29:07Z</dcterms:modified>
</cp:coreProperties>
</file>