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56" r:id="rId3"/>
  </p:sldMasterIdLst>
  <p:notesMasterIdLst>
    <p:notesMasterId r:id="rId79"/>
  </p:notesMasterIdLst>
  <p:handoutMasterIdLst>
    <p:handoutMasterId r:id="rId80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</p:sldIdLst>
  <p:sldSz cx="12192000" cy="6858000"/>
  <p:notesSz cx="6858000" cy="9144000"/>
  <p:custDataLst>
    <p:tags r:id="rId81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8F8F6"/>
    <a:srgbClr val="00A5E3"/>
    <a:srgbClr val="00418F"/>
    <a:srgbClr val="00418E"/>
    <a:srgbClr val="F0EFD7"/>
    <a:srgbClr val="003366"/>
    <a:srgbClr val="003399"/>
    <a:srgbClr val="00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676" y="10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79" Type="http://schemas.openxmlformats.org/officeDocument/2006/relationships/notesMaster" Target="notesMasters/notesMaster1.xml"/><Relationship Id="rId80" Type="http://schemas.openxmlformats.org/officeDocument/2006/relationships/handoutMaster" Target="handoutMasters/handoutMaster1.xml"/><Relationship Id="rId81" Type="http://schemas.openxmlformats.org/officeDocument/2006/relationships/tags" Target="tags/tag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Relationship Id="rId86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userId="badf47479cbb63ae" providerId="LiveId" clId="{E920C9B7-3413-447A-80A0-627C4771214D}"/>
    <pc:docChg chg="undo custSel addSld delSld modSld modMainMaster">
      <pc:chgData name="" userId="badf47479cbb63ae" providerId="LiveId" clId="{E920C9B7-3413-447A-80A0-627C4771214D}" dt="2026-08-18T15:39:28.352" v="292" actId="1076"/>
      <pc:docMkLst>
        <pc:docMk/>
      </pc:docMkLst>
      <pc:sldChg chg="delSp modSp add del">
        <pc:chgData name="" userId="badf47479cbb63ae" providerId="LiveId" clId="{E920C9B7-3413-447A-80A0-627C4771214D}" dt="2026-08-18T15:14:02.593" v="275" actId="1076"/>
        <pc:sldMkLst>
          <pc:docMk/>
          <pc:sldMk cId="3058537624" sldId="966"/>
        </pc:sldMkLst>
        <pc:spChg chg="mod">
          <ac:chgData name="" userId="badf47479cbb63ae" providerId="LiveId" clId="{E920C9B7-3413-447A-80A0-627C4771214D}" dt="2026-08-18T15:12:49.542" v="81" actId="20577"/>
          <ac:spMkLst>
            <pc:docMk/>
            <pc:sldMk cId="3058537624" sldId="966"/>
            <ac:spMk id="2" creationId="{305D9366-86CC-4DD7-8FFC-D629346B7722}"/>
          </ac:spMkLst>
        </pc:spChg>
        <pc:spChg chg="mod">
          <ac:chgData name="" userId="badf47479cbb63ae" providerId="LiveId" clId="{E920C9B7-3413-447A-80A0-627C4771214D}" dt="2026-08-18T15:14:02.593" v="275" actId="1076"/>
          <ac:spMkLst>
            <pc:docMk/>
            <pc:sldMk cId="3058537624" sldId="966"/>
            <ac:spMk id="3" creationId="{FCF79004-BC57-49D1-9FB4-64CAE48FFA9D}"/>
          </ac:spMkLst>
        </pc:spChg>
        <pc:spChg chg="del">
          <ac:chgData name="" userId="badf47479cbb63ae" providerId="LiveId" clId="{E920C9B7-3413-447A-80A0-627C4771214D}" dt="2026-08-18T15:13:45.302" v="272" actId="478"/>
          <ac:spMkLst>
            <pc:docMk/>
            <pc:sldMk cId="3058537624" sldId="966"/>
            <ac:spMk id="7" creationId="{DB8074F9-A423-4771-80BD-AE2DEB044FAF}"/>
          </ac:spMkLst>
        </pc:spChg>
      </pc:sldChg>
      <pc:sldChg chg="del">
        <pc:chgData name="" userId="badf47479cbb63ae" providerId="LiveId" clId="{E920C9B7-3413-447A-80A0-627C4771214D}" dt="2026-08-18T15:17:11.952" v="276" actId="2696"/>
        <pc:sldMkLst>
          <pc:docMk/>
          <pc:sldMk cId="3143285026" sldId="991"/>
        </pc:sldMkLst>
      </pc:sldChg>
      <pc:sldChg chg="del">
        <pc:chgData name="" userId="badf47479cbb63ae" providerId="LiveId" clId="{E920C9B7-3413-447A-80A0-627C4771214D}" dt="2026-08-18T15:17:13.508" v="277" actId="2696"/>
        <pc:sldMkLst>
          <pc:docMk/>
          <pc:sldMk cId="3122337012" sldId="996"/>
        </pc:sldMkLst>
      </pc:sldChg>
      <pc:sldChg chg="del">
        <pc:chgData name="" userId="badf47479cbb63ae" providerId="LiveId" clId="{E920C9B7-3413-447A-80A0-627C4771214D}" dt="2026-08-18T15:17:17.961" v="279" actId="2696"/>
        <pc:sldMkLst>
          <pc:docMk/>
          <pc:sldMk cId="946086516" sldId="999"/>
        </pc:sldMkLst>
      </pc:sldChg>
      <pc:sldChg chg="add del">
        <pc:chgData name="" userId="badf47479cbb63ae" providerId="LiveId" clId="{E920C9B7-3413-447A-80A0-627C4771214D}" dt="2026-08-18T15:17:27.128" v="282" actId="2696"/>
        <pc:sldMkLst>
          <pc:docMk/>
          <pc:sldMk cId="274937448" sldId="1000"/>
        </pc:sldMkLst>
      </pc:sldChg>
      <pc:sldChg chg="del">
        <pc:chgData name="" userId="badf47479cbb63ae" providerId="LiveId" clId="{E920C9B7-3413-447A-80A0-627C4771214D}" dt="2026-08-18T15:17:29.068" v="283" actId="2696"/>
        <pc:sldMkLst>
          <pc:docMk/>
          <pc:sldMk cId="3304754363" sldId="1001"/>
        </pc:sldMkLst>
      </pc:sldChg>
      <pc:sldChg chg="del">
        <pc:chgData name="" userId="badf47479cbb63ae" providerId="LiveId" clId="{E920C9B7-3413-447A-80A0-627C4771214D}" dt="2026-08-18T15:17:16.510" v="278" actId="2696"/>
        <pc:sldMkLst>
          <pc:docMk/>
          <pc:sldMk cId="4059574470" sldId="1002"/>
        </pc:sldMkLst>
      </pc:sldChg>
      <pc:sldMasterChg chg="modSldLayout">
        <pc:chgData name="" userId="badf47479cbb63ae" providerId="LiveId" clId="{E920C9B7-3413-447A-80A0-627C4771214D}" dt="2026-08-18T15:39:28.352" v="292" actId="1076"/>
        <pc:sldMasterMkLst>
          <pc:docMk/>
          <pc:sldMasterMk cId="0" sldId="2147483648"/>
        </pc:sldMasterMkLst>
        <pc:sldLayoutChg chg="addSp delSp modSp">
          <pc:chgData name="" userId="badf47479cbb63ae" providerId="LiveId" clId="{E920C9B7-3413-447A-80A0-627C4771214D}" dt="2026-08-18T15:39:28.352" v="292" actId="1076"/>
          <pc:sldLayoutMkLst>
            <pc:docMk/>
            <pc:sldMasterMk cId="0" sldId="2147483648"/>
            <pc:sldLayoutMk cId="0" sldId="2147483650"/>
          </pc:sldLayoutMkLst>
          <pc:spChg chg="add mod">
            <ac:chgData name="" userId="badf47479cbb63ae" providerId="LiveId" clId="{E920C9B7-3413-447A-80A0-627C4771214D}" dt="2026-08-18T15:39:25.048" v="291" actId="1076"/>
            <ac:spMkLst>
              <pc:docMk/>
              <pc:sldMasterMk cId="0" sldId="2147483648"/>
              <pc:sldLayoutMk cId="0" sldId="2147483650"/>
              <ac:spMk id="8" creationId="{464515C7-0FE4-404A-A97A-829DE3C7607E}"/>
            </ac:spMkLst>
          </pc:spChg>
          <pc:picChg chg="add del">
            <ac:chgData name="" userId="badf47479cbb63ae" providerId="LiveId" clId="{E920C9B7-3413-447A-80A0-627C4771214D}" dt="2026-08-18T15:39:15.944" v="287" actId="478"/>
            <ac:picMkLst>
              <pc:docMk/>
              <pc:sldMasterMk cId="0" sldId="2147483648"/>
              <pc:sldLayoutMk cId="0" sldId="2147483650"/>
              <ac:picMk id="7" creationId="{19549D09-3324-44FD-9303-301090DA7BB6}"/>
            </ac:picMkLst>
          </pc:picChg>
          <pc:picChg chg="add mod">
            <ac:chgData name="" userId="badf47479cbb63ae" providerId="LiveId" clId="{E920C9B7-3413-447A-80A0-627C4771214D}" dt="2026-08-18T15:39:28.352" v="292" actId="1076"/>
            <ac:picMkLst>
              <pc:docMk/>
              <pc:sldMasterMk cId="0" sldId="2147483648"/>
              <pc:sldLayoutMk cId="0" sldId="2147483650"/>
              <ac:picMk id="9" creationId="{2BEC1152-E871-4917-BE8D-37EF2E3E2915}"/>
            </ac:picMkLst>
          </pc:picChg>
        </pc:sldLayoutChg>
      </pc:sldMasterChg>
    </pc:docChg>
  </pc:docChgLst>
  <pc:docChgLst>
    <pc:chgData userId="badf47479cbb63ae" providerId="LiveId" clId="{7E472793-A177-49D5-BD61-6DD5B9115B00}"/>
    <pc:docChg chg="modSld">
      <pc:chgData name="" userId="badf47479cbb63ae" providerId="LiveId" clId="{7E472793-A177-49D5-BD61-6DD5B9115B00}" dt="2026-07-17T03:33:37.185" v="60" actId="20577"/>
      <pc:docMkLst>
        <pc:docMk/>
      </pc:docMkLst>
      <pc:sldChg chg="modNotesTx">
        <pc:chgData name="" userId="badf47479cbb63ae" providerId="LiveId" clId="{7E472793-A177-49D5-BD61-6DD5B9115B00}" dt="2026-07-17T03:31:31.431" v="1" actId="20577"/>
        <pc:sldMkLst>
          <pc:docMk/>
          <pc:sldMk cId="2500748969" sldId="977"/>
        </pc:sldMkLst>
      </pc:sldChg>
      <pc:sldChg chg="modNotesTx">
        <pc:chgData name="" userId="badf47479cbb63ae" providerId="LiveId" clId="{7E472793-A177-49D5-BD61-6DD5B9115B00}" dt="2026-07-17T03:31:29.553" v="0" actId="20577"/>
        <pc:sldMkLst>
          <pc:docMk/>
          <pc:sldMk cId="2572639169" sldId="978"/>
        </pc:sldMkLst>
      </pc:sldChg>
      <pc:sldChg chg="modNotesTx">
        <pc:chgData name="" userId="badf47479cbb63ae" providerId="LiveId" clId="{7E472793-A177-49D5-BD61-6DD5B9115B00}" dt="2026-07-17T03:31:50.007" v="11" actId="20577"/>
        <pc:sldMkLst>
          <pc:docMk/>
          <pc:sldMk cId="272535668" sldId="979"/>
        </pc:sldMkLst>
      </pc:sldChg>
      <pc:sldChg chg="modNotesTx">
        <pc:chgData name="" userId="badf47479cbb63ae" providerId="LiveId" clId="{7E472793-A177-49D5-BD61-6DD5B9115B00}" dt="2026-07-17T03:31:33.783" v="2" actId="20577"/>
        <pc:sldMkLst>
          <pc:docMk/>
          <pc:sldMk cId="3432906846" sldId="980"/>
        </pc:sldMkLst>
      </pc:sldChg>
      <pc:sldChg chg="modNotesTx">
        <pc:chgData name="" userId="badf47479cbb63ae" providerId="LiveId" clId="{7E472793-A177-49D5-BD61-6DD5B9115B00}" dt="2026-07-17T03:31:37.565" v="4" actId="20577"/>
        <pc:sldMkLst>
          <pc:docMk/>
          <pc:sldMk cId="1386029502" sldId="982"/>
        </pc:sldMkLst>
      </pc:sldChg>
      <pc:sldChg chg="modNotesTx">
        <pc:chgData name="" userId="badf47479cbb63ae" providerId="LiveId" clId="{7E472793-A177-49D5-BD61-6DD5B9115B00}" dt="2026-07-17T03:31:39.513" v="5" actId="20577"/>
        <pc:sldMkLst>
          <pc:docMk/>
          <pc:sldMk cId="672058829" sldId="983"/>
        </pc:sldMkLst>
      </pc:sldChg>
      <pc:sldChg chg="modNotesTx">
        <pc:chgData name="" userId="badf47479cbb63ae" providerId="LiveId" clId="{7E472793-A177-49D5-BD61-6DD5B9115B00}" dt="2026-07-17T03:31:41.099" v="6" actId="20577"/>
        <pc:sldMkLst>
          <pc:docMk/>
          <pc:sldMk cId="377836383" sldId="984"/>
        </pc:sldMkLst>
      </pc:sldChg>
      <pc:sldChg chg="modNotesTx">
        <pc:chgData name="" userId="badf47479cbb63ae" providerId="LiveId" clId="{7E472793-A177-49D5-BD61-6DD5B9115B00}" dt="2026-07-17T03:31:43.126" v="7" actId="20577"/>
        <pc:sldMkLst>
          <pc:docMk/>
          <pc:sldMk cId="2288344748" sldId="985"/>
        </pc:sldMkLst>
      </pc:sldChg>
      <pc:sldChg chg="modNotesTx">
        <pc:chgData name="" userId="badf47479cbb63ae" providerId="LiveId" clId="{7E472793-A177-49D5-BD61-6DD5B9115B00}" dt="2026-07-17T03:31:44.798" v="8" actId="20577"/>
        <pc:sldMkLst>
          <pc:docMk/>
          <pc:sldMk cId="1850986931" sldId="986"/>
        </pc:sldMkLst>
      </pc:sldChg>
      <pc:sldChg chg="modNotesTx">
        <pc:chgData name="" userId="badf47479cbb63ae" providerId="LiveId" clId="{7E472793-A177-49D5-BD61-6DD5B9115B00}" dt="2026-07-17T03:31:46.543" v="9" actId="20577"/>
        <pc:sldMkLst>
          <pc:docMk/>
          <pc:sldMk cId="2157768909" sldId="987"/>
        </pc:sldMkLst>
      </pc:sldChg>
      <pc:sldChg chg="modNotesTx">
        <pc:chgData name="" userId="badf47479cbb63ae" providerId="LiveId" clId="{7E472793-A177-49D5-BD61-6DD5B9115B00}" dt="2026-07-17T03:31:48.295" v="10" actId="20577"/>
        <pc:sldMkLst>
          <pc:docMk/>
          <pc:sldMk cId="1469562628" sldId="988"/>
        </pc:sldMkLst>
      </pc:sldChg>
      <pc:sldChg chg="modNotesTx">
        <pc:chgData name="" userId="badf47479cbb63ae" providerId="LiveId" clId="{7E472793-A177-49D5-BD61-6DD5B9115B00}" dt="2026-07-17T03:31:51.653" v="12" actId="20577"/>
        <pc:sldMkLst>
          <pc:docMk/>
          <pc:sldMk cId="337166099" sldId="989"/>
        </pc:sldMkLst>
      </pc:sldChg>
      <pc:sldChg chg="modNotesTx">
        <pc:chgData name="" userId="badf47479cbb63ae" providerId="LiveId" clId="{7E472793-A177-49D5-BD61-6DD5B9115B00}" dt="2026-07-17T03:32:09.494" v="21" actId="20577"/>
        <pc:sldMkLst>
          <pc:docMk/>
          <pc:sldMk cId="912400619" sldId="990"/>
        </pc:sldMkLst>
      </pc:sldChg>
      <pc:sldChg chg="modNotesTx">
        <pc:chgData name="" userId="badf47479cbb63ae" providerId="LiveId" clId="{7E472793-A177-49D5-BD61-6DD5B9115B00}" dt="2026-07-17T03:32:06.276" v="19" actId="20577"/>
        <pc:sldMkLst>
          <pc:docMk/>
          <pc:sldMk cId="2739553435" sldId="992"/>
        </pc:sldMkLst>
      </pc:sldChg>
      <pc:sldChg chg="modNotesTx">
        <pc:chgData name="" userId="badf47479cbb63ae" providerId="LiveId" clId="{7E472793-A177-49D5-BD61-6DD5B9115B00}" dt="2026-07-17T03:32:07.941" v="20" actId="20577"/>
        <pc:sldMkLst>
          <pc:docMk/>
          <pc:sldMk cId="2328931475" sldId="993"/>
        </pc:sldMkLst>
      </pc:sldChg>
      <pc:sldChg chg="modNotesTx">
        <pc:chgData name="" userId="badf47479cbb63ae" providerId="LiveId" clId="{7E472793-A177-49D5-BD61-6DD5B9115B00}" dt="2026-07-17T03:32:10.942" v="22" actId="20577"/>
        <pc:sldMkLst>
          <pc:docMk/>
          <pc:sldMk cId="3269142310" sldId="994"/>
        </pc:sldMkLst>
      </pc:sldChg>
      <pc:sldChg chg="modNotesTx">
        <pc:chgData name="" userId="badf47479cbb63ae" providerId="LiveId" clId="{7E472793-A177-49D5-BD61-6DD5B9115B00}" dt="2026-07-17T03:32:12.509" v="23" actId="20577"/>
        <pc:sldMkLst>
          <pc:docMk/>
          <pc:sldMk cId="3231323678" sldId="995"/>
        </pc:sldMkLst>
      </pc:sldChg>
      <pc:sldChg chg="modNotesTx">
        <pc:chgData name="" userId="badf47479cbb63ae" providerId="LiveId" clId="{7E472793-A177-49D5-BD61-6DD5B9115B00}" dt="2026-07-17T03:32:14.149" v="24" actId="20577"/>
        <pc:sldMkLst>
          <pc:docMk/>
          <pc:sldMk cId="3581887177" sldId="997"/>
        </pc:sldMkLst>
      </pc:sldChg>
      <pc:sldChg chg="modNotesTx">
        <pc:chgData name="" userId="badf47479cbb63ae" providerId="LiveId" clId="{7E472793-A177-49D5-BD61-6DD5B9115B00}" dt="2026-07-17T03:32:15.841" v="25" actId="20577"/>
        <pc:sldMkLst>
          <pc:docMk/>
          <pc:sldMk cId="3385568894" sldId="998"/>
        </pc:sldMkLst>
      </pc:sldChg>
      <pc:sldChg chg="modNotesTx">
        <pc:chgData name="" userId="badf47479cbb63ae" providerId="LiveId" clId="{7E472793-A177-49D5-BD61-6DD5B9115B00}" dt="2026-07-17T03:32:17.343" v="26" actId="20577"/>
        <pc:sldMkLst>
          <pc:docMk/>
          <pc:sldMk cId="4225142575" sldId="1004"/>
        </pc:sldMkLst>
      </pc:sldChg>
      <pc:sldChg chg="modNotesTx">
        <pc:chgData name="" userId="badf47479cbb63ae" providerId="LiveId" clId="{7E472793-A177-49D5-BD61-6DD5B9115B00}" dt="2026-07-17T03:32:21.094" v="28" actId="20577"/>
        <pc:sldMkLst>
          <pc:docMk/>
          <pc:sldMk cId="3398641361" sldId="1006"/>
        </pc:sldMkLst>
      </pc:sldChg>
      <pc:sldChg chg="modNotesTx">
        <pc:chgData name="" userId="badf47479cbb63ae" providerId="LiveId" clId="{7E472793-A177-49D5-BD61-6DD5B9115B00}" dt="2026-07-17T03:32:18.984" v="27" actId="20577"/>
        <pc:sldMkLst>
          <pc:docMk/>
          <pc:sldMk cId="1435658538" sldId="1007"/>
        </pc:sldMkLst>
      </pc:sldChg>
      <pc:sldChg chg="modNotesTx">
        <pc:chgData name="" userId="badf47479cbb63ae" providerId="LiveId" clId="{7E472793-A177-49D5-BD61-6DD5B9115B00}" dt="2026-07-17T03:32:23.678" v="29" actId="20577"/>
        <pc:sldMkLst>
          <pc:docMk/>
          <pc:sldMk cId="3152541586" sldId="1008"/>
        </pc:sldMkLst>
      </pc:sldChg>
      <pc:sldChg chg="modNotesTx">
        <pc:chgData name="" userId="badf47479cbb63ae" providerId="LiveId" clId="{7E472793-A177-49D5-BD61-6DD5B9115B00}" dt="2026-07-17T03:32:26.221" v="30" actId="20577"/>
        <pc:sldMkLst>
          <pc:docMk/>
          <pc:sldMk cId="2628602998" sldId="1010"/>
        </pc:sldMkLst>
      </pc:sldChg>
      <pc:sldChg chg="modNotesTx">
        <pc:chgData name="" userId="badf47479cbb63ae" providerId="LiveId" clId="{7E472793-A177-49D5-BD61-6DD5B9115B00}" dt="2026-07-17T03:32:30.862" v="31" actId="20577"/>
        <pc:sldMkLst>
          <pc:docMk/>
          <pc:sldMk cId="3501520473" sldId="1014"/>
        </pc:sldMkLst>
      </pc:sldChg>
      <pc:sldChg chg="modNotesTx">
        <pc:chgData name="" userId="badf47479cbb63ae" providerId="LiveId" clId="{7E472793-A177-49D5-BD61-6DD5B9115B00}" dt="2026-07-17T03:32:35.821" v="34" actId="20577"/>
        <pc:sldMkLst>
          <pc:docMk/>
          <pc:sldMk cId="202841336" sldId="1015"/>
        </pc:sldMkLst>
      </pc:sldChg>
      <pc:sldChg chg="modNotesTx">
        <pc:chgData name="" userId="badf47479cbb63ae" providerId="LiveId" clId="{7E472793-A177-49D5-BD61-6DD5B9115B00}" dt="2026-07-17T03:32:44.020" v="39" actId="20577"/>
        <pc:sldMkLst>
          <pc:docMk/>
          <pc:sldMk cId="2494342123" sldId="1017"/>
        </pc:sldMkLst>
      </pc:sldChg>
      <pc:sldChg chg="modNotesTx">
        <pc:chgData name="" userId="badf47479cbb63ae" providerId="LiveId" clId="{7E472793-A177-49D5-BD61-6DD5B9115B00}" dt="2026-07-17T03:32:40.976" v="37" actId="20577"/>
        <pc:sldMkLst>
          <pc:docMk/>
          <pc:sldMk cId="2255105453" sldId="1021"/>
        </pc:sldMkLst>
      </pc:sldChg>
      <pc:sldChg chg="modNotesTx">
        <pc:chgData name="" userId="badf47479cbb63ae" providerId="LiveId" clId="{7E472793-A177-49D5-BD61-6DD5B9115B00}" dt="2026-07-17T03:32:37.775" v="35" actId="20577"/>
        <pc:sldMkLst>
          <pc:docMk/>
          <pc:sldMk cId="3189074991" sldId="1022"/>
        </pc:sldMkLst>
      </pc:sldChg>
      <pc:sldChg chg="modNotesTx">
        <pc:chgData name="" userId="badf47479cbb63ae" providerId="LiveId" clId="{7E472793-A177-49D5-BD61-6DD5B9115B00}" dt="2026-07-17T03:32:39.447" v="36" actId="20577"/>
        <pc:sldMkLst>
          <pc:docMk/>
          <pc:sldMk cId="3376444031" sldId="1023"/>
        </pc:sldMkLst>
      </pc:sldChg>
      <pc:sldChg chg="modNotesTx">
        <pc:chgData name="" userId="badf47479cbb63ae" providerId="LiveId" clId="{7E472793-A177-49D5-BD61-6DD5B9115B00}" dt="2026-07-17T03:32:32.719" v="32" actId="20577"/>
        <pc:sldMkLst>
          <pc:docMk/>
          <pc:sldMk cId="3625706998" sldId="1024"/>
        </pc:sldMkLst>
      </pc:sldChg>
      <pc:sldChg chg="modNotesTx">
        <pc:chgData name="" userId="badf47479cbb63ae" providerId="LiveId" clId="{7E472793-A177-49D5-BD61-6DD5B9115B00}" dt="2026-07-17T03:32:34.271" v="33" actId="20577"/>
        <pc:sldMkLst>
          <pc:docMk/>
          <pc:sldMk cId="63500775" sldId="1025"/>
        </pc:sldMkLst>
      </pc:sldChg>
      <pc:sldChg chg="modNotesTx">
        <pc:chgData name="" userId="badf47479cbb63ae" providerId="LiveId" clId="{7E472793-A177-49D5-BD61-6DD5B9115B00}" dt="2026-07-17T03:32:42.527" v="38" actId="20577"/>
        <pc:sldMkLst>
          <pc:docMk/>
          <pc:sldMk cId="803560648" sldId="1026"/>
        </pc:sldMkLst>
      </pc:sldChg>
      <pc:sldChg chg="modNotesTx">
        <pc:chgData name="" userId="badf47479cbb63ae" providerId="LiveId" clId="{7E472793-A177-49D5-BD61-6DD5B9115B00}" dt="2026-07-17T03:32:45.623" v="40" actId="20577"/>
        <pc:sldMkLst>
          <pc:docMk/>
          <pc:sldMk cId="3120576367" sldId="1035"/>
        </pc:sldMkLst>
      </pc:sldChg>
      <pc:sldChg chg="modNotesTx">
        <pc:chgData name="" userId="badf47479cbb63ae" providerId="LiveId" clId="{7E472793-A177-49D5-BD61-6DD5B9115B00}" dt="2026-07-17T03:32:48.270" v="41" actId="20577"/>
        <pc:sldMkLst>
          <pc:docMk/>
          <pc:sldMk cId="3671591987" sldId="1043"/>
        </pc:sldMkLst>
      </pc:sldChg>
      <pc:sldChg chg="modNotesTx">
        <pc:chgData name="" userId="badf47479cbb63ae" providerId="LiveId" clId="{7E472793-A177-49D5-BD61-6DD5B9115B00}" dt="2026-07-17T03:32:54.584" v="42" actId="20577"/>
        <pc:sldMkLst>
          <pc:docMk/>
          <pc:sldMk cId="3208239851" sldId="1044"/>
        </pc:sldMkLst>
      </pc:sldChg>
      <pc:sldChg chg="modNotesTx">
        <pc:chgData name="" userId="badf47479cbb63ae" providerId="LiveId" clId="{7E472793-A177-49D5-BD61-6DD5B9115B00}" dt="2026-07-17T03:32:58.013" v="43" actId="20577"/>
        <pc:sldMkLst>
          <pc:docMk/>
          <pc:sldMk cId="1940491093" sldId="1045"/>
        </pc:sldMkLst>
      </pc:sldChg>
      <pc:sldChg chg="modNotesTx">
        <pc:chgData name="" userId="badf47479cbb63ae" providerId="LiveId" clId="{7E472793-A177-49D5-BD61-6DD5B9115B00}" dt="2026-07-17T03:33:01.934" v="45" actId="20577"/>
        <pc:sldMkLst>
          <pc:docMk/>
          <pc:sldMk cId="3656698780" sldId="1046"/>
        </pc:sldMkLst>
      </pc:sldChg>
      <pc:sldChg chg="modNotesTx">
        <pc:chgData name="" userId="badf47479cbb63ae" providerId="LiveId" clId="{7E472793-A177-49D5-BD61-6DD5B9115B00}" dt="2026-07-17T03:33:03.783" v="46" actId="20577"/>
        <pc:sldMkLst>
          <pc:docMk/>
          <pc:sldMk cId="4169177704" sldId="1047"/>
        </pc:sldMkLst>
      </pc:sldChg>
      <pc:sldChg chg="modNotesTx">
        <pc:chgData name="" userId="badf47479cbb63ae" providerId="LiveId" clId="{7E472793-A177-49D5-BD61-6DD5B9115B00}" dt="2026-07-17T03:33:00.046" v="44" actId="20577"/>
        <pc:sldMkLst>
          <pc:docMk/>
          <pc:sldMk cId="1171550666" sldId="1048"/>
        </pc:sldMkLst>
      </pc:sldChg>
      <pc:sldChg chg="modNotesTx">
        <pc:chgData name="" userId="badf47479cbb63ae" providerId="LiveId" clId="{7E472793-A177-49D5-BD61-6DD5B9115B00}" dt="2026-07-17T03:33:05.613" v="47" actId="20577"/>
        <pc:sldMkLst>
          <pc:docMk/>
          <pc:sldMk cId="1174253102" sldId="1049"/>
        </pc:sldMkLst>
      </pc:sldChg>
      <pc:sldChg chg="modNotesTx">
        <pc:chgData name="" userId="badf47479cbb63ae" providerId="LiveId" clId="{7E472793-A177-49D5-BD61-6DD5B9115B00}" dt="2026-07-17T03:33:07.293" v="48" actId="20577"/>
        <pc:sldMkLst>
          <pc:docMk/>
          <pc:sldMk cId="4230978040" sldId="1050"/>
        </pc:sldMkLst>
      </pc:sldChg>
      <pc:sldChg chg="modNotesTx">
        <pc:chgData name="" userId="badf47479cbb63ae" providerId="LiveId" clId="{7E472793-A177-49D5-BD61-6DD5B9115B00}" dt="2026-07-17T03:33:09.029" v="49" actId="20577"/>
        <pc:sldMkLst>
          <pc:docMk/>
          <pc:sldMk cId="2691898673" sldId="1051"/>
        </pc:sldMkLst>
      </pc:sldChg>
      <pc:sldChg chg="modNotesTx">
        <pc:chgData name="" userId="badf47479cbb63ae" providerId="LiveId" clId="{7E472793-A177-49D5-BD61-6DD5B9115B00}" dt="2026-07-17T03:33:12.406" v="51" actId="20577"/>
        <pc:sldMkLst>
          <pc:docMk/>
          <pc:sldMk cId="1017172888" sldId="1052"/>
        </pc:sldMkLst>
      </pc:sldChg>
      <pc:sldChg chg="modNotesTx">
        <pc:chgData name="" userId="badf47479cbb63ae" providerId="LiveId" clId="{7E472793-A177-49D5-BD61-6DD5B9115B00}" dt="2026-07-17T03:33:14.015" v="52" actId="20577"/>
        <pc:sldMkLst>
          <pc:docMk/>
          <pc:sldMk cId="1229170376" sldId="1054"/>
        </pc:sldMkLst>
      </pc:sldChg>
      <pc:sldChg chg="modNotesTx">
        <pc:chgData name="" userId="badf47479cbb63ae" providerId="LiveId" clId="{7E472793-A177-49D5-BD61-6DD5B9115B00}" dt="2026-07-17T03:33:15.598" v="53" actId="20577"/>
        <pc:sldMkLst>
          <pc:docMk/>
          <pc:sldMk cId="513967006" sldId="1055"/>
        </pc:sldMkLst>
      </pc:sldChg>
      <pc:sldChg chg="modNotesTx">
        <pc:chgData name="" userId="badf47479cbb63ae" providerId="LiveId" clId="{7E472793-A177-49D5-BD61-6DD5B9115B00}" dt="2026-07-17T03:33:17.518" v="54" actId="20577"/>
        <pc:sldMkLst>
          <pc:docMk/>
          <pc:sldMk cId="1697949346" sldId="1056"/>
        </pc:sldMkLst>
      </pc:sldChg>
      <pc:sldChg chg="modNotesTx">
        <pc:chgData name="" userId="badf47479cbb63ae" providerId="LiveId" clId="{7E472793-A177-49D5-BD61-6DD5B9115B00}" dt="2026-07-17T03:33:10.581" v="50" actId="20577"/>
        <pc:sldMkLst>
          <pc:docMk/>
          <pc:sldMk cId="2857808633" sldId="1057"/>
        </pc:sldMkLst>
      </pc:sldChg>
      <pc:sldChg chg="modNotesTx">
        <pc:chgData name="" userId="badf47479cbb63ae" providerId="LiveId" clId="{7E472793-A177-49D5-BD61-6DD5B9115B00}" dt="2026-07-17T03:33:21.855" v="55" actId="20577"/>
        <pc:sldMkLst>
          <pc:docMk/>
          <pc:sldMk cId="183016347" sldId="1061"/>
        </pc:sldMkLst>
      </pc:sldChg>
      <pc:sldChg chg="modNotesTx">
        <pc:chgData name="" userId="badf47479cbb63ae" providerId="LiveId" clId="{7E472793-A177-49D5-BD61-6DD5B9115B00}" dt="2026-07-17T03:33:23.515" v="56" actId="20577"/>
        <pc:sldMkLst>
          <pc:docMk/>
          <pc:sldMk cId="498333223" sldId="1064"/>
        </pc:sldMkLst>
      </pc:sldChg>
      <pc:sldChg chg="modNotesTx">
        <pc:chgData name="" userId="badf47479cbb63ae" providerId="LiveId" clId="{7E472793-A177-49D5-BD61-6DD5B9115B00}" dt="2026-07-17T03:33:28.232" v="57" actId="20577"/>
        <pc:sldMkLst>
          <pc:docMk/>
          <pc:sldMk cId="1262088655" sldId="1066"/>
        </pc:sldMkLst>
      </pc:sldChg>
      <pc:sldChg chg="modNotesTx">
        <pc:chgData name="" userId="badf47479cbb63ae" providerId="LiveId" clId="{7E472793-A177-49D5-BD61-6DD5B9115B00}" dt="2026-07-17T03:33:33.246" v="58" actId="20577"/>
        <pc:sldMkLst>
          <pc:docMk/>
          <pc:sldMk cId="3594381134" sldId="1074"/>
        </pc:sldMkLst>
      </pc:sldChg>
      <pc:sldChg chg="modNotesTx">
        <pc:chgData name="" userId="badf47479cbb63ae" providerId="LiveId" clId="{7E472793-A177-49D5-BD61-6DD5B9115B00}" dt="2026-07-17T03:33:37.185" v="60" actId="20577"/>
        <pc:sldMkLst>
          <pc:docMk/>
          <pc:sldMk cId="198818774" sldId="1075"/>
        </pc:sldMkLst>
      </pc:sldChg>
      <pc:sldChg chg="modNotesTx">
        <pc:chgData name="" userId="badf47479cbb63ae" providerId="LiveId" clId="{7E472793-A177-49D5-BD61-6DD5B9115B00}" dt="2026-07-17T03:33:35.397" v="59" actId="20577"/>
        <pc:sldMkLst>
          <pc:docMk/>
          <pc:sldMk cId="582650724" sldId="1076"/>
        </pc:sldMkLst>
      </pc:sldChg>
      <pc:sldChg chg="modNotesTx">
        <pc:chgData name="" userId="badf47479cbb63ae" providerId="LiveId" clId="{7E472793-A177-49D5-BD61-6DD5B9115B00}" dt="2026-07-17T03:31:35.773" v="3" actId="20577"/>
        <pc:sldMkLst>
          <pc:docMk/>
          <pc:sldMk cId="3426410222" sldId="1083"/>
        </pc:sldMkLst>
      </pc:sldChg>
    </pc:docChg>
  </pc:docChgLst>
  <pc:docChgLst>
    <pc:chgData userId="badf47479cbb63ae" providerId="LiveId" clId="{487DF51B-300E-4ECE-A8DE-C546440AFF02}"/>
  </pc:docChgLst>
  <pc:docChgLst>
    <pc:chgData userId="badf47479cbb63ae" providerId="LiveId" clId="{6598C350-8762-4B5E-A894-A3E2EE0F13A8}"/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D₀ = 0.07 /cm²</c:v>
                </c:pt>
              </c:strCache>
            </c:strRef>
          </c:tx>
          <c:spPr>
            <a:ln w="28575">
              <a:solidFill>
                <a:srgbClr val="00418E"/>
              </a:solidFill>
            </a:ln>
          </c:spPr>
          <c:marker>
            <c:symbol val="none"/>
          </c:marker>
          <c:cat>
            <c:strRef>
              <c:f>Sheet1!$A$2:$A$10</c:f>
              <c:strCache>
                <c:ptCount val="9"/>
                <c:pt idx="0">
                  <c:v>50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858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96.6</c:v>
                </c:pt>
                <c:pt idx="1">
                  <c:v>93.3</c:v>
                </c:pt>
                <c:pt idx="2">
                  <c:v>87.1</c:v>
                </c:pt>
                <c:pt idx="3">
                  <c:v>81.4</c:v>
                </c:pt>
                <c:pt idx="4">
                  <c:v>76.1</c:v>
                </c:pt>
                <c:pt idx="5">
                  <c:v>71.2</c:v>
                </c:pt>
                <c:pt idx="6">
                  <c:v>66.7</c:v>
                </c:pt>
                <c:pt idx="7">
                  <c:v>62.5</c:v>
                </c:pt>
                <c:pt idx="8">
                  <c:v>56.5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D₀ = 0.15 /cm²</c:v>
                </c:pt>
              </c:strCache>
            </c:strRef>
          </c:tx>
          <c:spPr>
            <a:ln w="28575">
              <a:solidFill>
                <a:srgbClr val="595959"/>
              </a:solidFill>
              <a:prstDash val="dash"/>
            </a:ln>
          </c:spPr>
          <c:marker>
            <c:symbol val="none"/>
          </c:marker>
          <c:cat>
            <c:strRef>
              <c:f>Sheet1!$A$2:$A$10</c:f>
              <c:strCache>
                <c:ptCount val="9"/>
                <c:pt idx="0">
                  <c:v>50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858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92.8</c:v>
                </c:pt>
                <c:pt idx="1">
                  <c:v>86.2</c:v>
                </c:pt>
                <c:pt idx="2">
                  <c:v>74.6</c:v>
                </c:pt>
                <c:pt idx="3">
                  <c:v>64.8</c:v>
                </c:pt>
                <c:pt idx="4">
                  <c:v>56.5</c:v>
                </c:pt>
                <c:pt idx="5">
                  <c:v>49.5</c:v>
                </c:pt>
                <c:pt idx="6">
                  <c:v>43.5</c:v>
                </c:pt>
                <c:pt idx="7">
                  <c:v>38.3</c:v>
                </c:pt>
                <c:pt idx="8">
                  <c:v>31.6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150" b="0" i="0" u="none">
                    <a:solidFill>
                      <a:srgbClr val="595959"/>
                    </a:solidFill>
                    <a:latin typeface="Arial"/>
                  </a:rPr>
                  <a:t>Die area  (mm²)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50">
                <a:solidFill>
                  <a:srgbClr val="595959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50" b="0" i="0" u="none">
                    <a:solidFill>
                      <a:srgbClr val="595959"/>
                    </a:solidFill>
                    <a:latin typeface="Arial"/>
                  </a:rPr>
                  <a:t>Yield 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50">
                <a:solidFill>
                  <a:srgbClr val="595959"/>
                </a:solidFill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5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E266651F-1D5C-A70B-F6C7-579FEEF02D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5F74AE-0473-CC24-9FD4-C48F0DBD3E1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460B45-BD02-4B37-B48D-C6302AB2EB48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A221C0E-5747-3F4C-B2B4-7B0FEA88B73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22AB19-B9AC-6CDA-AD90-DEFAC7D1CC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990B0B-5D09-41A6-B725-11D31D12BF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11269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/>
            </a:lvl1pPr>
          </a:lstStyle>
          <a:p>
            <a:endParaRPr lang="en-US" altLang="ja-JP"/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07E0373D-8D3F-4EAE-89C7-B2A8FFA02FE4}" type="datetimeFigureOut">
              <a:rPr lang="ja-JP" altLang="en-US"/>
              <a:pPr/>
              <a:t>2026/8/19</a:t>
            </a:fld>
            <a:endParaRPr lang="en-US" altLang="ja-JP"/>
          </a:p>
        </p:txBody>
      </p:sp>
      <p:sp>
        <p:nvSpPr>
          <p:cNvPr id="1229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/>
            </a:lvl1pPr>
          </a:lstStyle>
          <a:p>
            <a:endParaRPr lang="en-US" altLang="ja-JP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362053DE-98C1-422F-9E88-8D547094F925}" type="slidenum">
              <a:rPr lang="ja-JP" altLang="en-US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82790441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[도입 · 약 40초]</a:t>
            </a:r>
          </a:p>
          <a:p>
            <a:r>
              <a:t>안녕하세요. 오늘은 칩렛(chiplet), 즉 하나의 큰 SoC를 여러 개의 작은 다이로 쪼개고</a:t>
            </a:r>
          </a:p>
          <a:p>
            <a:r>
              <a:t>패키지 안에서 다시 붙이는 설계 방식에 대해 20분 동안 말씀드리겠습니다.</a:t>
            </a:r>
          </a:p>
          <a:p/>
          <a:p>
            <a:r>
              <a:t>[발표 전체의 뼈대 — 미리 던지고 시작하면 청중이 따라오기 쉽습니다]</a:t>
            </a:r>
          </a:p>
          <a:p>
            <a:r>
              <a:t>이 발표는 하나의 질문을 따라갑니다. "다이를 키워서 성능을 올리는 길이 막혔는데,</a:t>
            </a:r>
          </a:p>
          <a:p>
            <a:r>
              <a:t>그럼 무엇을 해야 하는가." 답이 칩렛이고, 그 답에는 대가가 따릅니다.</a:t>
            </a:r>
          </a:p>
          <a:p>
            <a:r>
              <a:t>앞부분에서 왜 막혔는지(문제와 수율), 가운데에서 어떻게 쪼개는지(분할 기준과 패키징),</a:t>
            </a:r>
          </a:p>
          <a:p>
            <a:r>
              <a:t>뒷부분에서 무엇을 잃고 무엇이 남았는지(비용과 과제)를 다룹니다.</a:t>
            </a:r>
          </a:p>
          <a:p/>
          <a:p>
            <a:r>
              <a:t>[용어 정리 — 첫 등장이므로 여기서 한 번 정의하고 갑니다]</a:t>
            </a:r>
          </a:p>
          <a:p>
            <a:r>
              <a:t>· 다이(die): 웨이퍼에서 잘라낸 낱개의 실리콘 칩.</a:t>
            </a:r>
          </a:p>
          <a:p>
            <a:r>
              <a:t>· 칩렛(chiplet): 단독 제품이 아니라 패키지 안에서 다른 다이와 합쳐지는 것을 전제로 만든 다이.</a:t>
            </a:r>
          </a:p>
          <a:p>
            <a:r>
              <a:t>· 패키지(package): 다이들을 담아 기판에 붙일 수 있게 만든 최종 부품.</a:t>
            </a:r>
          </a:p>
          <a:p/>
          <a:p>
            <a:r>
              <a:t>[주의] 이 발표는 특정 논문 한 편을 요약한 것이 아니라, 공개된 표준 문서(UCIe)와</a:t>
            </a:r>
          </a:p>
          <a:p>
            <a:r>
              <a:t>벤더 공식 발표 자료를 근거로 재구성한 개요입니다. 각 장 하단에 근거를 표기했습니다.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[먼저 가리킬 곳] 오른쪽 큰 사각형입니다. 이게 오늘 발표의 출발점입니다.</a:t>
            </a:r>
          </a:p>
          <a:p/>
          <a:p>
            <a:r>
              <a:t>[배경지식 — 레티클이 뭔지 모르는 청중을 위해]</a:t>
            </a:r>
          </a:p>
          <a:p>
            <a:r>
              <a:t>반도체 노광 장비는 마스크의 패턴을 웨이퍼에 한 번에 찍습니다. 이때 한 번에 찍히는</a:t>
            </a:r>
          </a:p>
          <a:p>
            <a:r>
              <a:t>직사각형 영역을 레티클 필드(reticle field)라고 하고, 그 크기가 26 × 33 mm로 고정되어</a:t>
            </a:r>
          </a:p>
          <a:p>
            <a:r>
              <a:t>있습니다. 즉 858 mm²가 "한 번에 찍을 수 있는 최대 넓이"이고, 다이 하나는 원칙적으로</a:t>
            </a:r>
          </a:p>
          <a:p>
            <a:r>
              <a:t>이보다 커질 수 없습니다. 물리적 상한입니다.</a:t>
            </a:r>
          </a:p>
          <a:p/>
          <a:p>
            <a:r>
              <a:t>[그림 읽는 순서]</a:t>
            </a:r>
          </a:p>
          <a:p>
            <a:r>
              <a:t>① 큰 사각형(파란 테두리) = 지금의 풀 필드, 858 mm².</a:t>
            </a:r>
          </a:p>
          <a:p>
            <a:r>
              <a:t>② 오른쪽 작은 사각형(회색) = High-NA EUV 장비의 하프 필드, 429 mm².</a:t>
            </a:r>
          </a:p>
          <a:p>
            <a:r>
              <a:t>두 사각형은 실제 비율대로 그렸습니다. 아래쪽 변을 맞춰 놓았으니 높이 차이가</a:t>
            </a:r>
          </a:p>
          <a:p>
            <a:r>
              <a:t>그대로 면적 차이입니다.</a:t>
            </a:r>
          </a:p>
          <a:p/>
          <a:p>
            <a:r>
              <a:t>[여기서 강조할 반전]</a:t>
            </a:r>
          </a:p>
          <a:p>
            <a:r>
              <a:t>"공정이 발전하면 더 커지겠지"라고 생각하기 쉬운데, 차세대 High-NA 장비는 오히려</a:t>
            </a:r>
          </a:p>
          <a:p>
            <a:r>
              <a:t>필드가 절반으로 줄어듭니다. 상한이 완화되는 게 아니라 더 조여집니다.</a:t>
            </a:r>
          </a:p>
          <a:p/>
          <a:p>
            <a:r>
              <a:t>[왼쪽 불릿 4개를 짚으며]</a:t>
            </a:r>
          </a:p>
          <a:p>
            <a:r>
              <a:t>면적 상한만 문제가 아닙니다. 뒤에 나올 수율 문제, 그리고 노드가 내려갈수록 오르는</a:t>
            </a:r>
          </a:p>
          <a:p>
            <a:r>
              <a:t>mm²당 단가가 겹칩니다. 특히 SRAM과 아날로그·I/O는 노드를 내려도 면적이 거의 안 줄기</a:t>
            </a:r>
          </a:p>
          <a:p>
            <a:r>
              <a:t>때문에, 이들을 비싼 선단 노드에 태울 이유가 점점 사라집니다.</a:t>
            </a:r>
          </a:p>
          <a:p/>
          <a:p>
            <a:r>
              <a:t>[다음 장 연결] 세 가지 중 수율이 가장 극적입니다. 숫자로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슬라이드의 목적] 앞 장에서 "수율이 무너진다"고 말만 했는데, 여기서 수식으로 못 박습니다.</a:t>
            </a:r>
          </a:p>
          <a:p/>
          <a:p>
            <a:r>
              <a:t>[수식이 무엇을 계산하는가]</a:t>
            </a:r>
          </a:p>
          <a:p>
            <a:r>
              <a:t>Y는 다이 하나가 양품일 확률, 즉 수율입니다. 웨이퍼에 결함이 무작위로 뿌려져 있을 때</a:t>
            </a:r>
          </a:p>
          <a:p>
            <a:r>
              <a:t>"내 다이 영역 안에 치명 결함이 하나도 없을 확률"을 구하는 식입니다.</a:t>
            </a:r>
          </a:p>
          <a:p/>
          <a:p>
            <a:r>
              <a:t>[기호]</a:t>
            </a:r>
          </a:p>
          <a:p>
            <a:r>
              <a:t>· A: 다이 면적. 단위는 cm²입니다. 800 mm²는 8 cm²로 환산합니다.</a:t>
            </a:r>
          </a:p>
          <a:p>
            <a:r>
              <a:t>· D₀: 단위 면적당 결함 밀도. 성숙한 선단 공정에서 대략 0.05~0.15 /cm² 수준입니다.</a:t>
            </a:r>
          </a:p>
          <a:p>
            <a:r>
              <a:t>· A·D₀: 다이 하나에 들어오는 평균 결함 개수. 이 곱이 실질적인 유일한 변수입니다.</a:t>
            </a:r>
          </a:p>
          <a:p/>
          <a:p>
            <a:r>
              <a:t>[어디서 출발한 식인가 — 단계별로]</a:t>
            </a:r>
          </a:p>
          <a:p>
            <a:r>
              <a:t>① 가장 단순한 모델은 푸아송 분포입니다. 결함이 평균 λ = A·D₀개 들어온다면</a:t>
            </a:r>
          </a:p>
          <a:p>
            <a:r>
              <a:t>   결함이 0개일 확률은 e^(−A·D₀). 이게 가장 비관적인 추정입니다.</a:t>
            </a:r>
          </a:p>
          <a:p>
            <a:r>
              <a:t>② 실제로는 결함이 웨이퍼 전체에 균일하지 않고 뭉쳐 있습니다(clustering).</a:t>
            </a:r>
          </a:p>
          <a:p>
            <a:r>
              <a:t>   Murphy는 결함 밀도가 삼각 분포를 따른다고 보고 적분해서</a:t>
            </a:r>
          </a:p>
          <a:p>
            <a:r>
              <a:t>   [(1 − e^(−A·D₀)) / (A·D₀)]² 를 얻었습니다.</a:t>
            </a:r>
          </a:p>
          <a:p>
            <a:r>
              <a:t>③ 제곱이 붙은 이유가 바로 그 적분 결과이고, 실측과 더 잘 맞아 업계 표준으로 쓰입니다.</a:t>
            </a:r>
          </a:p>
          <a:p/>
          <a:p>
            <a:r>
              <a:t>[숫자를 하나씩 대입 — 이 부분을 천천히 읽어주세요]</a:t>
            </a:r>
          </a:p>
          <a:p>
            <a:r>
              <a:t>· 800 mm² = 8 cm², D₀ = 0.07 → A·D₀ = 0.56</a:t>
            </a:r>
          </a:p>
          <a:p>
            <a:r>
              <a:t>  e^(−0.56) ≈ 0.571 → (1 − 0.571)/0.56 ≈ 0.766 → 0.766² ≈ 0.59, 즉 59 %.</a:t>
            </a:r>
          </a:p>
          <a:p>
            <a:r>
              <a:t>· 100 mm² = 1 cm² → A·D₀ = 0.07</a:t>
            </a:r>
          </a:p>
          <a:p>
            <a:r>
              <a:t>  e^(−0.07) ≈ 0.932 → (1 − 0.932)/0.07 ≈ 0.937 → 0.937² ≈ 0.88, 즉 88 %.</a:t>
            </a:r>
          </a:p>
          <a:p/>
          <a:p>
            <a:r>
              <a:t>[그래프 읽는 순서]</a:t>
            </a:r>
          </a:p>
          <a:p>
            <a:r>
              <a:t>① 가로축은 다이 면적(mm²), 세로축은 수율(%)입니다.</a:t>
            </a:r>
          </a:p>
          <a:p>
            <a:r>
              <a:t>② 파란 실선이 D₀ = 0.07, 회색 파선이 D₀ = 0.15입니다.</a:t>
            </a:r>
          </a:p>
          <a:p>
            <a:r>
              <a:t>③ 오른쪽으로 갈수록 두 선이 벌어집니다 — 결함 밀도가 나쁠수록 큰 다이가 더 크게 손해입니다.</a:t>
            </a:r>
          </a:p>
          <a:p/>
          <a:p>
            <a:r>
              <a:t>[헷갈리기 쉬운 점]</a:t>
            </a:r>
          </a:p>
          <a:p>
            <a:r>
              <a:t>"면적을 8배 줄였으니 수율이 8배 좋아진다"가 아닙니다. 59 % → 88 %이니 배율로는 1.5배입니다.</a:t>
            </a:r>
          </a:p>
          <a:p>
            <a:r>
              <a:t>진짜 이득은 다른 데 있습니다. 불량이 났을 때 버리는 실리콘의 양이 8분의 1이라는 점,</a:t>
            </a:r>
          </a:p>
          <a:p>
            <a:r>
              <a:t>그리고 웨이퍼 한 장에서 건지는 양품 실리콘 총면적이 늘어난다는 점입니다.</a:t>
            </a:r>
          </a:p>
          <a:p/>
          <a:p>
            <a:r>
              <a:t>[주의 — 반드시 언급] D₀ 값은 제가 가정한 예시값입니다. 특정 파운드리의 실측치가 아닙니다.</a:t>
            </a:r>
          </a:p>
          <a:p/>
          <a:p>
            <a:r>
              <a:t>[다음 장 연결] 그럼 큰 다이를 작게 쪼개면 되는데, 어떻게 쪼개느냐가 다음 질문입니다.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[한 문장 요약] 칩렛은 "작은 칩"이 아니라 "패키지 안에서 재조립하는 설계 방법론"입니다.</a:t>
            </a:r>
          </a:p>
          <a:p/>
          <a:p>
            <a:r>
              <a:t>[그림 읽는 순서]</a:t>
            </a:r>
          </a:p>
          <a:p>
            <a:r>
              <a:t>① 왼쪽: 지금까지의 모놀리식 SoC. CPU·GPU·NPU·I/O·SerDes·메모리 컨트롤러가</a:t>
            </a:r>
          </a:p>
          <a:p>
            <a:r>
              <a:t>   전부 회색 한 가지입니다. 색이 하나라는 건 공정 노드가 하나라는 뜻입니다.</a:t>
            </a:r>
          </a:p>
          <a:p>
            <a:r>
              <a:t>② 가운데 파란 화살표를 따라 오른쪽으로 갑니다.</a:t>
            </a:r>
          </a:p>
          <a:p>
            <a:r>
              <a:t>③ 오른쪽: 같은 기능이 네 개의 다이로 나뉘었습니다. 여기서 색이 의미를 가집니다.</a:t>
            </a:r>
          </a:p>
          <a:p>
            <a:r>
              <a:t>   진한 파랑이 최신 노드 N3, 회색 계열이 N5·N6입니다.</a:t>
            </a:r>
          </a:p>
          <a:p>
            <a:r>
              <a:t>④ 맨 아래 회색 띠가 이들을 이어주는 기판 또는 인터포저입니다.</a:t>
            </a:r>
          </a:p>
          <a:p/>
          <a:p>
            <a:r>
              <a:t>[색의 의미를 반드시 짚어주세요]</a:t>
            </a:r>
          </a:p>
          <a:p>
            <a:r>
              <a:t>이 발표에서 파란색은 "최신 노드를 쓴 블록"이라는 뜻으로 고정합니다. 장식이 아닙니다.</a:t>
            </a:r>
          </a:p>
          <a:p>
            <a:r>
              <a:t>왼쪽 그림에 파란색이 하나도 없는 것과, 오른쪽에 두 개만 파란 것이 핵심 대비입니다.</a:t>
            </a:r>
          </a:p>
          <a:p/>
          <a:p>
            <a:r>
              <a:t>[왜 이게 이득인가 — 구체적으로]</a:t>
            </a:r>
          </a:p>
          <a:p>
            <a:r>
              <a:t>I/O와 아날로그 회로는 노드를 내려도 면적이 거의 안 줄어듭니다. 트랜지스터는 작아져도</a:t>
            </a:r>
          </a:p>
          <a:p>
            <a:r>
              <a:t>패드·ESD·드라이버 같은 물리적 구조가 안 줄기 때문입니다. 그런데 모놀리식에서는</a:t>
            </a:r>
          </a:p>
          <a:p>
            <a:r>
              <a:t>이런 블록도 CPU와 같은 비싼 웨이퍼 위에 실려야 합니다. 쪼개면 이들만 싼 노드로 뺄 수 있습니다.</a:t>
            </a:r>
          </a:p>
          <a:p/>
          <a:p>
            <a:r>
              <a:t>[헷갈리기 쉬운 점]</a:t>
            </a:r>
          </a:p>
          <a:p>
            <a:r>
              <a:t>"아무 데나 쪼개면 되는 것 아닌가"라고 생각하기 쉬운데, 아닙니다. 어디를 자르느냐가</a:t>
            </a:r>
          </a:p>
          <a:p>
            <a:r>
              <a:t>전부입니다. 잘못 자르면 뒤에서 볼 전력 페널티가 이득을 통째로 잡아먹습니다.</a:t>
            </a:r>
          </a:p>
          <a:p/>
          <a:p>
            <a:r>
              <a:t>[다음 장 연결] 그래서 "어디를 자를 수 있는가"에 대한 정량적 기준이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슬라이드가 발표의 심장입니다. 시간을 가장 많이 쓰세요 — 약 2분]</a:t>
            </a:r>
          </a:p>
          <a:p/>
          <a:p>
            <a:r>
              <a:t>[왜 이 식이 필요한가]</a:t>
            </a:r>
          </a:p>
          <a:p>
            <a:r>
              <a:t>앞 장에서 "잘 잘라야 한다"고 했는데, 그 판단을 감으로 하면 안 됩니다.</a:t>
            </a:r>
          </a:p>
          <a:p>
            <a:r>
              <a:t>숫자로 결정할 수 있는 아주 단순한 기준이 있습니다.</a:t>
            </a:r>
          </a:p>
          <a:p/>
          <a:p>
            <a:r>
              <a:t>[수식이 계산하는 것] 다이 경계를 넘나드는 데 드는 추가 전력입니다.</a:t>
            </a:r>
          </a:p>
          <a:p/>
          <a:p>
            <a:r>
              <a:t>[기호]</a:t>
            </a:r>
          </a:p>
          <a:p>
            <a:r>
              <a:t>· BW: 그 경계를 초당 넘어가는 비트 수. 단위 주의 — TB/s는 바이트, Tb/s는 비트입니다.</a:t>
            </a:r>
          </a:p>
          <a:p>
            <a:r>
              <a:t>  1 TB/s = 8 Tb/s입니다. 표 왼쪽 열에 둘 다 적어두었습니다.</a:t>
            </a:r>
          </a:p>
          <a:p>
            <a:r>
              <a:t>· E_bit: 1비트를 그 경계 너머로 옮기는 데 드는 에너지. pJ/bit로 씁니다.</a:t>
            </a:r>
          </a:p>
          <a:p/>
          <a:p>
            <a:r>
              <a:t>[왜 곱하기인가 — 단위로 확인]</a:t>
            </a:r>
          </a:p>
          <a:p>
            <a:r>
              <a:t>[bit/s] × [J/bit] = [J/s] = [W]. 초당 몇 비트를 몇 줄로 옮기느냐이니 당연히 곱입니다.</a:t>
            </a:r>
          </a:p>
          <a:p>
            <a:r>
              <a:t>이렇게 단위를 맞춰 보이면 청중이 바로 납득합니다.</a:t>
            </a:r>
          </a:p>
          <a:p/>
          <a:p>
            <a:r>
              <a:t>[숫자를 하나 직접 대입 — 표의 굵은 칸을 짚으며]</a:t>
            </a:r>
          </a:p>
          <a:p>
            <a:r>
              <a:t>2 TB/s를 UCIe 어드밴스드 패키지(0.25 pJ/bit)로 넘긴다고 합시다.</a:t>
            </a:r>
          </a:p>
          <a:p>
            <a:r>
              <a:t>2 TB/s = 16 Tb/s = 16 × 10¹² bit/s.</a:t>
            </a:r>
          </a:p>
          <a:p>
            <a:r>
              <a:t>16 × 10¹² × 0.25 × 10⁻¹² J = 4 J/s = 4 W.</a:t>
            </a:r>
          </a:p>
          <a:p>
            <a:r>
              <a:t>같은 트래픽을 표준 패키지(0.5 pJ/bit)로 넘기면 8 W가 됩니다. 두 배입니다.</a:t>
            </a:r>
          </a:p>
          <a:p/>
          <a:p>
            <a:r>
              <a:t>[표 읽는 순서]</a:t>
            </a:r>
          </a:p>
          <a:p>
            <a:r>
              <a:t>① 세로(행)는 경계를 넘는 트래픽, 가로(열)는 인터커넥트 방식의 에너지 효율입니다.</a:t>
            </a:r>
          </a:p>
          <a:p>
            <a:r>
              <a:t>② 왼쪽 첫 열은 참고용입니다 — 아예 안 쪼개고 온다이 배선으로 갔을 때의 값.</a:t>
            </a:r>
          </a:p>
          <a:p>
            <a:r>
              <a:t>③ 파란 숫자로 표시한 칸이 대략 5 W를 넘는 지점입니다. 여기가 "이 경계는 못 자른다"는 신호입니다.</a:t>
            </a:r>
          </a:p>
          <a:p/>
          <a:p>
            <a:r>
              <a:t>[결론 문장 — 이렇게 말하면 깔끔합니다]</a:t>
            </a:r>
          </a:p>
          <a:p>
            <a:r>
              <a:t>"쪼갤 수 있느냐"는 아키텍처 취향의 문제가 아니라, 이 표에서 읽히는 전력 예산의 문제입니다.</a:t>
            </a:r>
          </a:p>
          <a:p/>
          <a:p>
            <a:r>
              <a:t>[헷갈리기 쉬운 점]</a:t>
            </a:r>
          </a:p>
          <a:p>
            <a:r>
              <a:t>E_bit를 줄이는 건 회로가 아니라 대부분 패키징이 결정합니다. 다음 장에서 그 이유가 나옵니다.</a:t>
            </a:r>
          </a:p>
          <a:p/>
          <a:p>
            <a:r>
              <a:t>[주의] 5 W라는 기준선은 설명을 위해 제가 잡은 값입니다. 제품마다 다릅니다.</a:t>
            </a:r>
          </a:p>
          <a:p/>
          <a:p>
            <a:r>
              <a:t>[다음 장 연결] 그럼 E_bit를 낮추려면 무엇을 바꿔야 하는가 — 답은 범프 피치입니다.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[진행 요령] 표를 다섯 줄 모두 읽지 마세요. 청중이 읽는 동안 세 줄만 짚습니다.</a:t>
            </a:r>
          </a:p>
          <a:p/>
          <a:p>
            <a:r>
              <a:t>[짚을 세 줄]</a:t>
            </a:r>
          </a:p>
          <a:p>
            <a:r>
              <a:t>① 첫 줄 수율: 앞 장 숫자와 이어집니다. 여기서 중요한 건 59 → 88 %라는 비율보다,</a:t>
            </a:r>
          </a:p>
          <a:p>
            <a:r>
              <a:t>   불량 하나가 버리는 실리콘 양이 8분의 1이라는 점입니다.</a:t>
            </a:r>
          </a:p>
          <a:p>
            <a:r>
              <a:t>② 두 번째 줄 노드 믹싱: 이게 실무에서 가장 크게 체감되는 항목입니다.</a:t>
            </a:r>
          </a:p>
          <a:p>
            <a:r>
              <a:t>③ 네 번째·다섯 번째 줄: 여기가 진짜 이유입니다.</a:t>
            </a:r>
          </a:p>
          <a:p/>
          <a:p>
            <a:r>
              <a:t>[아래 파란 문장을 반드시 말로 강조]</a:t>
            </a:r>
          </a:p>
          <a:p>
            <a:r>
              <a:t>앞의 세 개는 엔지니어링 이득이고, 뒤의 두 개는 사업적 이득입니다. 그리고 현실에서</a:t>
            </a:r>
          </a:p>
          <a:p>
            <a:r>
              <a:t>칩렛 아키텍처를 승인시키는 건 대개 뒤의 두 개입니다. AMD가 하나의 CCD 설계로</a:t>
            </a:r>
          </a:p>
          <a:p>
            <a:r>
              <a:t>데스크톱부터 96코어 서버까지 커버한 것이 대표적입니다. 마스크 한 세트 값이</a:t>
            </a:r>
          </a:p>
          <a:p>
            <a:r>
              <a:t>수백억 원대인 시대에, 다이를 재사용한다는 건 그 비용을 세대에 걸쳐 나눠 쓴다는 뜻입니다.</a:t>
            </a:r>
          </a:p>
          <a:p/>
          <a:p>
            <a:r>
              <a:t>[이 내용이 왜 중요한가]</a:t>
            </a:r>
          </a:p>
          <a:p>
            <a:r>
              <a:t>칩렛을 순수하게 기술 선택으로만 설명하면 청중이 "그럼 왜 다 안 하지?"라고 묻습니다.</a:t>
            </a:r>
          </a:p>
          <a:p>
            <a:r>
              <a:t>사업적 동기까지 같이 말해야 그림이 완성됩니다.</a:t>
            </a:r>
          </a:p>
          <a:p/>
          <a:p>
            <a:r>
              <a:t>[주의] 오른쪽 사례 열은 벤더 공개 자료를 요약한 것이고, "이게 곧 일반 법칙"은 아닙니다.</a:t>
            </a:r>
          </a:p>
          <a:p/>
          <a:p>
            <a:r>
              <a:t>[다음 장 연결] 이제 반대편, 즉 대가를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[구성] 네 항목입니다. 각 항목의 왼쪽 회색 박스에 숫자를, 오른쪽에 의미를 적었습니다.</a:t>
            </a:r>
          </a:p>
          <a:p/>
          <a:p>
            <a:r>
              <a:t>[① 0.25–0.5 pJ/bit — 전력]</a:t>
            </a:r>
          </a:p>
          <a:p>
            <a:r>
              <a:t>앞 장 표와 직결됩니다. 온다이 배선 0.05 pJ/bit와 비교하면 5~10배입니다.</a:t>
            </a:r>
          </a:p>
          <a:p>
            <a:r>
              <a:t>"몇 배"보다 "몇 와트"로 말해야 와닿습니다. 2 TB/s 경계 하나에 4~8 W입니다.</a:t>
            </a:r>
          </a:p>
          <a:p>
            <a:r>
              <a:t>GPU 하나에 이런 경계가 여러 개 있으면 수십 W가 인터커넥트로만 나갑니다.</a:t>
            </a:r>
          </a:p>
          <a:p/>
          <a:p>
            <a:r>
              <a:t>[② +2–10 ns — 지연]</a:t>
            </a:r>
          </a:p>
          <a:p>
            <a:r>
              <a:t>숫자 자체보다 "비균일해진다"가 핵심입니다. 같은 메모리 주소라도 어느 다이에서</a:t>
            </a:r>
          </a:p>
          <a:p>
            <a:r>
              <a:t>접근하느냐에 따라 지연이 달라집니다. 서버 쪽에서 익숙한 NUMA와 같은 구조가</a:t>
            </a:r>
          </a:p>
          <a:p>
            <a:r>
              <a:t>칩 안으로 들어온 셈입니다. 그래서 캐시 코히런시 프로토콜과 OS 스케줄러가</a:t>
            </a:r>
          </a:p>
          <a:p>
            <a:r>
              <a:t>"이 코어와 저 코어는 거리가 다르다"는 걸 알아야 합니다.</a:t>
            </a:r>
          </a:p>
          <a:p/>
          <a:p>
            <a:r>
              <a:t>[③ 2.5D/3D — 패키지 원가]</a:t>
            </a:r>
          </a:p>
          <a:p>
            <a:r>
              <a:t>여기서 자주 나오는 오해를 하나 풀어주세요. "칩렛은 싸진다"고 알려져 있지만,</a:t>
            </a:r>
          </a:p>
          <a:p>
            <a:r>
              <a:t>싸지는 건 실리콘이고 비싸지는 건 패키지입니다. 총합이 이득인지는 제품마다 다릅니다.</a:t>
            </a:r>
          </a:p>
          <a:p>
            <a:r>
              <a:t>그리고 고급 패키징 캐파는 지금 돈이 있어도 못 사는 자원입니다.</a:t>
            </a:r>
          </a:p>
          <a:p/>
          <a:p>
            <a:r>
              <a:t>[④ Y_pkg = Π Y_i — 테스트]</a:t>
            </a:r>
          </a:p>
          <a:p>
            <a:r>
              <a:t>수식이라기보다 확률의 곱셈 법칙입니다. 다이가 N개면 전부 양품이어야 패키지가 삽니다.</a:t>
            </a:r>
          </a:p>
          <a:p>
            <a:r>
              <a:t>예를 들어 다이 하나의 수율이 95 %라도 8개를 붙이면 0.95⁸ ≈ 0.66, 즉 66 %입니다.</a:t>
            </a:r>
          </a:p>
          <a:p>
            <a:r>
              <a:t>그래서 붙이기 전에 걸러내는 KGD(Known Good Die) 선별이 필수가 됩니다.</a:t>
            </a:r>
          </a:p>
          <a:p>
            <a:r>
              <a:t>여기에 조립 수율까지 곱해집니다.</a:t>
            </a:r>
          </a:p>
          <a:p/>
          <a:p>
            <a:r>
              <a:t>[헷갈리기 쉬운 점]</a:t>
            </a:r>
          </a:p>
          <a:p>
            <a:r>
              <a:t>④는 "그래서 칩렛이 수율에 나쁘다"는 뜻이 아닙니다. 다이 하나하나의 수율은 좋아지지만,</a:t>
            </a:r>
          </a:p>
          <a:p>
            <a:r>
              <a:t>붙인 뒤의 불량을 걸러낼 방법이 없으면 그 이득을 조립 단계에서 잃는다는 뜻입니다.</a:t>
            </a:r>
          </a:p>
          <a:p/>
          <a:p>
            <a:r>
              <a:t>[마지막 파란 문장] 이 네 가지는 블록도에 안 나타납니다. 전력 예산표와 수율 보고서에 나타납니다.</a:t>
            </a:r>
          </a:p>
          <a:p/>
          <a:p>
            <a:r>
              <a:t>[다음 장 연결] 이 중 전력과 지연은 패키징으로 상당 부분 되사올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장의 한 줄] 범프 피치가 곧 대역폭 상한입니다.</a:t>
            </a:r>
          </a:p>
          <a:p/>
          <a:p>
            <a:r>
              <a:t>[먼저 배경지식]</a:t>
            </a:r>
          </a:p>
          <a:p>
            <a:r>
              <a:t>다이와 다이를 잇는 전기적 연결은 결국 "범프"라는 작은 금속 돌기로 이루어집니다.</a:t>
            </a:r>
          </a:p>
          <a:p>
            <a:r>
              <a:t>범프 사이 간격을 피치(pitch)라고 합니다. 피치가 절반이 되면 같은 길이에 배선이</a:t>
            </a:r>
          </a:p>
          <a:p>
            <a:r>
              <a:t>두 배 들어가고, 면적 기준으로는 네 배가 됩니다. 그래서 피치가 대역폭을 정합니다.</a:t>
            </a:r>
          </a:p>
          <a:p/>
          <a:p>
            <a:r>
              <a:t>[그림 읽는 순서 — 네 컬럼 모두 아래쪽 회색 띠(기판)에 밑변을 맞춰 그렸습니다]</a:t>
            </a:r>
          </a:p>
          <a:p>
            <a:r>
              <a:t>① 왼쪽 끝 2D: 다이 두 개가 기판 위에 바로 앉습니다. 신호는 기판 배선(파란 선)으로 돕니다.</a:t>
            </a:r>
          </a:p>
          <a:p>
            <a:r>
              <a:t>   가장 싸지만 배선 밀도가 가장 낮습니다.</a:t>
            </a:r>
          </a:p>
          <a:p>
            <a:r>
              <a:t>② 2.5D: 다이 밑에 실리콘 인터포저(파란 층)가 깔립니다. 실리콘이니 배선을 훨씬 촘촘히</a:t>
            </a:r>
          </a:p>
          <a:p>
            <a:r>
              <a:t>   낼 수 있고, TSV로 기판까지 내려갑니다. HBM 붙일 때 사실상 표준입니다.</a:t>
            </a:r>
          </a:p>
          <a:p>
            <a:r>
              <a:t>③ 임베디드 브리지: 인터포저를 전면에 깔지 않고, 필요한 두 다이 사이에만 작은 실리콘</a:t>
            </a:r>
          </a:p>
          <a:p>
            <a:r>
              <a:t>   조각(파란 사각형)을 기판에 묻습니다. 대면적 인터포저의 원가와 휨 문제를 피합니다.</a:t>
            </a:r>
          </a:p>
          <a:p>
            <a:r>
              <a:t>④ 오른쪽 끝 3D 하이브리드 본딩: 범프 자체가 없습니다. 구리와 구리를 직접 접합합니다.</a:t>
            </a:r>
          </a:p>
          <a:p>
            <a:r>
              <a:t>   그림에서 두 다이 사이 얇은 파란 선이 그 접합면입니다.</a:t>
            </a:r>
          </a:p>
          <a:p/>
          <a:p>
            <a:r>
              <a:t>[색의 의미 — 여기서도 고정] 파란색은 "그 방식에서 실제로 D2D 신호를 나르는 층"입니다.</a:t>
            </a:r>
          </a:p>
          <a:p>
            <a:r>
              <a:t>컬럼마다 파란 게 어디에 있는지만 따라가면 네 방식의 차이가 다 읽힙니다.</a:t>
            </a:r>
          </a:p>
          <a:p/>
          <a:p>
            <a:r>
              <a:t>[숫자를 연결]</a:t>
            </a:r>
          </a:p>
          <a:p>
            <a:r>
              <a:t>130 µm에서 10 µm 미만까지, 한 자릿수 이상 차이가 납니다. 앞 장의 pJ/bit가</a:t>
            </a:r>
          </a:p>
          <a:p>
            <a:r>
              <a:t>왜 방식마다 다른지가 여기서 설명됩니다 — 배선이 짧고 촘촘할수록 에너지가 적게 듭니다.</a:t>
            </a:r>
          </a:p>
          <a:p/>
          <a:p>
            <a:r>
              <a:t>[왼쪽에서 오른쪽으로 갈수록]</a:t>
            </a:r>
          </a:p>
          <a:p>
            <a:r>
              <a:t>성능은 오르고, 공정 난이도와 원가도 같이 오릅니다. 공짜 점심은 없습니다.</a:t>
            </a:r>
          </a:p>
          <a:p>
            <a:r>
              <a:t>특히 하이브리드 본딩은 표면 평탄도(CMP)와 정렬 정밀도가 극한이고,</a:t>
            </a:r>
          </a:p>
          <a:p>
            <a:r>
              <a:t>층을 쌓으면 열을 뺄 길이 막힙니다.</a:t>
            </a:r>
          </a:p>
          <a:p/>
          <a:p>
            <a:r>
              <a:t>[헷갈리기 쉬운 점]</a:t>
            </a:r>
          </a:p>
          <a:p>
            <a:r>
              <a:t>"3D가 제일 좋으니 3D로 하면 되지 않나"가 아닙니다. 열 때문에 고발열 로직끼리는</a:t>
            </a:r>
          </a:p>
          <a:p>
            <a:r>
              <a:t>못 쌓습니다. 실제로 3D는 캐시 SRAM처럼 발열이 적은 층을 얹는 데 주로 씁니다.</a:t>
            </a:r>
          </a:p>
          <a:p/>
          <a:p>
            <a:r>
              <a:t>[주의] 피치 숫자는 벤더 공개 자료 기준이고 단면도는 개념도입니다. 실제 축척이 아닙니다.</a:t>
            </a:r>
          </a:p>
          <a:p/>
          <a:p>
            <a:r>
              <a:t>[다음 장 연결] 물리적 연결이 준비됐다면, 그 위에 무엇을 태울지 규격이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[UCIe가 무엇인지 — 첫 등장이므로 풀어서]</a:t>
            </a:r>
          </a:p>
          <a:p>
            <a:r>
              <a:t>UCIe는 Universal Chiplet Interconnect Express의 약자이고, 서로 다른 회사의 다이를</a:t>
            </a:r>
          </a:p>
          <a:p>
            <a:r>
              <a:t>한 패키지에 붙일 수 있게 만든 개방 표준입니다. 2022년에 1.0이 나왔습니다.</a:t>
            </a:r>
          </a:p>
          <a:p/>
          <a:p>
            <a:r>
              <a:t>[UCIe의 진짜 의의 — 오른쪽 계층 그림을 짚으며]</a:t>
            </a:r>
          </a:p>
          <a:p>
            <a:r>
              <a:t>전기 규격만 정한 게 아니라 프로토콜 계층까지 한꺼번에 정했다는 점이 중요합니다.</a:t>
            </a:r>
          </a:p>
          <a:p>
            <a:r>
              <a:t>① 맨 위 파란 층: 프로토콜. PCIe와 CXL을 그대로 씁니다. 이미 검증된 프로토콜을</a:t>
            </a:r>
          </a:p>
          <a:p>
            <a:r>
              <a:t>   다이 경계로 옮긴 셈이라, 소프트웨어와 IP 생태계를 그대로 가져올 수 있습니다.</a:t>
            </a:r>
          </a:p>
          <a:p>
            <a:r>
              <a:t>② 가운데 D2D 어댑터: CRC, 재전송, 링크 관리를 담당합니다.</a:t>
            </a:r>
          </a:p>
          <a:p>
            <a:r>
              <a:t>③ 맨 아래 물리 계층: 전기 규격과 범프 맵.</a:t>
            </a:r>
          </a:p>
          <a:p/>
          <a:p>
            <a:r>
              <a:t>[표 읽는 순서 — 이 순서로 짚으세요]</a:t>
            </a:r>
          </a:p>
          <a:p>
            <a:r>
              <a:t>① 맨 윗줄 헤더를 먼저 봅니다. 열이 세 개인데, 이게 곧 앞 장의 패키징 방식입니다.</a:t>
            </a:r>
          </a:p>
          <a:p>
            <a:r>
              <a:t>   표준 패키지 = 2D 유기 기판, 어드밴스드 = 2.5D/브리지, 3D = 하이브리드 본딩.</a:t>
            </a:r>
          </a:p>
          <a:p>
            <a:r>
              <a:t>② 첫 행 범프 피치를 봅니다. 100~130 µm / 25~55 µm / 10 µm 미만.</a:t>
            </a:r>
          </a:p>
          <a:p>
            <a:r>
              <a:t>   앞 장에서 본 숫자가 그대로 들어와 있습니다.</a:t>
            </a:r>
          </a:p>
          <a:p>
            <a:r>
              <a:t>③ 두 번째 행 대역폭 밀도를 봅니다. 28~224에서 165~1,317로 뜁니다.</a:t>
            </a:r>
          </a:p>
          <a:p>
            <a:r>
              <a:t>④ 세 번째 행 에너지를 봅니다. 0.5에서 0.25로, 다시 0.05로 내려갑니다.</a:t>
            </a:r>
          </a:p>
          <a:p/>
          <a:p>
            <a:r>
              <a:t>[핵심 메시지 — 아래 파란 문장]</a:t>
            </a:r>
          </a:p>
          <a:p>
            <a:r>
              <a:t>①에서 ②로 갈 때 대역폭 밀도가 6~8배 뛰는데, 이건 회로를 잘 설계해서 얻은 게 아닙니다.</a:t>
            </a:r>
          </a:p>
          <a:p>
            <a:r>
              <a:t>범프 피치가 좁아져서 같은 다이 엣지 길이에 레인을 더 많이 넣을 수 있게 된 것뿐입니다.</a:t>
            </a:r>
          </a:p>
          <a:p>
            <a:r>
              <a:t>"성능이 패키지에서 나온다"는 이 발표의 주장이 여기서 가장 선명하게 드러납니다.</a:t>
            </a:r>
          </a:p>
          <a:p/>
          <a:p>
            <a:r>
              <a:t>[단위 주의 — 청중이 자주 걸립니다]</a:t>
            </a:r>
          </a:p>
          <a:p>
            <a:r>
              <a:t>표준·어드밴스드는 GB/s/mm, 즉 다이 가장자리 1 mm당 대역폭입니다(선형 밀도).</a:t>
            </a:r>
          </a:p>
          <a:p>
            <a:r>
              <a:t>UCIe-3D만 GB/s/mm², 즉 면적당입니다. 3D는 가장자리가 아니라 면 전체로 붙기 때문입니다.</a:t>
            </a:r>
          </a:p>
          <a:p>
            <a:r>
              <a:t>단위가 달라서 세 열을 그냥 나란히 비교하면 안 됩니다.</a:t>
            </a:r>
          </a:p>
          <a:p/>
          <a:p>
            <a:r>
              <a:t>[헷갈리기 쉬운 점]</a:t>
            </a:r>
          </a:p>
          <a:p>
            <a:r>
              <a:t>UCIe가 있다고 아무 회사 다이나 사서 붙일 수 있는 건 아닙니다. 마지막 장에서 다룹니다.</a:t>
            </a:r>
          </a:p>
          <a:p/>
          <a:p>
            <a:r>
              <a:t>[다음 장 연결] 여기까지가 원리였고, 이제 실제로 팔리는 제품을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[진행 요령] 다섯 줄을 다 설명하면 시간이 없습니다. 오른쪽 두 열만 연결해서 짚으세요.</a:t>
            </a:r>
          </a:p>
          <a:p/>
          <a:p>
            <a:r>
              <a:t>[핵심 논지 — 이 장의 존재 이유]</a:t>
            </a:r>
          </a:p>
          <a:p>
            <a:r>
              <a:t>"칩렛"이라는 한 단어로 묶이지만, 이유가 다르면 선택하는 패키징이 달라집니다.</a:t>
            </a:r>
          </a:p>
          <a:p>
            <a:r>
              <a:t>그걸 보여주려고 맨 오른쪽에 동기 열을 따로 뒀습니다. 이 열은 제 해석입니다.</a:t>
            </a:r>
          </a:p>
          <a:p/>
          <a:p>
            <a:r>
              <a:t>[세 가지 유형으로 묶어서 설명]</a:t>
            </a:r>
          </a:p>
          <a:p>
            <a:r>
              <a:t>① 원가·라인업이 동기인 경우 — AMD EPYC.</a:t>
            </a:r>
          </a:p>
          <a:p>
            <a:r>
              <a:t>   경계에 흐르는 트래픽이 상대적으로 작은 지점을 골랐기 때문에 값싼 유기 기판으로 충분했습니다.</a:t>
            </a:r>
          </a:p>
          <a:p>
            <a:r>
              <a:t>   CCD를 몇 개 붙이느냐로 8코어부터 96코어까지 만듭니다. 5번 장의 표에서</a:t>
            </a:r>
          </a:p>
          <a:p>
            <a:r>
              <a:t>   "싼 쪽 열로도 감당되는 경계"를 고른 사례입니다.</a:t>
            </a:r>
          </a:p>
          <a:p>
            <a:r>
              <a:t>② 레티클 한계 돌파가 동기인 경우 — NVIDIA Blackwell, Apple Ultra.</a:t>
            </a:r>
          </a:p>
          <a:p>
            <a:r>
              <a:t>   여기는 선택의 여지가 없습니다. 두 다이 사이로 메모리 대역폭이 통째로 지나가기 때문에</a:t>
            </a:r>
          </a:p>
          <a:p>
            <a:r>
              <a:t>   실리콘 인터포저급이 아니면 성립하지 않습니다. Blackwell은 다이 간 10 TB/s입니다.</a:t>
            </a:r>
          </a:p>
          <a:p>
            <a:r>
              <a:t>   5번 장 표로 돌아가면, 이 정도 트래픽은 어드밴스드 패키지 아니면 전력이 감당이 안 됩니다.</a:t>
            </a:r>
          </a:p>
          <a:p>
            <a:r>
              <a:t>③ 이종 공정 혼합이 동기인 경우 — Intel Meteor Lake.</a:t>
            </a:r>
          </a:p>
          <a:p>
            <a:r>
              <a:t>   자사 Intel 4 공정과 TSMC N5·N6를 한 패키지에 섞었습니다. 몇 년 전만 해도</a:t>
            </a:r>
          </a:p>
          <a:p>
            <a:r>
              <a:t>   상상하기 어려웠던 조합이고, 칩렛이 아니면 불가능합니다.</a:t>
            </a:r>
          </a:p>
          <a:p/>
          <a:p>
            <a:r>
              <a:t>[MI300X를 언급한다면]</a:t>
            </a:r>
          </a:p>
          <a:p>
            <a:r>
              <a:t>XCD를 IOD 위에 하이브리드 본딩으로 얹고 옆에 HBM을 붙였습니다. 2.5D와 3D를 동시에 쓰는</a:t>
            </a:r>
          </a:p>
          <a:p>
            <a:r>
              <a:t>구성이라 8번 장의 네 가지 방식 중 두 개가 한 제품에 들어간 사례로 소개하면 좋습니다.</a:t>
            </a:r>
          </a:p>
          <a:p/>
          <a:p>
            <a:r>
              <a:t>[주의 — 반드시 구분해서 말할 것]</a:t>
            </a:r>
          </a:p>
          <a:p>
            <a:r>
              <a:t>가운데 두 열은 벤더가 공개한 사실이고, 맨 오른쪽 동기 열은 제가 붙인 해석입니다.</a:t>
            </a:r>
          </a:p>
          <a:p>
            <a:r>
              <a:t>질문이 나오면 이 구분을 분명히 하세요.</a:t>
            </a:r>
          </a:p>
          <a:p/>
          <a:p>
            <a:r>
              <a:t>[다음 장 연결] 이렇게 잘 되는데, 그럼 왜 아직 "칩렛 시장"은 없는가.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장의 역할] 지침대로 한계를 분명히 말하는 장입니다. 좋은 점만 말하고 끝내면 발표가 가볍습니다.</a:t>
            </a:r>
          </a:p>
          <a:p/>
          <a:p>
            <a:r>
              <a:t>[① 상호운용성 — 가장 중요하고 가장 오래 걸릴 문제]</a:t>
            </a:r>
          </a:p>
          <a:p>
            <a:r>
              <a:t>여기서 청중이 가장 놀라는 사실 하나를 던지세요.</a:t>
            </a:r>
          </a:p>
          <a:p>
            <a:r>
              <a:t>"지금 양산되는 칩렛 제품은 사실상 전부 한 회사가 자기 다이를 쪼갠 것입니다."</a:t>
            </a:r>
          </a:p>
          <a:p>
            <a:r>
              <a:t>서로 다른 회사의 다이를 사와서 조립하는, 흔히 말하는 '칩렛 마켓플레이스'는 아직 없습니다.</a:t>
            </a:r>
          </a:p>
          <a:p>
            <a:r>
              <a:t>UCIe가 전기 규격을 통일했는데도 그렇습니다. 범프 맵, 전원 인가 순서, 테스트 접근 경로,</a:t>
            </a:r>
          </a:p>
          <a:p>
            <a:r>
              <a:t>펌웨어까지 다 맞아야 하고, 그건 표준 문서보다 계약과 검증의 영역이기 때문입니다.</a:t>
            </a:r>
          </a:p>
          <a:p/>
          <a:p>
            <a:r>
              <a:t>[② 열]</a:t>
            </a:r>
          </a:p>
          <a:p>
            <a:r>
              <a:t>3D의 근본 문제입니다. 위 다이에서 난 열이 아래 다이를 통과해야 밖으로 나갑니다.</a:t>
            </a:r>
          </a:p>
          <a:p>
            <a:r>
              <a:t>게다가 하이브리드 본딩은 두 다이가 붙어 있어서 방열 물질(TIM)을 끼울 공간조차 없습니다.</a:t>
            </a:r>
          </a:p>
          <a:p>
            <a:r>
              <a:t>그래서 백사이드 전력 공급 같은 기술과 함께 풀어야 합니다.</a:t>
            </a:r>
          </a:p>
          <a:p/>
          <a:p>
            <a:r>
              <a:t>[③ 테스트와 책임 소재]</a:t>
            </a:r>
          </a:p>
          <a:p>
            <a:r>
              <a:t>조립 후 불량이 났을 때 "다이 공급사 책임인가, 조립 책임인가"를 가릴 방법이 필요합니다.</a:t>
            </a:r>
          </a:p>
          <a:p>
            <a:r>
              <a:t>서로 다른 회사가 얽히면 이게 곧바로 계약 분쟁이 됩니다. IEEE 1838 같은</a:t>
            </a:r>
          </a:p>
          <a:p>
            <a:r>
              <a:t>패키지 내부 테스트 접근 표준이 그래서 중요합니다.</a:t>
            </a:r>
          </a:p>
          <a:p/>
          <a:p>
            <a:r>
              <a:t>[④ 설계·EDA]</a:t>
            </a:r>
          </a:p>
          <a:p>
            <a:r>
              <a:t>어디를 자를지 결정하는 단계, 다이와 패키지를 같이 최적화하는 단계, 다이 간 신호·전원</a:t>
            </a:r>
          </a:p>
          <a:p>
            <a:r>
              <a:t>무결성과 열을 함께 푸는 단계 — 기존 SoC 흐름에 아예 없던 단계들입니다.</a:t>
            </a:r>
          </a:p>
          <a:p/>
          <a:p>
            <a:r>
              <a:t>[마지막 파란 문장으로 마무리]</a:t>
            </a:r>
          </a:p>
          <a:p>
            <a:r>
              <a:t>네 개 중 기술적으로 가장 급한 건 열이고, 산업 전체로 가장 오래 걸릴 건 상호운용성입니다.</a:t>
            </a:r>
          </a:p>
          <a:p>
            <a:r>
              <a:t>그리고 그건 기술 문제이기 이전에 계약 문제입니다.</a:t>
            </a:r>
          </a:p>
          <a:p/>
          <a:p>
            <a:r>
              <a:t>[다음 장 연결] 정리하겠습니다.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[마무리 · 약 1분 30초. 새 정보를 넣지 말고 앞의 것을 회수만 하세요.]</a:t>
            </a:r>
          </a:p>
          <a:p/>
          <a:p>
            <a:r>
              <a:t>[네 문장을 순서대로 읽되, 각각 앞의 어느 장에서 나왔는지 되짚어 줍니다]</a:t>
            </a:r>
          </a:p>
          <a:p>
            <a:r>
              <a:t>① "칩렛은 목적이 아니라 수단이다" — 2번, 3번 장. 레티클·수율·노드 원가 세 제약을</a:t>
            </a:r>
          </a:p>
          <a:p>
            <a:r>
              <a:t>   우회하려고 선택한 것이지, 칩렛 자체가 좋아서가 아닙니다.</a:t>
            </a:r>
          </a:p>
          <a:p>
            <a:r>
              <a:t>② "분할 지점이 설계를 결정한다" — 5번 장의 P = BW × E_bit. 이 발표에서 딱 하나만</a:t>
            </a:r>
          </a:p>
          <a:p>
            <a:r>
              <a:t>   기억해야 한다면 이 식입니다.</a:t>
            </a:r>
          </a:p>
          <a:p>
            <a:r>
              <a:t>③ "패키징이 성능의 일부가 되었다" — 8번, 9번 장. 범프 피치가 대역폭 밀도를 정합니다.</a:t>
            </a:r>
          </a:p>
          <a:p>
            <a:r>
              <a:t>   예전에는 패키지가 설계가 끝난 뒤의 문제였는데, 이제는 아키텍처를 정할 때 같이 정해야 합니다.</a:t>
            </a:r>
          </a:p>
          <a:p>
            <a:r>
              <a:t>④ "표준은 필요조건이지 충분조건이 아니다" — 11번 장.</a:t>
            </a:r>
          </a:p>
          <a:p/>
          <a:p>
            <a:r>
              <a:t>[오른쪽 타임라인 — 짧게]</a:t>
            </a:r>
          </a:p>
          <a:p>
            <a:r>
              <a:t>2020년 전후로 서버 CPU에서 2D 분할이 자리 잡았고, 2022년부터 AI 가속기가 2.5D + HBM을</a:t>
            </a:r>
          </a:p>
          <a:p>
            <a:r>
              <a:t>기본형으로 삼았고, 2024년부터 하이브리드 본딩이 양산에 들어왔습니다. 앞으로가 관심사인데,</a:t>
            </a:r>
          </a:p>
          <a:p>
            <a:r>
              <a:t>파란 점으로 표시한 2026년 이후가 UCIe 기반 이종 벤더 조립과 광 I/O 결합입니다.</a:t>
            </a:r>
          </a:p>
          <a:p/>
          <a:p>
            <a:r>
              <a:t>[마지막 한 문장 — 이걸로 끝내세요]</a:t>
            </a:r>
          </a:p>
          <a:p>
            <a:r>
              <a:t>"칩렛은 무어의 법칙을 대체하지 않습니다. 미세화가 느려진 만큼을 패키지에서 벌어오는 것입니다."</a:t>
            </a:r>
          </a:p>
          <a:p/>
          <a:p>
            <a:r>
              <a:t>[예상 질문과 답변 준비]</a:t>
            </a:r>
          </a:p>
          <a:p>
            <a:r>
              <a:t>Q. 분할하면 항상 이득인가?</a:t>
            </a:r>
          </a:p>
          <a:p>
            <a:r>
              <a:t>A. 아닙니다. 5번 장 표에서 경계 트래픽이 크면 인터커넥트 전력이 이득을 잡아먹습니다.</a:t>
            </a:r>
          </a:p>
          <a:p>
            <a:r>
              <a:t>   작은 다이를 더 쪼개는 것도 대개 손해입니다.</a:t>
            </a:r>
          </a:p>
          <a:p>
            <a:r>
              <a:t>Q. 3D가 최선인가?</a:t>
            </a:r>
          </a:p>
          <a:p>
            <a:r>
              <a:t>A. 열 때문에 고발열 로직끼리는 못 쌓습니다. 캐시처럼 발열이 적은 층에 주로 씁니다.</a:t>
            </a:r>
          </a:p>
          <a:p>
            <a:r>
              <a:t>Q. 칩렛 마켓플레이스는 언제 오나?</a:t>
            </a:r>
          </a:p>
          <a:p>
            <a:r>
              <a:t>A. 기술보다 계약·검증 문제라 시점을 말하기 어렵습니다. 11번 장의 ①번 항목입니다.</a:t>
            </a:r>
          </a:p>
          <a:p>
            <a:r>
              <a:t>Q. D₀ 값의 근거는?</a:t>
            </a:r>
          </a:p>
          <a:p>
            <a:r>
              <a:t>A. 제가 잡은 예시값입니다. 특정 파운드리 실측치가 아니라고 분명히 말씀하세요.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1036040"/>
            <a:ext cx="10363200" cy="1470025"/>
          </a:xfrm>
          <a:prstGeom prst="rect">
            <a:avLst/>
          </a:prstGeom>
        </p:spPr>
        <p:txBody>
          <a:bodyPr/>
          <a:lstStyle>
            <a:lvl1pPr>
              <a:defRPr sz="4000" b="0"/>
            </a:lvl1pPr>
          </a:lstStyle>
          <a:p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914400" y="2857500"/>
            <a:ext cx="10363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800" u="sng"/>
            </a:lvl1pPr>
            <a:lvl2pPr marL="457189" indent="0" algn="ctr">
              <a:buNone/>
              <a:defRPr/>
            </a:lvl2pPr>
            <a:lvl3pPr marL="914377" indent="0" algn="ctr">
              <a:buNone/>
              <a:defRPr/>
            </a:lvl3pPr>
            <a:lvl4pPr marL="1371566" indent="0" algn="ctr">
              <a:buNone/>
              <a:defRPr/>
            </a:lvl4pPr>
            <a:lvl5pPr marL="1828754" indent="0" algn="ctr">
              <a:buNone/>
              <a:defRPr/>
            </a:lvl5pPr>
            <a:lvl6pPr marL="2285943" indent="0" algn="ctr">
              <a:buNone/>
              <a:defRPr/>
            </a:lvl6pPr>
            <a:lvl7pPr marL="2743131" indent="0" algn="ctr">
              <a:buNone/>
              <a:defRPr/>
            </a:lvl7pPr>
            <a:lvl8pPr marL="3200320" indent="0" algn="ctr">
              <a:buNone/>
              <a:defRPr/>
            </a:lvl8pPr>
            <a:lvl9pPr marL="3657509" indent="0" algn="ctr">
              <a:buNone/>
              <a:defRPr/>
            </a:lvl9pPr>
          </a:lstStyle>
          <a:p>
            <a:endParaRPr lang="en-US" altLang="zh-TW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636000" y="6553200"/>
            <a:ext cx="3251200" cy="24447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56247BF3-6255-4046-9AC4-DE939100E212}" type="slidenum">
              <a:rPr lang="en-US" altLang="zh-TW"/>
              <a:pPr/>
              <a:t>‹#›</a:t>
            </a:fld>
            <a:endParaRPr lang="en-US" altLang="zh-TW"/>
          </a:p>
        </p:txBody>
      </p:sp>
      <p:sp>
        <p:nvSpPr>
          <p:cNvPr id="5" name="Google Shape;10;p37">
            <a:extLst>
              <a:ext uri="{FF2B5EF4-FFF2-40B4-BE49-F238E27FC236}">
                <a16:creationId xmlns:a16="http://schemas.microsoft.com/office/drawing/2014/main" id="{41C24CEB-2A01-4BEF-8B47-0FA537DA1A34}"/>
              </a:ext>
            </a:extLst>
          </p:cNvPr>
          <p:cNvSpPr/>
          <p:nvPr userDrawn="1"/>
        </p:nvSpPr>
        <p:spPr>
          <a:xfrm>
            <a:off x="457200" y="2590800"/>
            <a:ext cx="11277600" cy="76200"/>
          </a:xfrm>
          <a:prstGeom prst="rect">
            <a:avLst/>
          </a:prstGeom>
          <a:solidFill>
            <a:srgbClr val="00418E"/>
          </a:solidFill>
          <a:ln>
            <a:noFill/>
          </a:ln>
        </p:spPr>
        <p:txBody>
          <a:bodyPr spcFirstLastPara="1" wrap="square" lIns="80669" tIns="40324" rIns="80669" bIns="40324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71" b="0" i="0" u="none" strike="noStrike" cap="none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s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hasCustomPrompt="1"/>
          </p:nvPr>
        </p:nvSpPr>
        <p:spPr>
          <a:xfrm>
            <a:off x="457200" y="152400"/>
            <a:ext cx="11277600" cy="533400"/>
          </a:xfrm>
          <a:prstGeom prst="rect">
            <a:avLst/>
          </a:prstGeom>
        </p:spPr>
        <p:txBody>
          <a:bodyPr/>
          <a:lstStyle>
            <a:lvl1pPr algn="just">
              <a:defRPr sz="2800"/>
            </a:lvl1pPr>
          </a:lstStyle>
          <a:p>
            <a:r>
              <a:rPr lang="en-US" altLang="zh-TW"/>
              <a:t>Outline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 hasCustomPrompt="1"/>
          </p:nvPr>
        </p:nvSpPr>
        <p:spPr>
          <a:xfrm>
            <a:off x="457200" y="914400"/>
            <a:ext cx="11277600" cy="5059367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altLang="zh-TW" err="1"/>
              <a:t>ddd</a:t>
            </a:r>
            <a:endParaRPr lang="zh-TW" altLang="en-US"/>
          </a:p>
          <a:p>
            <a:pPr lvl="1"/>
            <a:r>
              <a:rPr lang="en-US" altLang="zh-TW" err="1"/>
              <a:t>ddd</a:t>
            </a:r>
            <a:endParaRPr lang="zh-TW" altLang="en-US"/>
          </a:p>
          <a:p>
            <a:pPr lvl="2"/>
            <a:r>
              <a:rPr lang="en-US" altLang="zh-TW" err="1"/>
              <a:t>ddd</a:t>
            </a:r>
            <a:endParaRPr lang="zh-TW" altLang="en-US"/>
          </a:p>
          <a:p>
            <a:pPr lvl="3"/>
            <a:r>
              <a:rPr lang="en-US" altLang="zh-TW" err="1"/>
              <a:t>ddd</a:t>
            </a:r>
            <a:endParaRPr lang="zh-TW" altLang="en-US"/>
          </a:p>
          <a:p>
            <a:pPr lvl="4"/>
            <a:r>
              <a:rPr lang="en-US" altLang="zh-TW" err="1"/>
              <a:t>ddd</a:t>
            </a:r>
            <a:endParaRPr lang="zh-TW" alt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636000" y="6553200"/>
            <a:ext cx="3251200" cy="24447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4CAF89B4-DB56-47DB-B257-53A4B5264947}" type="slidenum">
              <a:rPr lang="en-US" altLang="zh-TW"/>
              <a:pPr/>
              <a:t>‹#›</a:t>
            </a:fld>
            <a:endParaRPr lang="en-US" altLang="zh-TW"/>
          </a:p>
        </p:txBody>
      </p:sp>
      <p:sp>
        <p:nvSpPr>
          <p:cNvPr id="6" name="Google Shape;10;p37">
            <a:extLst>
              <a:ext uri="{FF2B5EF4-FFF2-40B4-BE49-F238E27FC236}">
                <a16:creationId xmlns:a16="http://schemas.microsoft.com/office/drawing/2014/main" id="{A7DFF6CF-758A-48CD-BDE5-D7CD6CC903E1}"/>
              </a:ext>
            </a:extLst>
          </p:cNvPr>
          <p:cNvSpPr/>
          <p:nvPr userDrawn="1"/>
        </p:nvSpPr>
        <p:spPr>
          <a:xfrm>
            <a:off x="457200" y="762000"/>
            <a:ext cx="11277600" cy="76200"/>
          </a:xfrm>
          <a:prstGeom prst="rect">
            <a:avLst/>
          </a:prstGeom>
          <a:solidFill>
            <a:srgbClr val="00418E"/>
          </a:solidFill>
          <a:ln>
            <a:noFill/>
          </a:ln>
        </p:spPr>
        <p:txBody>
          <a:bodyPr spcFirstLastPara="1" wrap="square" lIns="80669" tIns="40324" rIns="80669" bIns="40324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71" b="0" i="0" u="none" strike="noStrike" cap="none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64515C7-0FE4-404A-A97A-829DE3C7607E}"/>
              </a:ext>
            </a:extLst>
          </p:cNvPr>
          <p:cNvSpPr txBox="1">
            <a:spLocks/>
          </p:cNvSpPr>
          <p:nvPr userDrawn="1"/>
        </p:nvSpPr>
        <p:spPr>
          <a:xfrm>
            <a:off x="3938954" y="6633522"/>
            <a:ext cx="4314091" cy="21962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Circuits And Systems for Signal Processing(CASSP) Lab.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BEC1152-E871-4917-BE8D-37EF2E3E291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" y="6671255"/>
            <a:ext cx="812800" cy="14415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636000" y="6553200"/>
            <a:ext cx="3251200" cy="24447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CD0E9149-68EB-4ACF-9DEB-8C57727CBB7E}" type="slidenum">
              <a:rPr lang="en-US" altLang="zh-TW"/>
              <a:pPr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75297E58-7921-4390-8EE0-6B04CBE915C6}"/>
              </a:ext>
            </a:extLst>
          </p:cNvPr>
          <p:cNvCxnSpPr>
            <a:cxnSpLocks/>
          </p:cNvCxnSpPr>
          <p:nvPr userDrawn="1"/>
        </p:nvCxnSpPr>
        <p:spPr>
          <a:xfrm>
            <a:off x="696000" y="802025"/>
            <a:ext cx="10800000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B44F2B9-CD1F-45FE-A1FE-600512E8765D}"/>
              </a:ext>
            </a:extLst>
          </p:cNvPr>
          <p:cNvCxnSpPr>
            <a:cxnSpLocks/>
          </p:cNvCxnSpPr>
          <p:nvPr userDrawn="1"/>
        </p:nvCxnSpPr>
        <p:spPr>
          <a:xfrm>
            <a:off x="696000" y="6278483"/>
            <a:ext cx="10800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3417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0294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>
            <a:spLocks noGrp="1"/>
          </p:cNvSpPr>
          <p:nvPr>
            <p:ph type="ctrTitle"/>
          </p:nvPr>
        </p:nvSpPr>
        <p:spPr>
          <a:xfrm>
            <a:off x="914016" y="2130524"/>
            <a:ext cx="10363969" cy="1469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575" tIns="50775" rIns="101575" bIns="50775" anchor="t" anchorCtr="0">
            <a:noAutofit/>
          </a:bodyPr>
          <a:lstStyle>
            <a:lvl1pPr lvl="0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8"/>
          <p:cNvSpPr txBox="1">
            <a:spLocks noGrp="1"/>
          </p:cNvSpPr>
          <p:nvPr>
            <p:ph type="subTitle" idx="1"/>
          </p:nvPr>
        </p:nvSpPr>
        <p:spPr>
          <a:xfrm>
            <a:off x="1828032" y="3885640"/>
            <a:ext cx="8535940" cy="17537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575" tIns="50775" rIns="101575" bIns="50775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1059"/>
              </a:spcBef>
              <a:spcAft>
                <a:spcPts val="0"/>
              </a:spcAft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353"/>
              </a:spcBef>
              <a:spcAft>
                <a:spcPts val="0"/>
              </a:spcAft>
              <a:buSzPts val="1500"/>
              <a:buNone/>
              <a:defRPr/>
            </a:lvl2pPr>
            <a:lvl3pPr lvl="2" algn="ctr">
              <a:lnSpc>
                <a:spcPct val="90000"/>
              </a:lnSpc>
              <a:spcBef>
                <a:spcPts val="159"/>
              </a:spcBef>
              <a:spcAft>
                <a:spcPts val="0"/>
              </a:spcAft>
              <a:buSzPts val="1350"/>
              <a:buNone/>
              <a:defRPr/>
            </a:lvl3pPr>
            <a:lvl4pPr lvl="3" algn="ctr">
              <a:lnSpc>
                <a:spcPct val="90000"/>
              </a:lnSpc>
              <a:spcBef>
                <a:spcPts val="79"/>
              </a:spcBef>
              <a:spcAft>
                <a:spcPts val="0"/>
              </a:spcAft>
              <a:buSzPts val="1350"/>
              <a:buNone/>
              <a:defRPr/>
            </a:lvl4pPr>
            <a:lvl5pPr lvl="4" algn="ctr">
              <a:lnSpc>
                <a:spcPct val="90000"/>
              </a:lnSpc>
              <a:spcBef>
                <a:spcPts val="79"/>
              </a:spcBef>
              <a:spcAft>
                <a:spcPts val="0"/>
              </a:spcAft>
              <a:buSzPts val="1350"/>
              <a:buNone/>
              <a:defRPr/>
            </a:lvl5pPr>
            <a:lvl6pPr lvl="5" algn="ctr">
              <a:lnSpc>
                <a:spcPct val="90000"/>
              </a:lnSpc>
              <a:spcBef>
                <a:spcPts val="79"/>
              </a:spcBef>
              <a:spcAft>
                <a:spcPts val="0"/>
              </a:spcAft>
              <a:buSzPts val="1350"/>
              <a:buNone/>
              <a:defRPr/>
            </a:lvl6pPr>
            <a:lvl7pPr lvl="6" algn="ctr">
              <a:lnSpc>
                <a:spcPct val="90000"/>
              </a:lnSpc>
              <a:spcBef>
                <a:spcPts val="79"/>
              </a:spcBef>
              <a:spcAft>
                <a:spcPts val="0"/>
              </a:spcAft>
              <a:buSzPts val="1350"/>
              <a:buNone/>
              <a:defRPr/>
            </a:lvl7pPr>
            <a:lvl8pPr lvl="7" algn="ctr">
              <a:lnSpc>
                <a:spcPct val="90000"/>
              </a:lnSpc>
              <a:spcBef>
                <a:spcPts val="79"/>
              </a:spcBef>
              <a:spcAft>
                <a:spcPts val="0"/>
              </a:spcAft>
              <a:buSzPts val="1350"/>
              <a:buNone/>
              <a:defRPr/>
            </a:lvl8pPr>
            <a:lvl9pPr lvl="8" algn="ctr">
              <a:lnSpc>
                <a:spcPct val="90000"/>
              </a:lnSpc>
              <a:spcBef>
                <a:spcPts val="79"/>
              </a:spcBef>
              <a:spcAft>
                <a:spcPts val="0"/>
              </a:spcAft>
              <a:buSzPts val="135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8"/>
          <p:cNvSpPr txBox="1">
            <a:spLocks noGrp="1"/>
          </p:cNvSpPr>
          <p:nvPr>
            <p:ph type="dt" idx="10"/>
          </p:nvPr>
        </p:nvSpPr>
        <p:spPr>
          <a:xfrm>
            <a:off x="219465" y="6572255"/>
            <a:ext cx="1935788" cy="183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ISSCC 2022</a:t>
            </a:r>
            <a:endParaRPr/>
          </a:p>
        </p:txBody>
      </p:sp>
      <p:sp>
        <p:nvSpPr>
          <p:cNvPr id="19" name="Google Shape;19;p38"/>
          <p:cNvSpPr txBox="1">
            <a:spLocks noGrp="1"/>
          </p:cNvSpPr>
          <p:nvPr>
            <p:ph type="sldNum" idx="12"/>
          </p:nvPr>
        </p:nvSpPr>
        <p:spPr>
          <a:xfrm>
            <a:off x="10583234" y="6561049"/>
            <a:ext cx="1389303" cy="1947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663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 preserve="1">
  <p:cSld name="Title and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9"/>
          <p:cNvSpPr txBox="1">
            <a:spLocks noGrp="1"/>
          </p:cNvSpPr>
          <p:nvPr>
            <p:ph type="title"/>
          </p:nvPr>
        </p:nvSpPr>
        <p:spPr>
          <a:xfrm>
            <a:off x="1556715" y="148478"/>
            <a:ext cx="8834196" cy="5560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575" tIns="50775" rIns="101575" bIns="50775" anchor="ctr" anchorCtr="0">
            <a:noAutofit/>
          </a:bodyPr>
          <a:lstStyle>
            <a:lvl1pPr lvl="0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9"/>
          <p:cNvSpPr txBox="1">
            <a:spLocks noGrp="1"/>
          </p:cNvSpPr>
          <p:nvPr>
            <p:ph type="body" idx="1"/>
          </p:nvPr>
        </p:nvSpPr>
        <p:spPr>
          <a:xfrm>
            <a:off x="0" y="895770"/>
            <a:ext cx="12115800" cy="5657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575" tIns="50775" rIns="101575" bIns="50775" anchor="t" anchorCtr="0">
            <a:noAutofit/>
          </a:bodyPr>
          <a:lstStyle>
            <a:lvl1pPr marL="403433" lvl="0" indent="-277360" algn="l">
              <a:lnSpc>
                <a:spcPct val="90000"/>
              </a:lnSpc>
              <a:spcBef>
                <a:spcPts val="794"/>
              </a:spcBef>
              <a:spcAft>
                <a:spcPts val="0"/>
              </a:spcAft>
              <a:buSzPts val="1350"/>
              <a:buChar char="■"/>
              <a:defRPr sz="2000"/>
            </a:lvl1pPr>
            <a:lvl2pPr marL="806867" lvl="1" indent="-277360" algn="l">
              <a:lnSpc>
                <a:spcPct val="90000"/>
              </a:lnSpc>
              <a:spcBef>
                <a:spcPts val="318"/>
              </a:spcBef>
              <a:spcAft>
                <a:spcPts val="0"/>
              </a:spcAft>
              <a:buSzPts val="1350"/>
              <a:buChar char="□"/>
              <a:defRPr sz="1800"/>
            </a:lvl2pPr>
            <a:lvl3pPr marL="1210300" lvl="2" indent="-277360" algn="l">
              <a:lnSpc>
                <a:spcPct val="90000"/>
              </a:lnSpc>
              <a:spcBef>
                <a:spcPts val="159"/>
              </a:spcBef>
              <a:spcAft>
                <a:spcPts val="0"/>
              </a:spcAft>
              <a:buSzPts val="1350"/>
              <a:buChar char="●"/>
              <a:defRPr sz="1600"/>
            </a:lvl3pPr>
            <a:lvl4pPr marL="1613733" lvl="3" indent="-277360" algn="l">
              <a:lnSpc>
                <a:spcPct val="90000"/>
              </a:lnSpc>
              <a:spcBef>
                <a:spcPts val="79"/>
              </a:spcBef>
              <a:spcAft>
                <a:spcPts val="0"/>
              </a:spcAft>
              <a:buSzPts val="1350"/>
              <a:buChar char="🔾"/>
              <a:defRPr sz="1600"/>
            </a:lvl4pPr>
            <a:lvl5pPr marL="2017166" lvl="4" indent="-277360" algn="l">
              <a:lnSpc>
                <a:spcPct val="90000"/>
              </a:lnSpc>
              <a:spcBef>
                <a:spcPts val="79"/>
              </a:spcBef>
              <a:spcAft>
                <a:spcPts val="0"/>
              </a:spcAft>
              <a:buSzPts val="1350"/>
              <a:buChar char="❖"/>
              <a:defRPr sz="1600"/>
            </a:lvl5pPr>
            <a:lvl6pPr marL="2420600" lvl="5" indent="-277360" algn="l">
              <a:lnSpc>
                <a:spcPct val="90000"/>
              </a:lnSpc>
              <a:spcBef>
                <a:spcPts val="79"/>
              </a:spcBef>
              <a:spcAft>
                <a:spcPts val="0"/>
              </a:spcAft>
              <a:buSzPts val="1350"/>
              <a:buChar char="❖"/>
              <a:defRPr sz="1600"/>
            </a:lvl6pPr>
            <a:lvl7pPr marL="2824033" lvl="6" indent="-277360" algn="l">
              <a:lnSpc>
                <a:spcPct val="90000"/>
              </a:lnSpc>
              <a:spcBef>
                <a:spcPts val="79"/>
              </a:spcBef>
              <a:spcAft>
                <a:spcPts val="0"/>
              </a:spcAft>
              <a:buSzPts val="1350"/>
              <a:buChar char="❖"/>
              <a:defRPr/>
            </a:lvl7pPr>
            <a:lvl8pPr marL="3227466" lvl="7" indent="-277360" algn="l">
              <a:lnSpc>
                <a:spcPct val="90000"/>
              </a:lnSpc>
              <a:spcBef>
                <a:spcPts val="79"/>
              </a:spcBef>
              <a:spcAft>
                <a:spcPts val="0"/>
              </a:spcAft>
              <a:buSzPts val="1350"/>
              <a:buChar char="❖"/>
              <a:defRPr/>
            </a:lvl8pPr>
            <a:lvl9pPr marL="3630900" lvl="8" indent="-277360" algn="l">
              <a:lnSpc>
                <a:spcPct val="90000"/>
              </a:lnSpc>
              <a:spcBef>
                <a:spcPts val="79"/>
              </a:spcBef>
              <a:spcAft>
                <a:spcPts val="0"/>
              </a:spcAft>
              <a:buSzPts val="1350"/>
              <a:buChar char="❖"/>
              <a:defRPr/>
            </a:lvl9pPr>
          </a:lstStyle>
          <a:p>
            <a:endParaRPr lang="en-US"/>
          </a:p>
          <a:p>
            <a:pPr lvl="1"/>
            <a:endParaRPr lang="en-US"/>
          </a:p>
          <a:p>
            <a:pPr lvl="2"/>
            <a:endParaRPr lang="en-US"/>
          </a:p>
          <a:p>
            <a:pPr lvl="3"/>
            <a:endParaRPr lang="en-US"/>
          </a:p>
          <a:p>
            <a:pPr lvl="4"/>
            <a:endParaRPr lang="en-US"/>
          </a:p>
          <a:p>
            <a:pPr lvl="5"/>
            <a:endParaRPr/>
          </a:p>
        </p:txBody>
      </p:sp>
      <p:sp>
        <p:nvSpPr>
          <p:cNvPr id="23" name="Google Shape;23;p39"/>
          <p:cNvSpPr txBox="1">
            <a:spLocks noGrp="1"/>
          </p:cNvSpPr>
          <p:nvPr>
            <p:ph type="dt" idx="10"/>
          </p:nvPr>
        </p:nvSpPr>
        <p:spPr>
          <a:xfrm>
            <a:off x="219465" y="6572255"/>
            <a:ext cx="1935788" cy="183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ISSCC 2022</a:t>
            </a:r>
            <a:endParaRPr/>
          </a:p>
        </p:txBody>
      </p:sp>
      <p:sp>
        <p:nvSpPr>
          <p:cNvPr id="24" name="Google Shape;24;p39"/>
          <p:cNvSpPr txBox="1">
            <a:spLocks noGrp="1"/>
          </p:cNvSpPr>
          <p:nvPr>
            <p:ph type="sldNum" idx="12"/>
          </p:nvPr>
        </p:nvSpPr>
        <p:spPr>
          <a:xfrm>
            <a:off x="10583234" y="6561049"/>
            <a:ext cx="1389303" cy="1947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1051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 preserve="1">
  <p:cSld name="Custom Layou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0"/>
          <p:cNvSpPr txBox="1">
            <a:spLocks noGrp="1"/>
          </p:cNvSpPr>
          <p:nvPr>
            <p:ph type="title"/>
          </p:nvPr>
        </p:nvSpPr>
        <p:spPr>
          <a:xfrm>
            <a:off x="1556715" y="148478"/>
            <a:ext cx="8834196" cy="5560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575" tIns="50775" rIns="101575" bIns="50775" anchor="ctr" anchorCtr="0">
            <a:noAutofit/>
          </a:bodyPr>
          <a:lstStyle>
            <a:lvl1pPr lvl="0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0"/>
          <p:cNvSpPr txBox="1">
            <a:spLocks noGrp="1"/>
          </p:cNvSpPr>
          <p:nvPr>
            <p:ph type="dt" idx="10"/>
          </p:nvPr>
        </p:nvSpPr>
        <p:spPr>
          <a:xfrm>
            <a:off x="219465" y="6572255"/>
            <a:ext cx="1935788" cy="183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ISSCC 2022</a:t>
            </a:r>
            <a:endParaRPr/>
          </a:p>
        </p:txBody>
      </p:sp>
      <p:sp>
        <p:nvSpPr>
          <p:cNvPr id="28" name="Google Shape;28;p40"/>
          <p:cNvSpPr txBox="1">
            <a:spLocks noGrp="1"/>
          </p:cNvSpPr>
          <p:nvPr>
            <p:ph type="sldNum" idx="12"/>
          </p:nvPr>
        </p:nvSpPr>
        <p:spPr>
          <a:xfrm>
            <a:off x="10583234" y="6561049"/>
            <a:ext cx="1389303" cy="1947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05465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theme" Target="../theme/theme2.xml"/><Relationship Id="rId4" Type="http://schemas.openxmlformats.org/officeDocument/2006/relationships/image" Target="../media/image2.jpe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Rectangle 7"/>
          <p:cNvSpPr>
            <a:spLocks noChangeArrowheads="1"/>
          </p:cNvSpPr>
          <p:nvPr userDrawn="1"/>
        </p:nvSpPr>
        <p:spPr bwMode="auto">
          <a:xfrm>
            <a:off x="0" y="6548967"/>
            <a:ext cx="12192000" cy="3047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altLang="zh-TW" sz="1400" b="1">
              <a:solidFill>
                <a:schemeClr val="tx1"/>
              </a:solidFill>
              <a:latin typeface="+mj-lt"/>
              <a:ea typeface="PMingLiU" pitchFamily="18" charset="-120"/>
            </a:endParaRP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36000" y="6553200"/>
            <a:ext cx="325120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solidFill>
                  <a:schemeClr val="tx1"/>
                </a:solidFill>
                <a:ea typeface="PMingLiU" pitchFamily="18" charset="-120"/>
              </a:defRPr>
            </a:lvl1pPr>
          </a:lstStyle>
          <a:p>
            <a:fld id="{D9BCE4D7-9144-41ED-BBBC-8D53CA1DB091}" type="slidenum">
              <a:rPr lang="en-US" altLang="zh-TW" smtClean="0"/>
              <a:pPr/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rgbClr val="003399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rgbClr val="003399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rgbClr val="003399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rgbClr val="003399"/>
          </a:solidFill>
          <a:latin typeface="Arial" charset="0"/>
        </a:defRPr>
      </a:lvl5pPr>
      <a:lvl6pPr marL="457189" algn="ctr" rtl="0" fontAlgn="base">
        <a:spcBef>
          <a:spcPct val="0"/>
        </a:spcBef>
        <a:spcAft>
          <a:spcPct val="0"/>
        </a:spcAft>
        <a:defRPr sz="4400" b="1">
          <a:solidFill>
            <a:srgbClr val="003399"/>
          </a:solidFill>
          <a:latin typeface="Arial" charset="0"/>
        </a:defRPr>
      </a:lvl6pPr>
      <a:lvl7pPr marL="914377" algn="ctr" rtl="0" fontAlgn="base">
        <a:spcBef>
          <a:spcPct val="0"/>
        </a:spcBef>
        <a:spcAft>
          <a:spcPct val="0"/>
        </a:spcAft>
        <a:defRPr sz="4400" b="1">
          <a:solidFill>
            <a:srgbClr val="003399"/>
          </a:solidFill>
          <a:latin typeface="Arial" charset="0"/>
        </a:defRPr>
      </a:lvl7pPr>
      <a:lvl8pPr marL="1371566" algn="ctr" rtl="0" fontAlgn="base">
        <a:spcBef>
          <a:spcPct val="0"/>
        </a:spcBef>
        <a:spcAft>
          <a:spcPct val="0"/>
        </a:spcAft>
        <a:defRPr sz="4400" b="1">
          <a:solidFill>
            <a:srgbClr val="003399"/>
          </a:solidFill>
          <a:latin typeface="Arial" charset="0"/>
        </a:defRPr>
      </a:lvl8pPr>
      <a:lvl9pPr marL="1828754" algn="ctr" rtl="0" fontAlgn="base">
        <a:spcBef>
          <a:spcPct val="0"/>
        </a:spcBef>
        <a:spcAft>
          <a:spcPct val="0"/>
        </a:spcAft>
        <a:defRPr sz="4400" b="1">
          <a:solidFill>
            <a:srgbClr val="003399"/>
          </a:solidFill>
          <a:latin typeface="Arial" charset="0"/>
        </a:defRPr>
      </a:lvl9pPr>
    </p:titleStyle>
    <p:bodyStyle>
      <a:lvl1pPr marL="342891" indent="-342891" algn="l" rtl="0" eaLnBrk="0" fontAlgn="base" hangingPunct="0">
        <a:spcBef>
          <a:spcPct val="20000"/>
        </a:spcBef>
        <a:spcAft>
          <a:spcPct val="0"/>
        </a:spcAft>
        <a:buChar char="•"/>
        <a:defRPr sz="2600">
          <a:solidFill>
            <a:schemeClr val="tx1"/>
          </a:solidFill>
          <a:latin typeface="+mn-lt"/>
          <a:ea typeface="+mn-ea"/>
          <a:cs typeface="+mn-cs"/>
        </a:defRPr>
      </a:lvl1pPr>
      <a:lvl2pPr marL="742932" indent="-285744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2971" indent="-228594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160" indent="-228594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4pPr>
      <a:lvl5pPr marL="2057349" indent="-228594" algn="l" rtl="0" eaLnBrk="0" fontAlgn="base" hangingPunct="0">
        <a:spcBef>
          <a:spcPct val="20000"/>
        </a:spcBef>
        <a:spcAft>
          <a:spcPct val="0"/>
        </a:spcAft>
        <a:buChar char="»"/>
        <a:defRPr sz="2400">
          <a:solidFill>
            <a:schemeClr val="tx1"/>
          </a:solidFill>
          <a:latin typeface="+mn-lt"/>
        </a:defRPr>
      </a:lvl5pPr>
      <a:lvl6pPr marL="2514537" indent="-228594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726" indent="-228594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8914" indent="-228594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103" indent="-228594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zh-TW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1">
            <a:extLst>
              <a:ext uri="{FF2B5EF4-FFF2-40B4-BE49-F238E27FC236}">
                <a16:creationId xmlns:a16="http://schemas.microsoft.com/office/drawing/2014/main" id="{FA2CD57C-7502-4E1A-8C02-C01D15EF2F74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0029092" y="6452146"/>
            <a:ext cx="2162909" cy="2027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9pPr>
          </a:lstStyle>
          <a:p>
            <a:pPr algn="ctr" rtl="1" eaLnBrk="1" hangingPunct="1">
              <a:lnSpc>
                <a:spcPct val="93000"/>
              </a:lnSpc>
              <a:buClr>
                <a:srgbClr val="000000"/>
              </a:buClr>
              <a:buSzPct val="100000"/>
              <a:buFont typeface="Times New Roman" pitchFamily="18" charset="0"/>
              <a:buNone/>
            </a:pPr>
            <a:fld id="{2F4D2785-A076-4F3E-A175-152D0C56177B}" type="slidenum">
              <a:rPr kumimoji="1" lang="en-US" sz="1200" b="0" i="0" smtClean="0">
                <a:solidFill>
                  <a:srgbClr val="000000"/>
                </a:solidFill>
                <a:latin typeface="Arial" pitchFamily="34" charset="0"/>
                <a:ea typeface="HY헤드라인M"/>
                <a:cs typeface="Arial" pitchFamily="34" charset="0"/>
              </a:rPr>
              <a:pPr algn="ctr" rtl="1" eaLnBrk="1" hangingPunct="1">
                <a:lnSpc>
                  <a:spcPct val="93000"/>
                </a:lnSpc>
                <a:buClr>
                  <a:srgbClr val="000000"/>
                </a:buClr>
                <a:buSzPct val="100000"/>
                <a:buFont typeface="Times New Roman" pitchFamily="18" charset="0"/>
                <a:buNone/>
              </a:pPr>
              <a:t>‹#›</a:t>
            </a:fld>
            <a:endParaRPr kumimoji="1" lang="en-US" sz="1200" b="0" i="0">
              <a:solidFill>
                <a:srgbClr val="000000"/>
              </a:solidFill>
              <a:latin typeface="Arial" pitchFamily="34" charset="0"/>
              <a:ea typeface="HY헤드라인M"/>
              <a:cs typeface="Arial" pitchFamily="34" charset="0"/>
            </a:endParaRPr>
          </a:p>
        </p:txBody>
      </p:sp>
      <p:pic>
        <p:nvPicPr>
          <p:cNvPr id="5" name="Picture 20" descr="By Products :: 2021 KES ::">
            <a:extLst>
              <a:ext uri="{FF2B5EF4-FFF2-40B4-BE49-F238E27FC236}">
                <a16:creationId xmlns:a16="http://schemas.microsoft.com/office/drawing/2014/main" id="{1D36048C-D237-44A4-BCF6-0426B9B747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747" y="6339960"/>
            <a:ext cx="1138052" cy="348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8917AE4-F4FA-40ED-BF39-0F071ADB7C23}"/>
              </a:ext>
            </a:extLst>
          </p:cNvPr>
          <p:cNvSpPr txBox="1"/>
          <p:nvPr userDrawn="1"/>
        </p:nvSpPr>
        <p:spPr>
          <a:xfrm>
            <a:off x="1966586" y="6353479"/>
            <a:ext cx="15938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/>
              <a:t>CASSP Lab</a:t>
            </a:r>
            <a:endParaRPr lang="ko-KR" altLang="en-US" sz="2000" b="1"/>
          </a:p>
        </p:txBody>
      </p:sp>
    </p:spTree>
    <p:extLst>
      <p:ext uri="{BB962C8B-B14F-4D97-AF65-F5344CB8AC3E}">
        <p14:creationId xmlns:p14="http://schemas.microsoft.com/office/powerpoint/2010/main" val="1765270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37"/>
          <p:cNvSpPr txBox="1">
            <a:spLocks noGrp="1"/>
          </p:cNvSpPr>
          <p:nvPr>
            <p:ph type="title"/>
          </p:nvPr>
        </p:nvSpPr>
        <p:spPr>
          <a:xfrm>
            <a:off x="1556715" y="148478"/>
            <a:ext cx="8834196" cy="5560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575" tIns="50775" rIns="101575" bIns="50775" anchor="t" anchorCtr="0">
            <a:noAutofit/>
          </a:bodyPr>
          <a:lstStyle>
            <a:lvl1pPr marR="0" lvl="0" algn="ctr" rtl="0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 u="none" strike="noStrike" cap="non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 u="none" strike="noStrike" cap="non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 u="none" strike="noStrike" cap="non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 u="none" strike="noStrike" cap="non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 u="none" strike="noStrike" cap="non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 u="none" strike="noStrike" cap="non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 u="none" strike="noStrike" cap="non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 u="none" strike="noStrike" cap="non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 u="none" strike="noStrike" cap="non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37"/>
          <p:cNvSpPr txBox="1">
            <a:spLocks noGrp="1"/>
          </p:cNvSpPr>
          <p:nvPr>
            <p:ph type="body" idx="1"/>
          </p:nvPr>
        </p:nvSpPr>
        <p:spPr>
          <a:xfrm>
            <a:off x="53276" y="895770"/>
            <a:ext cx="12138724" cy="5581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575" tIns="50775" rIns="101575" bIns="50775" anchor="t" anchorCtr="0">
            <a:no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Noto Sans Symbols"/>
              <a:buChar char="■"/>
              <a:defRPr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0099"/>
              </a:buClr>
              <a:buSzPts val="1500"/>
              <a:buFont typeface="Noto Sans Symbols"/>
              <a:buChar char="□"/>
              <a:defRPr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4325" algn="l" rtl="0">
              <a:lnSpc>
                <a:spcPct val="90000"/>
              </a:lnSpc>
              <a:spcBef>
                <a:spcPts val="180"/>
              </a:spcBef>
              <a:spcAft>
                <a:spcPts val="0"/>
              </a:spcAft>
              <a:buClr>
                <a:srgbClr val="000099"/>
              </a:buClr>
              <a:buSzPts val="1350"/>
              <a:buFont typeface="Noto Sans Symbols"/>
              <a:buChar char="●"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325" algn="l" rtl="0">
              <a:lnSpc>
                <a:spcPct val="90000"/>
              </a:lnSpc>
              <a:spcBef>
                <a:spcPts val="90"/>
              </a:spcBef>
              <a:spcAft>
                <a:spcPts val="0"/>
              </a:spcAft>
              <a:buClr>
                <a:srgbClr val="000099"/>
              </a:buClr>
              <a:buSzPts val="1350"/>
              <a:buFont typeface="Noto Sans Symbols"/>
              <a:buChar char="🔾"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325" algn="l" rtl="0">
              <a:lnSpc>
                <a:spcPct val="90000"/>
              </a:lnSpc>
              <a:spcBef>
                <a:spcPts val="90"/>
              </a:spcBef>
              <a:spcAft>
                <a:spcPts val="0"/>
              </a:spcAft>
              <a:buClr>
                <a:srgbClr val="000099"/>
              </a:buClr>
              <a:buSzPts val="1350"/>
              <a:buFont typeface="Noto Sans Symbols"/>
              <a:buChar char="❖"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90"/>
              </a:spcBef>
              <a:spcAft>
                <a:spcPts val="0"/>
              </a:spcAft>
              <a:buClr>
                <a:srgbClr val="000099"/>
              </a:buClr>
              <a:buSzPts val="1350"/>
              <a:buFont typeface="Noto Sans Symbols"/>
              <a:buChar char="❖"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90"/>
              </a:spcBef>
              <a:spcAft>
                <a:spcPts val="0"/>
              </a:spcAft>
              <a:buClr>
                <a:srgbClr val="000099"/>
              </a:buClr>
              <a:buSzPts val="1350"/>
              <a:buFont typeface="Noto Sans Symbols"/>
              <a:buChar char="❖"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90"/>
              </a:spcBef>
              <a:spcAft>
                <a:spcPts val="0"/>
              </a:spcAft>
              <a:buClr>
                <a:srgbClr val="000099"/>
              </a:buClr>
              <a:buSzPts val="1350"/>
              <a:buFont typeface="Noto Sans Symbols"/>
              <a:buChar char="❖"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90"/>
              </a:spcBef>
              <a:spcAft>
                <a:spcPts val="0"/>
              </a:spcAft>
              <a:buClr>
                <a:srgbClr val="000099"/>
              </a:buClr>
              <a:buSzPts val="1350"/>
              <a:buFont typeface="Noto Sans Symbols"/>
              <a:buChar char="❖"/>
              <a:defRPr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37"/>
          <p:cNvSpPr/>
          <p:nvPr/>
        </p:nvSpPr>
        <p:spPr>
          <a:xfrm>
            <a:off x="1" y="2905125"/>
            <a:ext cx="12191999" cy="461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669" tIns="40324" rIns="80669" bIns="40324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71" b="0" i="0" u="none" strike="noStrike" cap="none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10" name="Google Shape;10;p37"/>
          <p:cNvSpPr/>
          <p:nvPr/>
        </p:nvSpPr>
        <p:spPr>
          <a:xfrm>
            <a:off x="1" y="826439"/>
            <a:ext cx="12191999" cy="54629"/>
          </a:xfrm>
          <a:prstGeom prst="rect">
            <a:avLst/>
          </a:prstGeom>
          <a:gradFill>
            <a:gsLst>
              <a:gs pos="0">
                <a:srgbClr val="4464B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txBody>
          <a:bodyPr spcFirstLastPara="1" wrap="square" lIns="80669" tIns="40324" rIns="80669" bIns="40324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71" b="0" i="0" u="none" strike="noStrike" cap="none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  <p:sp>
        <p:nvSpPr>
          <p:cNvPr id="12" name="Google Shape;12;p37"/>
          <p:cNvSpPr txBox="1">
            <a:spLocks noGrp="1"/>
          </p:cNvSpPr>
          <p:nvPr>
            <p:ph type="sldNum" idx="12"/>
          </p:nvPr>
        </p:nvSpPr>
        <p:spPr>
          <a:xfrm>
            <a:off x="10583234" y="6561049"/>
            <a:ext cx="1389303" cy="1947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05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66895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</p:sldLayoutIdLst>
  <p:hf hdr="0" ftr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35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ctr"/>
            <a:r>
              <a:rPr sz="3200" b="1" i="0" u="none">
                <a:solidFill>
                  <a:srgbClr val="000000"/>
                </a:solidFill>
                <a:latin typeface="Arial"/>
              </a:rPr>
              <a:t>Chiplets: Disaggregating the SoC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 algn="ctr">
              <a:spcAft>
                <a:spcPts val="1000"/>
              </a:spcAft>
            </a:pPr>
            <a:r>
              <a:rPr sz="1600" b="0" i="0" u="none">
                <a:solidFill>
                  <a:srgbClr val="262626"/>
                </a:solidFill>
                <a:latin typeface="Arial"/>
              </a:rPr>
              <a:t>Why monolithic scaling stalled, and what the package buys back</a:t>
            </a:r>
          </a:p>
          <a:p>
            <a:pPr algn="ctr">
              <a:spcAft>
                <a:spcPts val="200"/>
              </a:spcAft>
            </a:pPr>
            <a:r>
              <a:rPr sz="1400" b="0" i="0" u="none">
                <a:solidFill>
                  <a:srgbClr val="595959"/>
                </a:solidFill>
                <a:latin typeface="Arial"/>
              </a:rPr>
              <a:t>Circuits and Systems for Signal Processing (CASSP) Lab.</a:t>
            </a:r>
          </a:p>
          <a:p>
            <a:pPr algn="ctr">
              <a:spcAft>
                <a:spcPts val="200"/>
              </a:spcAft>
            </a:pPr>
            <a:r>
              <a:rPr sz="1400" b="0" i="0" u="none">
                <a:solidFill>
                  <a:srgbClr val="595959"/>
                </a:solidFill>
                <a:latin typeface="Arial"/>
              </a:rPr>
              <a:t>Department of Electrical Engineering and Computer Science, DGIST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636000" y="6553200"/>
            <a:ext cx="3251200" cy="24447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4CAF89B4-DB56-47DB-B257-53A4B5264947}" type="slidenum">
              <a:rPr lang="en-US" altLang="zh-TW"/>
              <a:pPr/>
              <a:t>‹#›</a:t>
            </a:fld>
            <a:endParaRPr lang="en-US" altLang="zh-TW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304" y="5410504"/>
            <a:ext cx="3353104" cy="594360"/>
          </a:xfrm>
          <a:prstGeom prst="rect">
            <a:avLst/>
          </a:prstGeom>
        </p:spPr>
      </p:pic>
      <p:pic>
        <p:nvPicPr>
          <p:cNvPr id="6" name="Picture 5" descr="Picture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904" y="5181904"/>
            <a:ext cx="3124504" cy="95554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 i="0" u="none">
                <a:solidFill>
                  <a:srgbClr val="000000"/>
                </a:solidFill>
                <a:latin typeface="Arial"/>
              </a:rPr>
              <a:t>The Problem: A Single Die Can No Longer Grow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636000" y="6553200"/>
            <a:ext cx="3251200" cy="24447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4CAF89B4-DB56-47DB-B257-53A4B5264947}" type="slidenum">
              <a:rPr lang="en-US" altLang="zh-TW"/>
              <a:pPr/>
              <a:t>‹#›</a:t>
            </a:fld>
            <a:endParaRPr lang="en-US" altLang="zh-TW"/>
          </a:p>
        </p:txBody>
      </p:sp>
      <p:sp>
        <p:nvSpPr>
          <p:cNvPr id="5" name="TextBox 4"/>
          <p:cNvSpPr txBox="1"/>
          <p:nvPr/>
        </p:nvSpPr>
        <p:spPr>
          <a:xfrm>
            <a:off x="457200" y="896112"/>
            <a:ext cx="1127729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 u="none">
                <a:solidFill>
                  <a:srgbClr val="000000"/>
                </a:solidFill>
                <a:latin typeface="Arial"/>
              </a:rPr>
              <a:t>Three limits close in at once — area, yield, and cost per mm².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57607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7650" indent="-247650">
              <a:spcAft>
                <a:spcPts val="1400"/>
              </a:spcAft>
            </a:pPr>
            <a:r>
              <a:rPr sz="1800" b="0" i="0" u="none">
                <a:solidFill>
                  <a:srgbClr val="262626"/>
                </a:solidFill>
                <a:latin typeface="Arial"/>
              </a:rPr>
              <a:t>•  The reticle field caps one die at 26 × 33 mm = 858 mm².</a:t>
            </a:r>
          </a:p>
          <a:p>
            <a:pPr algn="l" marL="247650" indent="-247650">
              <a:spcAft>
                <a:spcPts val="1400"/>
              </a:spcAft>
            </a:pPr>
            <a:r>
              <a:rPr sz="1800" b="0" i="0" u="none">
                <a:solidFill>
                  <a:srgbClr val="262626"/>
                </a:solidFill>
                <a:latin typeface="Arial"/>
              </a:rPr>
              <a:t>•  High-NA EUV halves it: 26 × 16.5 mm = 429 mm².</a:t>
            </a:r>
          </a:p>
          <a:p>
            <a:pPr algn="l" marL="247650" indent="-247650">
              <a:spcAft>
                <a:spcPts val="1400"/>
              </a:spcAft>
            </a:pPr>
            <a:r>
              <a:rPr sz="1800" b="0" i="0" u="none">
                <a:solidFill>
                  <a:srgbClr val="262626"/>
                </a:solidFill>
                <a:latin typeface="Arial"/>
              </a:rPr>
              <a:t>•  Yield falls exponentially with die area (next slide).</a:t>
            </a:r>
          </a:p>
          <a:p>
            <a:pPr algn="l" marL="247650" indent="-247650">
              <a:spcAft>
                <a:spcPts val="1400"/>
              </a:spcAft>
            </a:pPr>
            <a:r>
              <a:rPr sz="1800" b="0" i="0" u="none">
                <a:solidFill>
                  <a:srgbClr val="262626"/>
                </a:solidFill>
                <a:latin typeface="Arial"/>
              </a:rPr>
              <a:t>•  Cost per mm² rises at every node, yet SRAM and analog barely shrink.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60520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 u="none">
                <a:solidFill>
                  <a:srgbClr val="00418E"/>
                </a:solidFill>
                <a:latin typeface="Arial"/>
              </a:rPr>
              <a:t>So the classic move — spend more area to gain performance — has no headroom left on a single die.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20840" y="1874519"/>
            <a:ext cx="1874519" cy="2441448"/>
          </a:xfrm>
          <a:prstGeom prst="rect">
            <a:avLst/>
          </a:prstGeom>
          <a:solidFill>
            <a:srgbClr val="F2F2F2"/>
          </a:solidFill>
          <a:ln w="22225">
            <a:solidFill>
              <a:srgbClr val="00418E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039112"/>
            <a:ext cx="187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 u="none">
                <a:solidFill>
                  <a:srgbClr val="00418E"/>
                </a:solidFill>
                <a:latin typeface="Arial"/>
              </a:rPr>
              <a:t>Full field</a:t>
            </a:r>
          </a:p>
          <a:p>
            <a:pPr algn="ctr">
              <a:spcAft>
                <a:spcPts val="200"/>
              </a:spcAft>
            </a:pPr>
            <a:r>
              <a:rPr sz="1150" b="1" i="0" u="none">
                <a:solidFill>
                  <a:srgbClr val="00418E"/>
                </a:solidFill>
                <a:latin typeface="Arial"/>
              </a:rPr>
              <a:t>26 × 33 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3931920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 u="none">
                <a:solidFill>
                  <a:srgbClr val="00418E"/>
                </a:solidFill>
                <a:latin typeface="Arial"/>
              </a:rPr>
              <a:t>858 mm²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98280" y="3095244"/>
            <a:ext cx="1874519" cy="1220724"/>
          </a:xfrm>
          <a:prstGeom prst="rect">
            <a:avLst/>
          </a:prstGeom>
          <a:solidFill>
            <a:srgbClr val="D9D9D9"/>
          </a:solidFill>
          <a:ln w="15875">
            <a:solidFill>
              <a:srgbClr val="262626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3236976"/>
            <a:ext cx="187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 u="none">
                <a:solidFill>
                  <a:srgbClr val="262626"/>
                </a:solidFill>
                <a:latin typeface="Arial"/>
              </a:rPr>
              <a:t>High-NA half field</a:t>
            </a:r>
          </a:p>
          <a:p>
            <a:pPr algn="ctr">
              <a:spcAft>
                <a:spcPts val="200"/>
              </a:spcAft>
            </a:pPr>
            <a:r>
              <a:rPr sz="1150" b="1" i="0" u="none">
                <a:solidFill>
                  <a:srgbClr val="262626"/>
                </a:solidFill>
                <a:latin typeface="Arial"/>
              </a:rPr>
              <a:t>26 × 16.5 mm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3950207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 u="none">
                <a:solidFill>
                  <a:srgbClr val="262626"/>
                </a:solidFill>
                <a:latin typeface="Arial"/>
              </a:rPr>
              <a:t>429 mm²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681728"/>
            <a:ext cx="5029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595959"/>
                </a:solidFill>
                <a:latin typeface="Arial"/>
              </a:rPr>
              <a:t>Maximum single-die area, drawn to scale — simplified 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217920"/>
            <a:ext cx="112772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 u="none">
                <a:solidFill>
                  <a:srgbClr val="A6A6A6"/>
                </a:solidFill>
                <a:latin typeface="Arial"/>
              </a:rPr>
              <a:t>Reticle field sizes are industry-standard scanner specifications. Figure drawn for this talk.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 i="0" u="none">
                <a:solidFill>
                  <a:srgbClr val="000000"/>
                </a:solidFill>
                <a:latin typeface="Arial"/>
              </a:rPr>
              <a:t>Background: Yield Collapses with Die Area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636000" y="6553200"/>
            <a:ext cx="3251200" cy="24447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4CAF89B4-DB56-47DB-B257-53A4B5264947}" type="slidenum">
              <a:rPr lang="en-US" altLang="zh-TW"/>
              <a:pPr/>
              <a:t>‹#›</a:t>
            </a:fld>
            <a:endParaRPr lang="en-US" altLang="zh-TW"/>
          </a:p>
        </p:txBody>
      </p:sp>
      <p:sp>
        <p:nvSpPr>
          <p:cNvPr id="5" name="TextBox 4"/>
          <p:cNvSpPr txBox="1"/>
          <p:nvPr/>
        </p:nvSpPr>
        <p:spPr>
          <a:xfrm>
            <a:off x="457200" y="896112"/>
            <a:ext cx="1127729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 u="none">
                <a:solidFill>
                  <a:srgbClr val="000000"/>
                </a:solidFill>
                <a:latin typeface="Arial"/>
              </a:rPr>
              <a:t>Doubling the die does far worse than halving the yield.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81328"/>
            <a:ext cx="576072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82496"/>
            <a:ext cx="5394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 u="none">
                <a:solidFill>
                  <a:srgbClr val="000000"/>
                </a:solidFill>
                <a:latin typeface="Arial"/>
              </a:rPr>
              <a:t>Y  =  [ (1 − e</a:t>
            </a:r>
            <a:r>
              <a:rPr sz="1500" b="1" i="0" u="none" baseline="30000">
                <a:solidFill>
                  <a:srgbClr val="000000"/>
                </a:solidFill>
                <a:latin typeface="Arial"/>
              </a:rPr>
              <a:t>−A·D₀</a:t>
            </a:r>
            <a:r>
              <a:rPr sz="2400" b="1" i="0" u="none">
                <a:solidFill>
                  <a:srgbClr val="000000"/>
                </a:solidFill>
                <a:latin typeface="Arial"/>
              </a:rPr>
              <a:t> ) / (A·D₀) ]</a:t>
            </a:r>
            <a:r>
              <a:rPr sz="1500" b="1" i="0" u="none" baseline="3000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05456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7650" indent="-247650">
              <a:spcAft>
                <a:spcPts val="400"/>
              </a:spcAft>
            </a:pPr>
            <a:r>
              <a:rPr sz="1800" b="0" i="0" u="none">
                <a:solidFill>
                  <a:srgbClr val="262626"/>
                </a:solidFill>
                <a:latin typeface="Arial"/>
              </a:rPr>
              <a:t>•  A  =  die area  [cm²]</a:t>
            </a:r>
          </a:p>
          <a:p>
            <a:pPr algn="l" marL="247650" indent="-247650">
              <a:spcAft>
                <a:spcPts val="400"/>
              </a:spcAft>
            </a:pPr>
            <a:r>
              <a:rPr sz="1800" b="0" i="0" u="none">
                <a:solidFill>
                  <a:srgbClr val="262626"/>
                </a:solidFill>
                <a:latin typeface="Arial"/>
              </a:rPr>
              <a:t>•  D₀ =  defect density  [defects / cm²]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47288"/>
            <a:ext cx="5989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 i="0" u="none">
                <a:solidFill>
                  <a:srgbClr val="262626"/>
                </a:solidFill>
                <a:latin typeface="Arial"/>
              </a:rPr>
              <a:t>A = 8 cm² (800 mm²), D₀ = 0.07</a:t>
            </a:r>
            <a:r>
              <a:rPr sz="1600" b="0" i="0" u="none">
                <a:solidFill>
                  <a:srgbClr val="262626"/>
                </a:solidFill>
                <a:latin typeface="Arial"/>
              </a:rPr>
              <a:t>  →  A·D₀ = 0.56  →  Y = 59 %</a:t>
            </a:r>
          </a:p>
          <a:p>
            <a:pPr algn="l">
              <a:spcAft>
                <a:spcPts val="1200"/>
              </a:spcAft>
            </a:pPr>
            <a:r>
              <a:rPr sz="1600" b="1" i="0" u="none">
                <a:solidFill>
                  <a:srgbClr val="262626"/>
                </a:solidFill>
                <a:latin typeface="Arial"/>
              </a:rPr>
              <a:t>A = 1 cm² (100 mm²), D₀ = 0.07</a:t>
            </a:r>
            <a:r>
              <a:rPr sz="1600" b="0" i="0" u="none">
                <a:solidFill>
                  <a:srgbClr val="262626"/>
                </a:solidFill>
                <a:latin typeface="Arial"/>
              </a:rPr>
              <a:t>  →  A·D₀ = 0.07  →  Y = 88 %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61688"/>
            <a:ext cx="5989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 u="none">
                <a:solidFill>
                  <a:srgbClr val="00418E"/>
                </a:solidFill>
                <a:latin typeface="Arial"/>
              </a:rPr>
              <a:t>One 800 mm² die yields 59 %. Eight 100 mm² dies yield 88 % each.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492240" y="1527048"/>
          <a:ext cx="502920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92240" y="5559552"/>
            <a:ext cx="5029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595959"/>
                </a:solidFill>
                <a:latin typeface="Arial"/>
              </a:rPr>
              <a:t>Murphy yield vs. die area — computed for this talk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17920"/>
            <a:ext cx="112772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 u="none">
                <a:solidFill>
                  <a:srgbClr val="A6A6A6"/>
                </a:solidFill>
                <a:latin typeface="Arial"/>
              </a:rPr>
              <a:t>Model: B. T. Murphy, Proc. IEEE, vol. 52, 1964.  D₀ values are illustrative assumptions, not measured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 i="0" u="none">
                <a:solidFill>
                  <a:srgbClr val="000000"/>
                </a:solidFill>
                <a:latin typeface="Arial"/>
              </a:rPr>
              <a:t>Key Idea: Cut the SoC, Re-Integrate in the Package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636000" y="6553200"/>
            <a:ext cx="3251200" cy="24447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4CAF89B4-DB56-47DB-B257-53A4B5264947}" type="slidenum">
              <a:rPr lang="en-US" altLang="zh-TW"/>
              <a:pPr/>
              <a:t>‹#›</a:t>
            </a:fld>
            <a:endParaRPr lang="en-US" altLang="zh-TW"/>
          </a:p>
        </p:txBody>
      </p:sp>
      <p:sp>
        <p:nvSpPr>
          <p:cNvPr id="5" name="TextBox 4"/>
          <p:cNvSpPr txBox="1"/>
          <p:nvPr/>
        </p:nvSpPr>
        <p:spPr>
          <a:xfrm>
            <a:off x="457200" y="896112"/>
            <a:ext cx="1127729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 u="none">
                <a:solidFill>
                  <a:srgbClr val="000000"/>
                </a:solidFill>
                <a:latin typeface="Arial"/>
              </a:rPr>
              <a:t>Each function gets the process node it actually needs.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262626"/>
                </a:solidFill>
                <a:latin typeface="Arial"/>
              </a:rPr>
              <a:t>Monolithic SoC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1865376"/>
            <a:ext cx="4389120" cy="1920240"/>
          </a:xfrm>
          <a:prstGeom prst="rect">
            <a:avLst/>
          </a:prstGeom>
          <a:solidFill>
            <a:srgbClr val="F2F2F2"/>
          </a:solidFill>
          <a:ln w="19050">
            <a:solidFill>
              <a:srgbClr val="262626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5568" y="2029968"/>
            <a:ext cx="1243584" cy="65836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  <a:r>
              <a:rPr sz="1150" b="1" i="0" u="none">
                <a:solidFill>
                  <a:srgbClr val="262626"/>
                </a:solidFill>
                <a:latin typeface="Arial"/>
              </a:rPr>
              <a:t>CPU</a:t>
            </a:r>
          </a:p>
        </p:txBody>
      </p:sp>
      <p:sp>
        <p:nvSpPr>
          <p:cNvPr id="9" name="Rectangle 8"/>
          <p:cNvSpPr/>
          <p:nvPr/>
        </p:nvSpPr>
        <p:spPr>
          <a:xfrm>
            <a:off x="2514600" y="2029968"/>
            <a:ext cx="1243584" cy="65836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  <a:r>
              <a:rPr sz="1150" b="1" i="0" u="none">
                <a:solidFill>
                  <a:srgbClr val="262626"/>
                </a:solidFill>
                <a:latin typeface="Arial"/>
              </a:rPr>
              <a:t>GPU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13632" y="2029968"/>
            <a:ext cx="1243584" cy="65836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  <a:r>
              <a:rPr sz="1150" b="1" i="0" u="none">
                <a:solidFill>
                  <a:srgbClr val="262626"/>
                </a:solidFill>
                <a:latin typeface="Arial"/>
              </a:rPr>
              <a:t>NPU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15568" y="2852928"/>
            <a:ext cx="1243584" cy="65836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  <a:r>
              <a:rPr sz="1150" b="1" i="0" u="none">
                <a:solidFill>
                  <a:srgbClr val="262626"/>
                </a:solidFill>
                <a:latin typeface="Arial"/>
              </a:rPr>
              <a:t>I/O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14600" y="2852928"/>
            <a:ext cx="1243584" cy="65836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  <a:r>
              <a:rPr sz="1150" b="1" i="0" u="none">
                <a:solidFill>
                  <a:srgbClr val="262626"/>
                </a:solidFill>
                <a:latin typeface="Arial"/>
              </a:rPr>
              <a:t>SerDes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13632" y="2852928"/>
            <a:ext cx="1243584" cy="658368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  <a:r>
              <a:rPr sz="1150" b="1" i="0" u="none">
                <a:solidFill>
                  <a:srgbClr val="262626"/>
                </a:solidFill>
                <a:latin typeface="Arial"/>
              </a:rPr>
              <a:t>Mem Ctrl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877056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 u="none">
                <a:solidFill>
                  <a:srgbClr val="595959"/>
                </a:solidFill>
                <a:latin typeface="Arial"/>
              </a:rPr>
              <a:t>one process node for everything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669280" y="2560320"/>
            <a:ext cx="566928" cy="384048"/>
          </a:xfrm>
          <a:prstGeom prst="rightArrow">
            <a:avLst/>
          </a:prstGeom>
          <a:solidFill>
            <a:srgbClr val="00418E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81328"/>
            <a:ext cx="5257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00418E"/>
                </a:solidFill>
                <a:latin typeface="Arial"/>
              </a:rPr>
              <a:t>Chiplets in one package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1865376"/>
            <a:ext cx="2286000" cy="786384"/>
          </a:xfrm>
          <a:prstGeom prst="roundRect">
            <a:avLst>
              <a:gd name="adj" fmla="val 10000"/>
            </a:avLst>
          </a:prstGeom>
          <a:solidFill>
            <a:srgbClr val="00418E"/>
          </a:solidFill>
          <a:ln w="12700">
            <a:solidFill>
              <a:srgbClr val="00418E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002536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 i="0" u="none">
                <a:solidFill>
                  <a:srgbClr val="FFFFFF"/>
                </a:solidFill>
                <a:latin typeface="Arial"/>
              </a:rPr>
              <a:t>CPU cores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267712"/>
            <a:ext cx="2286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 u="none">
                <a:solidFill>
                  <a:srgbClr val="FFFFFF"/>
                </a:solidFill>
                <a:latin typeface="Arial"/>
              </a:rPr>
              <a:t>N3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865376"/>
            <a:ext cx="2286000" cy="786384"/>
          </a:xfrm>
          <a:prstGeom prst="roundRect">
            <a:avLst>
              <a:gd name="adj" fmla="val 10000"/>
            </a:avLst>
          </a:prstGeom>
          <a:solidFill>
            <a:srgbClr val="00418E"/>
          </a:solidFill>
          <a:ln w="12700">
            <a:solidFill>
              <a:srgbClr val="00418E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2002536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 i="0" u="none">
                <a:solidFill>
                  <a:srgbClr val="FFFFFF"/>
                </a:solidFill>
                <a:latin typeface="Arial"/>
              </a:rPr>
              <a:t>GPU / NPU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267712"/>
            <a:ext cx="2286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 u="none">
                <a:solidFill>
                  <a:srgbClr val="FFFFFF"/>
                </a:solidFill>
                <a:latin typeface="Arial"/>
              </a:rPr>
              <a:t>N3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2779776"/>
            <a:ext cx="2286000" cy="786384"/>
          </a:xfrm>
          <a:prstGeom prst="roundRect">
            <a:avLst>
              <a:gd name="adj" fmla="val 10000"/>
            </a:avLst>
          </a:prstGeom>
          <a:solidFill>
            <a:srgbClr val="D9D9D9"/>
          </a:solidFill>
          <a:ln w="12700">
            <a:solidFill>
              <a:srgbClr val="262626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2916936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 i="0" u="none">
                <a:solidFill>
                  <a:srgbClr val="262626"/>
                </a:solidFill>
                <a:latin typeface="Arial"/>
              </a:rPr>
              <a:t>I/O · analog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182112"/>
            <a:ext cx="2286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 u="none">
                <a:solidFill>
                  <a:srgbClr val="262626"/>
                </a:solidFill>
                <a:latin typeface="Arial"/>
              </a:rPr>
              <a:t>N6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20" y="2779776"/>
            <a:ext cx="2286000" cy="786384"/>
          </a:xfrm>
          <a:prstGeom prst="roundRect">
            <a:avLst>
              <a:gd name="adj" fmla="val 10000"/>
            </a:avLst>
          </a:prstGeom>
          <a:solidFill>
            <a:srgbClr val="BFBFBF"/>
          </a:solidFill>
          <a:ln w="12700">
            <a:solidFill>
              <a:srgbClr val="262626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2916936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 i="0" u="none">
                <a:solidFill>
                  <a:srgbClr val="262626"/>
                </a:solidFill>
                <a:latin typeface="Arial"/>
              </a:rPr>
              <a:t>SRAM cache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182112"/>
            <a:ext cx="2286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 u="none">
                <a:solidFill>
                  <a:srgbClr val="262626"/>
                </a:solidFill>
                <a:latin typeface="Arial"/>
              </a:rPr>
              <a:t>N5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3694176"/>
            <a:ext cx="5212080" cy="21945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  <a:r>
              <a:rPr sz="1000" b="0" i="0" u="none">
                <a:solidFill>
                  <a:srgbClr val="FFFFFF"/>
                </a:solidFill>
                <a:latin typeface="Arial"/>
              </a:rPr>
              <a:t>package substrate / interposer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023360"/>
            <a:ext cx="5257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 u="none">
                <a:solidFill>
                  <a:srgbClr val="595959"/>
                </a:solidFill>
                <a:latin typeface="Arial"/>
              </a:rPr>
              <a:t>leading node only where it pays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617720"/>
            <a:ext cx="112772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7650" indent="-247650">
              <a:spcAft>
                <a:spcPts val="800"/>
              </a:spcAft>
            </a:pPr>
            <a:r>
              <a:rPr sz="1800" b="0" i="0" u="none">
                <a:solidFill>
                  <a:srgbClr val="262626"/>
                </a:solidFill>
                <a:latin typeface="Arial"/>
              </a:rPr>
              <a:t>•  Split along boundaries that carry little traffic, not along drawing-convenience lines.</a:t>
            </a:r>
          </a:p>
          <a:p>
            <a:pPr algn="l" marL="247650" indent="-247650">
              <a:spcAft>
                <a:spcPts val="800"/>
              </a:spcAft>
            </a:pPr>
            <a:r>
              <a:rPr sz="1800" b="0" i="0" u="none">
                <a:solidFill>
                  <a:srgbClr val="262626"/>
                </a:solidFill>
                <a:latin typeface="Arial"/>
              </a:rPr>
              <a:t>•  Reuse a proven die across products; derive SKUs by changing die count, not by redesign.</a:t>
            </a:r>
          </a:p>
          <a:p>
            <a:pPr algn="l" marL="247650" indent="-247650">
              <a:spcAft>
                <a:spcPts val="800"/>
              </a:spcAft>
            </a:pPr>
            <a:r>
              <a:rPr sz="1800" b="0" i="0" u="none">
                <a:solidFill>
                  <a:srgbClr val="262626"/>
                </a:solidFill>
                <a:latin typeface="Arial"/>
              </a:rPr>
              <a:t>•  Mix nodes: pay N3 prices only for logic that actually shrinks at N3.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217920"/>
            <a:ext cx="112772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 u="none">
                <a:solidFill>
                  <a:srgbClr val="A6A6A6"/>
                </a:solidFill>
                <a:latin typeface="Arial"/>
              </a:rPr>
              <a:t>Schematic drawn for this talk. Node assignments are illustrative, not a specific product.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 i="0" u="none">
                <a:solidFill>
                  <a:srgbClr val="000000"/>
                </a:solidFill>
                <a:latin typeface="Arial"/>
              </a:rPr>
              <a:t>Where to Cut: Bandwidth × Energy Sets the Boundary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636000" y="6553200"/>
            <a:ext cx="3251200" cy="24447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4CAF89B4-DB56-47DB-B257-53A4B5264947}" type="slidenum">
              <a:rPr lang="en-US" altLang="zh-TW"/>
              <a:pPr/>
              <a:t>‹#›</a:t>
            </a:fld>
            <a:endParaRPr lang="en-US" altLang="zh-TW"/>
          </a:p>
        </p:txBody>
      </p:sp>
      <p:sp>
        <p:nvSpPr>
          <p:cNvPr id="5" name="TextBox 4"/>
          <p:cNvSpPr txBox="1"/>
          <p:nvPr/>
        </p:nvSpPr>
        <p:spPr>
          <a:xfrm>
            <a:off x="457200" y="896112"/>
            <a:ext cx="1127729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 u="none">
                <a:solidFill>
                  <a:srgbClr val="000000"/>
                </a:solidFill>
                <a:latin typeface="Arial"/>
              </a:rPr>
              <a:t>A cut is affordable only if the link power fits the budget.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81328"/>
            <a:ext cx="5394960" cy="822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64208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 u="none">
                <a:solidFill>
                  <a:srgbClr val="000000"/>
                </a:solidFill>
                <a:latin typeface="Arial"/>
              </a:rPr>
              <a:t>P</a:t>
            </a:r>
            <a:r>
              <a:rPr sz="1400" b="1" i="0" u="none" baseline="-25000">
                <a:solidFill>
                  <a:srgbClr val="000000"/>
                </a:solidFill>
                <a:latin typeface="Arial"/>
              </a:rPr>
              <a:t>link</a:t>
            </a:r>
            <a:r>
              <a:rPr sz="2400" b="1" i="0" u="none">
                <a:solidFill>
                  <a:srgbClr val="000000"/>
                </a:solidFill>
                <a:latin typeface="Arial"/>
              </a:rPr>
              <a:t>  =  BW  ×  E</a:t>
            </a:r>
            <a:r>
              <a:rPr sz="1400" b="1" i="0" u="none" baseline="-25000">
                <a:solidFill>
                  <a:srgbClr val="000000"/>
                </a:solidFill>
                <a:latin typeface="Arial"/>
              </a:rPr>
              <a:t>bit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50592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7650" indent="-247650">
              <a:spcAft>
                <a:spcPts val="400"/>
              </a:spcAft>
            </a:pPr>
            <a:r>
              <a:rPr sz="1800" b="0" i="0" u="none">
                <a:solidFill>
                  <a:srgbClr val="262626"/>
                </a:solidFill>
                <a:latin typeface="Arial"/>
              </a:rPr>
              <a:t>•  BW    =  traffic crossing the cut  [bit/s]</a:t>
            </a:r>
          </a:p>
          <a:p>
            <a:pPr algn="l" marL="247650" indent="-247650">
              <a:spcAft>
                <a:spcPts val="400"/>
              </a:spcAft>
            </a:pPr>
            <a:r>
              <a:rPr sz="1800" b="0" i="0" u="none">
                <a:solidFill>
                  <a:srgbClr val="262626"/>
                </a:solidFill>
                <a:latin typeface="Arial"/>
              </a:rPr>
              <a:t>•  E</a:t>
            </a:r>
            <a:r>
              <a:rPr sz="1300" b="0" i="0" u="none" baseline="-25000">
                <a:solidFill>
                  <a:srgbClr val="262626"/>
                </a:solidFill>
                <a:latin typeface="Arial"/>
              </a:rPr>
              <a:t>bit</a:t>
            </a:r>
            <a:r>
              <a:rPr sz="1800" b="0" i="0" u="none">
                <a:solidFill>
                  <a:srgbClr val="262626"/>
                </a:solidFill>
                <a:latin typeface="Arial"/>
              </a:rPr>
              <a:t>  =  energy per transferred bit  [J/bit]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93008"/>
            <a:ext cx="5394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47650" indent="-247650">
              <a:spcAft>
                <a:spcPts val="1000"/>
              </a:spcAft>
            </a:pPr>
            <a:r>
              <a:rPr sz="1800" b="0" i="0" u="none">
                <a:solidFill>
                  <a:srgbClr val="262626"/>
                </a:solidFill>
                <a:latin typeface="Arial"/>
              </a:rPr>
              <a:t>•  On-die wiring costs ~0.05 pJ/bit. Crossing a die edge costs 5–10× more.</a:t>
            </a:r>
          </a:p>
          <a:p>
            <a:pPr algn="l" marL="247650" indent="-247650">
              <a:spcAft>
                <a:spcPts val="1000"/>
              </a:spcAft>
            </a:pPr>
            <a:r>
              <a:rPr sz="1800" b="0" i="0" u="none">
                <a:solidFill>
                  <a:srgbClr val="262626"/>
                </a:solidFill>
                <a:latin typeface="Arial"/>
              </a:rPr>
              <a:t>•  Core ↔ L2 boundaries carry tens of TB/s — never cut there.</a:t>
            </a:r>
          </a:p>
          <a:p>
            <a:pPr algn="l" marL="247650" indent="-247650">
              <a:spcAft>
                <a:spcPts val="1000"/>
              </a:spcAft>
            </a:pPr>
            <a:r>
              <a:rPr sz="1800" b="0" i="0" u="none">
                <a:solidFill>
                  <a:srgbClr val="262626"/>
                </a:solidFill>
                <a:latin typeface="Arial"/>
              </a:rPr>
              <a:t>•  Core-cluster ↔ memory-controller carries single-digit TB/s — a real candidate.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09360" y="1527048"/>
          <a:ext cx="5257797" cy="20665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1033271"/>
                <a:gridCol w="1033271"/>
                <a:gridCol w="1042415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FFFFFF"/>
                          </a:solidFill>
                          <a:latin typeface="Arial"/>
                        </a:rPr>
                        <a:t>Traffic across cut</a:t>
                      </a:r>
                    </a:p>
                  </a:txBody>
                  <a:tcPr marL="73152" marR="73152" marT="18288" marB="18288" anchor="ctr">
                    <a:solidFill>
                      <a:srgbClr val="0041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u="none">
                          <a:solidFill>
                            <a:srgbClr val="FFFFFF"/>
                          </a:solidFill>
                          <a:latin typeface="Arial"/>
                        </a:rPr>
                        <a:t>0.05 pJ/bit
(on-die)</a:t>
                      </a:r>
                    </a:p>
                  </a:txBody>
                  <a:tcPr marL="73152" marR="73152" marT="18288" marB="18288" anchor="ctr">
                    <a:solidFill>
                      <a:srgbClr val="0041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u="none">
                          <a:solidFill>
                            <a:srgbClr val="FFFFFF"/>
                          </a:solidFill>
                          <a:latin typeface="Arial"/>
                        </a:rPr>
                        <a:t>0.25 pJ/bit
(UCIe adv.)</a:t>
                      </a:r>
                    </a:p>
                  </a:txBody>
                  <a:tcPr marL="73152" marR="73152" marT="18288" marB="18288" anchor="ctr">
                    <a:solidFill>
                      <a:srgbClr val="0041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u="none">
                          <a:solidFill>
                            <a:srgbClr val="FFFFFF"/>
                          </a:solidFill>
                          <a:latin typeface="Arial"/>
                        </a:rPr>
                        <a:t>0.5 pJ/bit
(UCIe std.)</a:t>
                      </a:r>
                    </a:p>
                  </a:txBody>
                  <a:tcPr marL="73152" marR="73152" marT="18288" marB="18288" anchor="ctr">
                    <a:solidFill>
                      <a:srgbClr val="00418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262626"/>
                          </a:solidFill>
                          <a:latin typeface="Arial"/>
                        </a:rPr>
                        <a:t>1 TB/s  =  8 Tb/s</a:t>
                      </a:r>
                    </a:p>
                  </a:txBody>
                  <a:tcPr marL="73152" marR="73152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0.4 W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2.0 W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4.0 W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262626"/>
                          </a:solidFill>
                          <a:latin typeface="Arial"/>
                        </a:rPr>
                        <a:t>2 TB/s  =  16 Tb/s</a:t>
                      </a:r>
                    </a:p>
                  </a:txBody>
                  <a:tcPr marL="73152" marR="73152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0.8 W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4.0 W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00418E"/>
                          </a:solidFill>
                          <a:latin typeface="Arial"/>
                        </a:rPr>
                        <a:t>8.0 W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262626"/>
                          </a:solidFill>
                          <a:latin typeface="Arial"/>
                        </a:rPr>
                        <a:t>4 TB/s  =  32 Tb/s</a:t>
                      </a:r>
                    </a:p>
                  </a:txBody>
                  <a:tcPr marL="73152" marR="73152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1.6 W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00418E"/>
                          </a:solidFill>
                          <a:latin typeface="Arial"/>
                        </a:rPr>
                        <a:t>8.0 W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00418E"/>
                          </a:solidFill>
                          <a:latin typeface="Arial"/>
                        </a:rPr>
                        <a:t>16.0 W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09360" y="3721608"/>
            <a:ext cx="5257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 u="none">
                <a:solidFill>
                  <a:srgbClr val="595959"/>
                </a:solidFill>
                <a:latin typeface="Arial"/>
              </a:rPr>
              <a:t>Blue cells exceed roughly 5 W — a link budget that most designs cannot absorb.</a:t>
            </a:r>
          </a:p>
          <a:p>
            <a:pPr algn="l">
              <a:spcAft>
                <a:spcPts val="600"/>
              </a:spcAft>
            </a:pPr>
            <a:r>
              <a:rPr sz="1150" b="0" i="0" u="none">
                <a:solidFill>
                  <a:srgbClr val="595959"/>
                </a:solidFill>
                <a:latin typeface="Arial"/>
              </a:rPr>
              <a:t>This is the whole partitioning argument in one table: pick the cut, read the power.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636008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595959"/>
                </a:solidFill>
                <a:latin typeface="Arial"/>
              </a:rPr>
              <a:t>Link power for a given cut — computed, illustrative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17920"/>
            <a:ext cx="112772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 u="none">
                <a:solidFill>
                  <a:srgbClr val="A6A6A6"/>
                </a:solidFill>
                <a:latin typeface="Arial"/>
              </a:rPr>
              <a:t>Energy per bit from the UCIe 1.1 / 2.0 specification. Power values computed for this talk.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 i="0" u="none">
                <a:solidFill>
                  <a:srgbClr val="000000"/>
                </a:solidFill>
                <a:latin typeface="Arial"/>
              </a:rPr>
              <a:t>What Disaggregation Buys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636000" y="6553200"/>
            <a:ext cx="3251200" cy="24447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4CAF89B4-DB56-47DB-B257-53A4B5264947}" type="slidenum">
              <a:rPr lang="en-US" altLang="zh-TW"/>
              <a:pPr/>
              <a:t>‹#›</a:t>
            </a:fld>
            <a:endParaRPr lang="en-US" altLang="zh-TW"/>
          </a:p>
        </p:txBody>
      </p:sp>
      <p:sp>
        <p:nvSpPr>
          <p:cNvPr id="5" name="TextBox 4"/>
          <p:cNvSpPr txBox="1"/>
          <p:nvPr/>
        </p:nvSpPr>
        <p:spPr>
          <a:xfrm>
            <a:off x="457200" y="896112"/>
            <a:ext cx="1127729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 u="none">
                <a:solidFill>
                  <a:srgbClr val="000000"/>
                </a:solidFill>
                <a:latin typeface="Arial"/>
              </a:rPr>
              <a:t>Five gains, each traceable to a concrete mechanism.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81328"/>
          <a:ext cx="11277295" cy="32369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5806440"/>
                <a:gridCol w="3459175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FFFFFF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73152" marR="73152" marT="18288" marB="18288" anchor="ctr">
                    <a:solidFill>
                      <a:srgbClr val="0041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u="none">
                          <a:solidFill>
                            <a:srgbClr val="FFFFFF"/>
                          </a:solidFill>
                          <a:latin typeface="Arial"/>
                        </a:rPr>
                        <a:t>Mechanism</a:t>
                      </a:r>
                    </a:p>
                  </a:txBody>
                  <a:tcPr marL="73152" marR="73152" marT="18288" marB="18288" anchor="ctr">
                    <a:solidFill>
                      <a:srgbClr val="0041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u="none">
                          <a:solidFill>
                            <a:srgbClr val="FFFFFF"/>
                          </a:solidFill>
                          <a:latin typeface="Arial"/>
                        </a:rPr>
                        <a:t>Concrete case</a:t>
                      </a:r>
                    </a:p>
                  </a:txBody>
                  <a:tcPr marL="73152" marR="73152" marT="18288" marB="18288" anchor="ctr">
                    <a:solidFill>
                      <a:srgbClr val="00418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262626"/>
                          </a:solidFill>
                          <a:latin typeface="Arial"/>
                        </a:rPr>
                        <a:t>Yield / cost</a:t>
                      </a:r>
                    </a:p>
                  </a:txBody>
                  <a:tcPr marL="73152" marR="73152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Smaller A means smaller A·D₀; a defect scraps 1/8 as much silicon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59 % → 88 % per die at D₀ = 0.07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262626"/>
                          </a:solidFill>
                          <a:latin typeface="Arial"/>
                        </a:rPr>
                        <a:t>Node mixing</a:t>
                      </a:r>
                    </a:p>
                  </a:txBody>
                  <a:tcPr marL="73152" marR="73152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Blocks that do not shrink stay on a cheaper node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Logic N3 + I/O N6 in one package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262626"/>
                          </a:solidFill>
                          <a:latin typeface="Arial"/>
                        </a:rPr>
                        <a:t>Beyond reticle</a:t>
                      </a:r>
                    </a:p>
                  </a:txBody>
                  <a:tcPr marL="73152" marR="73152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Total silicon is limited by package area, not by the 858 mm² field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Interposers already exceed 3× reticle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262626"/>
                          </a:solidFill>
                          <a:latin typeface="Arial"/>
                        </a:rPr>
                        <a:t>Design reuse</a:t>
                      </a:r>
                    </a:p>
                  </a:txBody>
                  <a:tcPr marL="73152" marR="73152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A silicon-proven die is carried into the next product unchanged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One CCD spans desktop to 96-core server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262626"/>
                          </a:solidFill>
                          <a:latin typeface="Arial"/>
                        </a:rPr>
                        <a:t>SKU derivation</a:t>
                      </a:r>
                    </a:p>
                  </a:txBody>
                  <a:tcPr marL="73152" marR="73152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Product tiers differ by die count, not by a new tape-out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Two identical dies = the top SKU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029200"/>
            <a:ext cx="112772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 u="none">
                <a:solidFill>
                  <a:srgbClr val="00418E"/>
                </a:solidFill>
                <a:latin typeface="Arial"/>
              </a:rPr>
              <a:t>The first three are engineering gains. The last two are business gains — and in practice they are what makes a program approve a chiplet architecture.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112772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 u="none">
                <a:solidFill>
                  <a:srgbClr val="A6A6A6"/>
                </a:solidFill>
                <a:latin typeface="Arial"/>
              </a:rPr>
              <a:t>Mechanisms are general; cases summarise vendor public disclosures (AMD, TSMC). Interpretation by the presenter.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 i="0" u="none">
                <a:solidFill>
                  <a:srgbClr val="000000"/>
                </a:solidFill>
                <a:latin typeface="Arial"/>
              </a:rPr>
              <a:t>What It Costs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636000" y="6553200"/>
            <a:ext cx="3251200" cy="24447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4CAF89B4-DB56-47DB-B257-53A4B5264947}" type="slidenum">
              <a:rPr lang="en-US" altLang="zh-TW"/>
              <a:pPr/>
              <a:t>‹#›</a:t>
            </a:fld>
            <a:endParaRPr lang="en-US" altLang="zh-TW"/>
          </a:p>
        </p:txBody>
      </p:sp>
      <p:sp>
        <p:nvSpPr>
          <p:cNvPr id="5" name="TextBox 4"/>
          <p:cNvSpPr txBox="1"/>
          <p:nvPr/>
        </p:nvSpPr>
        <p:spPr>
          <a:xfrm>
            <a:off x="457200" y="896112"/>
            <a:ext cx="1127729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 u="none">
                <a:solidFill>
                  <a:srgbClr val="000000"/>
                </a:solidFill>
                <a:latin typeface="Arial"/>
              </a:rPr>
              <a:t>Every die boundary is paid for in power, latency, cost, and test.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81328"/>
            <a:ext cx="251460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27048"/>
            <a:ext cx="2331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00418E"/>
                </a:solidFill>
                <a:latin typeface="Arial"/>
              </a:rPr>
              <a:t>0.25 – 0.5 pJ/bit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463040"/>
            <a:ext cx="8531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 u="none">
                <a:solidFill>
                  <a:srgbClr val="000000"/>
                </a:solidFill>
                <a:latin typeface="Arial"/>
              </a:rPr>
              <a:t>Interconnect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773936"/>
            <a:ext cx="8531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 u="none">
                <a:solidFill>
                  <a:srgbClr val="595959"/>
                </a:solidFill>
                <a:latin typeface="Arial"/>
              </a:rPr>
              <a:t>5–10× the on-die cost of moving the same bit. At TB/s traffic this is watts, not milliwatts.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50592"/>
            <a:ext cx="251460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96312"/>
            <a:ext cx="2331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00418E"/>
                </a:solidFill>
                <a:latin typeface="Arial"/>
              </a:rPr>
              <a:t>+ 2 – 10 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32304"/>
            <a:ext cx="8531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 u="none">
                <a:solidFill>
                  <a:srgbClr val="000000"/>
                </a:solidFill>
                <a:latin typeface="Arial"/>
              </a:rPr>
              <a:t>Latency and non-uniformity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743200"/>
            <a:ext cx="8531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 u="none">
                <a:solidFill>
                  <a:srgbClr val="595959"/>
                </a:solidFill>
                <a:latin typeface="Arial"/>
              </a:rPr>
              <a:t>Access latency stops being flat. Coherency protocols and schedulers must be made aware of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19856"/>
            <a:ext cx="251460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465576"/>
            <a:ext cx="2331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00418E"/>
                </a:solidFill>
                <a:latin typeface="Arial"/>
              </a:rPr>
              <a:t>2.5D / 3D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401568"/>
            <a:ext cx="8531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 u="none">
                <a:solidFill>
                  <a:srgbClr val="000000"/>
                </a:solidFill>
                <a:latin typeface="Arial"/>
              </a:rPr>
              <a:t>Package cost and capacity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712464"/>
            <a:ext cx="8531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 u="none">
                <a:solidFill>
                  <a:srgbClr val="595959"/>
                </a:solidFill>
                <a:latin typeface="Arial"/>
              </a:rPr>
              <a:t>Interposers and hybrid bonding carry high process cost, and advanced-package capacity is a supply bottleneck.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389120"/>
            <a:ext cx="251460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434840"/>
            <a:ext cx="2331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00418E"/>
                </a:solidFill>
                <a:latin typeface="Arial"/>
              </a:rPr>
              <a:t>Y</a:t>
            </a:r>
            <a:r>
              <a:rPr sz="1100" b="1" i="0" u="none" baseline="-25000">
                <a:solidFill>
                  <a:srgbClr val="00418E"/>
                </a:solidFill>
                <a:latin typeface="Arial"/>
              </a:rPr>
              <a:t>pkg</a:t>
            </a:r>
            <a:r>
              <a:rPr sz="1600" b="1" i="0" u="none">
                <a:solidFill>
                  <a:srgbClr val="00418E"/>
                </a:solidFill>
                <a:latin typeface="Arial"/>
              </a:rPr>
              <a:t>  =  Π Y</a:t>
            </a:r>
            <a:r>
              <a:rPr sz="1100" b="1" i="0" u="none" baseline="-25000">
                <a:solidFill>
                  <a:srgbClr val="00418E"/>
                </a:solidFill>
                <a:latin typeface="Arial"/>
              </a:rPr>
              <a:t>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370832"/>
            <a:ext cx="8531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 u="none">
                <a:solidFill>
                  <a:srgbClr val="000000"/>
                </a:solidFill>
                <a:latin typeface="Arial"/>
              </a:rPr>
              <a:t>Known-good-die and 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4681728"/>
            <a:ext cx="8531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 u="none">
                <a:solidFill>
                  <a:srgbClr val="595959"/>
                </a:solidFill>
                <a:latin typeface="Arial"/>
              </a:rPr>
              <a:t>One bad die scraps the whole package. Per-die DFT and KGD screening become mandatory, not optional.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413248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 u="none">
                <a:solidFill>
                  <a:srgbClr val="00418E"/>
                </a:solidFill>
                <a:latin typeface="Arial"/>
              </a:rPr>
              <a:t>None of these appears on a block diagram. They appear in the power budget and in the yield report.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217920"/>
            <a:ext cx="112772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 u="none">
                <a:solidFill>
                  <a:srgbClr val="A6A6A6"/>
                </a:solidFill>
                <a:latin typeface="Arial"/>
              </a:rPr>
              <a:t>Energy and latency ranges from the UCIe 1.1 / 2.0 specification. Yield relation is the standard product rule.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 i="0" u="none">
                <a:solidFill>
                  <a:srgbClr val="000000"/>
                </a:solidFill>
                <a:latin typeface="Arial"/>
              </a:rPr>
              <a:t>Packaging: Bump Pitch Sets the Bandwidth Ceiling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636000" y="6553200"/>
            <a:ext cx="3251200" cy="24447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4CAF89B4-DB56-47DB-B257-53A4B5264947}" type="slidenum">
              <a:rPr lang="en-US" altLang="zh-TW"/>
              <a:pPr/>
              <a:t>‹#›</a:t>
            </a:fld>
            <a:endParaRPr lang="en-US" altLang="zh-TW"/>
          </a:p>
        </p:txBody>
      </p:sp>
      <p:sp>
        <p:nvSpPr>
          <p:cNvPr id="5" name="TextBox 4"/>
          <p:cNvSpPr txBox="1"/>
          <p:nvPr/>
        </p:nvSpPr>
        <p:spPr>
          <a:xfrm>
            <a:off x="457200" y="896112"/>
            <a:ext cx="1127729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 u="none">
                <a:solidFill>
                  <a:srgbClr val="000000"/>
                </a:solidFill>
                <a:latin typeface="Arial"/>
              </a:rPr>
              <a:t>Halve the pitch and you double the wires per mm of die 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 u="none">
                <a:solidFill>
                  <a:srgbClr val="000000"/>
                </a:solidFill>
                <a:latin typeface="Arial"/>
              </a:rPr>
              <a:t>2D organic substrate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794760"/>
            <a:ext cx="2468879" cy="23774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30936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5255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9575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53895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728215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02536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76856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551176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825496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063240"/>
            <a:ext cx="1088136" cy="603504"/>
          </a:xfrm>
          <a:prstGeom prst="rect">
            <a:avLst/>
          </a:prstGeom>
          <a:solidFill>
            <a:srgbClr val="D9D9D9"/>
          </a:solidFill>
          <a:ln w="12700">
            <a:solidFill>
              <a:srgbClr val="262626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  <a:r>
              <a:rPr sz="1150" b="0" i="0" u="none">
                <a:solidFill>
                  <a:srgbClr val="262626"/>
                </a:solidFill>
                <a:latin typeface="Arial"/>
              </a:rPr>
              <a:t>Die 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29384" y="3063240"/>
            <a:ext cx="1088136" cy="603504"/>
          </a:xfrm>
          <a:prstGeom prst="rect">
            <a:avLst/>
          </a:prstGeom>
          <a:solidFill>
            <a:srgbClr val="D9D9D9"/>
          </a:solidFill>
          <a:ln w="12700">
            <a:solidFill>
              <a:srgbClr val="262626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  <a:r>
              <a:rPr sz="1150" b="0" i="0" u="none">
                <a:solidFill>
                  <a:srgbClr val="262626"/>
                </a:solidFill>
                <a:latin typeface="Arial"/>
              </a:rPr>
              <a:t>Die 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59" y="3895344"/>
            <a:ext cx="1920239" cy="41148"/>
          </a:xfrm>
          <a:prstGeom prst="rect">
            <a:avLst/>
          </a:prstGeom>
          <a:solidFill>
            <a:srgbClr val="00418E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42232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 u="none">
                <a:solidFill>
                  <a:srgbClr val="00418E"/>
                </a:solidFill>
                <a:latin typeface="Arial"/>
              </a:rPr>
              <a:t>~130 µm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453128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 u="none">
                <a:solidFill>
                  <a:srgbClr val="595959"/>
                </a:solidFill>
                <a:latin typeface="Arial"/>
              </a:rPr>
              <a:t>Routed through the package substrate only. Cheapest, lowest wire density.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760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262626"/>
                </a:solidFill>
                <a:latin typeface="Arial"/>
              </a:rPr>
              <a:t>AMD EPYC (CCD ↔ IOD)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28415" y="21488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 u="none">
                <a:solidFill>
                  <a:srgbClr val="000000"/>
                </a:solidFill>
                <a:latin typeface="Arial"/>
              </a:rPr>
              <a:t>2.5D Si interposer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19856" y="3794760"/>
            <a:ext cx="2468879" cy="23774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47363" y="3666744"/>
            <a:ext cx="100584" cy="100584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11524" y="3666744"/>
            <a:ext cx="100584" cy="100584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075684" y="3666744"/>
            <a:ext cx="100584" cy="100584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39844" y="3666744"/>
            <a:ext cx="100584" cy="100584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04004" y="3666744"/>
            <a:ext cx="100584" cy="100584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68164" y="3666744"/>
            <a:ext cx="100584" cy="100584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132324" y="3666744"/>
            <a:ext cx="100584" cy="100584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396484" y="3666744"/>
            <a:ext cx="100584" cy="100584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660644" y="3666744"/>
            <a:ext cx="100584" cy="100584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65575" y="3392424"/>
            <a:ext cx="2377439" cy="237744"/>
          </a:xfrm>
          <a:prstGeom prst="rect">
            <a:avLst/>
          </a:prstGeom>
          <a:solidFill>
            <a:srgbClr val="00418E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555492" y="3291840"/>
            <a:ext cx="64008" cy="6400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07891" y="3291840"/>
            <a:ext cx="64008" cy="6400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860291" y="3291840"/>
            <a:ext cx="64008" cy="6400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012691" y="3291840"/>
            <a:ext cx="64008" cy="6400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165091" y="3291840"/>
            <a:ext cx="64008" cy="6400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317491" y="3291840"/>
            <a:ext cx="64008" cy="6400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469891" y="3291840"/>
            <a:ext cx="64008" cy="6400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622291" y="3291840"/>
            <a:ext cx="64008" cy="6400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774691" y="3291840"/>
            <a:ext cx="64008" cy="6400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927091" y="3291840"/>
            <a:ext cx="64008" cy="6400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079491" y="3291840"/>
            <a:ext cx="64008" cy="6400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231891" y="3291840"/>
            <a:ext cx="64008" cy="6400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384291" y="3291840"/>
            <a:ext cx="64008" cy="6400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536691" y="3291840"/>
            <a:ext cx="64008" cy="6400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689091" y="3291840"/>
            <a:ext cx="64008" cy="6400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511296" y="2660904"/>
            <a:ext cx="1088136" cy="603504"/>
          </a:xfrm>
          <a:prstGeom prst="rect">
            <a:avLst/>
          </a:prstGeom>
          <a:solidFill>
            <a:srgbClr val="D9D9D9"/>
          </a:solidFill>
          <a:ln w="12700">
            <a:solidFill>
              <a:srgbClr val="262626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  <a:r>
              <a:rPr sz="1150" b="0" i="0" u="none">
                <a:solidFill>
                  <a:srgbClr val="262626"/>
                </a:solidFill>
                <a:latin typeface="Arial"/>
              </a:rPr>
              <a:t>Die 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709160" y="2660904"/>
            <a:ext cx="1088136" cy="603504"/>
          </a:xfrm>
          <a:prstGeom prst="rect">
            <a:avLst/>
          </a:prstGeom>
          <a:solidFill>
            <a:srgbClr val="D9D9D9"/>
          </a:solidFill>
          <a:ln w="12700">
            <a:solidFill>
              <a:srgbClr val="262626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  <a:r>
              <a:rPr sz="1150" b="0" i="0" u="none">
                <a:solidFill>
                  <a:srgbClr val="262626"/>
                </a:solidFill>
                <a:latin typeface="Arial"/>
              </a:rPr>
              <a:t>Die 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28415" y="4142232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 u="none">
                <a:solidFill>
                  <a:srgbClr val="00418E"/>
                </a:solidFill>
                <a:latin typeface="Arial"/>
              </a:rPr>
              <a:t>40 – 55 µm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28415" y="4453128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 u="none">
                <a:solidFill>
                  <a:srgbClr val="595959"/>
                </a:solidFill>
                <a:latin typeface="Arial"/>
              </a:rPr>
              <a:t>Dies sit on a silicon interposer; TSVs carry signals down. Standard for HBM.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28415" y="52760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262626"/>
                </a:solidFill>
                <a:latin typeface="Arial"/>
              </a:rPr>
              <a:t>NVIDIA GPU + HBM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99631" y="21488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 u="none">
                <a:solidFill>
                  <a:srgbClr val="000000"/>
                </a:solidFill>
                <a:latin typeface="Arial"/>
              </a:rPr>
              <a:t>Embedded bridge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91071" y="3794760"/>
            <a:ext cx="2468879" cy="23774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373368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647688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922007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196328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470647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744967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019288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293607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567928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068311" y="3785616"/>
            <a:ext cx="914400" cy="164592"/>
          </a:xfrm>
          <a:prstGeom prst="rect">
            <a:avLst/>
          </a:prstGeom>
          <a:solidFill>
            <a:srgbClr val="00418E"/>
          </a:solidFill>
          <a:ln w="9525">
            <a:solidFill>
              <a:srgbClr val="FFFFFF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111745" y="3675888"/>
            <a:ext cx="59436" cy="59436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221473" y="3675888"/>
            <a:ext cx="59436" cy="59436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331201" y="3675888"/>
            <a:ext cx="59436" cy="59436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440929" y="3675888"/>
            <a:ext cx="59436" cy="59436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550657" y="3675888"/>
            <a:ext cx="59436" cy="59436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660385" y="3675888"/>
            <a:ext cx="59436" cy="59436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770113" y="3675888"/>
            <a:ext cx="59436" cy="59436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879841" y="3675888"/>
            <a:ext cx="59436" cy="59436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291071" y="3063240"/>
            <a:ext cx="1088136" cy="603504"/>
          </a:xfrm>
          <a:prstGeom prst="rect">
            <a:avLst/>
          </a:prstGeom>
          <a:solidFill>
            <a:srgbClr val="D9D9D9"/>
          </a:solidFill>
          <a:ln w="12700">
            <a:solidFill>
              <a:srgbClr val="262626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  <a:r>
              <a:rPr sz="1150" b="0" i="0" u="none">
                <a:solidFill>
                  <a:srgbClr val="262626"/>
                </a:solidFill>
                <a:latin typeface="Arial"/>
              </a:rPr>
              <a:t>Die 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671815" y="3063240"/>
            <a:ext cx="1088136" cy="603504"/>
          </a:xfrm>
          <a:prstGeom prst="rect">
            <a:avLst/>
          </a:prstGeom>
          <a:solidFill>
            <a:srgbClr val="D9D9D9"/>
          </a:solidFill>
          <a:ln w="12700">
            <a:solidFill>
              <a:srgbClr val="262626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  <a:r>
              <a:rPr sz="1150" b="0" i="0" u="none">
                <a:solidFill>
                  <a:srgbClr val="262626"/>
                </a:solidFill>
                <a:latin typeface="Arial"/>
              </a:rPr>
              <a:t>Die 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99631" y="4142232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 u="none">
                <a:solidFill>
                  <a:srgbClr val="00418E"/>
                </a:solidFill>
                <a:latin typeface="Arial"/>
              </a:rPr>
              <a:t>~45 µm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99631" y="4453128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 u="none">
                <a:solidFill>
                  <a:srgbClr val="595959"/>
                </a:solidFill>
                <a:latin typeface="Arial"/>
              </a:rPr>
              <a:t>A small silicon bridge is buried in the substrate only where it is needed.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99631" y="52760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262626"/>
                </a:solidFill>
                <a:latin typeface="Arial"/>
              </a:rPr>
              <a:t>Intel Sapphire Rapids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070847" y="21488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 u="none">
                <a:solidFill>
                  <a:srgbClr val="000000"/>
                </a:solidFill>
                <a:latin typeface="Arial"/>
              </a:rPr>
              <a:t>3D hybrid bonding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162287" y="3794760"/>
            <a:ext cx="2468879" cy="23774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479715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9767098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0054481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0341863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0629246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0916629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1204012" y="3666744"/>
            <a:ext cx="109728" cy="109728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390887" y="3154680"/>
            <a:ext cx="2011679" cy="512064"/>
          </a:xfrm>
          <a:prstGeom prst="rect">
            <a:avLst/>
          </a:prstGeom>
          <a:solidFill>
            <a:srgbClr val="D9D9D9"/>
          </a:solidFill>
          <a:ln w="12700">
            <a:solidFill>
              <a:srgbClr val="262626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  <a:r>
              <a:rPr sz="1150" b="0" i="0" u="none">
                <a:solidFill>
                  <a:srgbClr val="262626"/>
                </a:solidFill>
                <a:latin typeface="Arial"/>
              </a:rPr>
              <a:t>Base die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482327" y="3099816"/>
            <a:ext cx="1828799" cy="54864"/>
          </a:xfrm>
          <a:prstGeom prst="rect">
            <a:avLst/>
          </a:prstGeom>
          <a:solidFill>
            <a:srgbClr val="00418E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482327" y="2587752"/>
            <a:ext cx="1828799" cy="512064"/>
          </a:xfrm>
          <a:prstGeom prst="rect">
            <a:avLst/>
          </a:prstGeom>
          <a:solidFill>
            <a:srgbClr val="D9D9D9"/>
          </a:solidFill>
          <a:ln w="12700">
            <a:solidFill>
              <a:srgbClr val="262626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  <a:r>
              <a:rPr sz="1150" b="0" i="0" u="none">
                <a:solidFill>
                  <a:srgbClr val="262626"/>
                </a:solidFill>
                <a:latin typeface="Arial"/>
              </a:rPr>
              <a:t>Top die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70847" y="4142232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 u="none">
                <a:solidFill>
                  <a:srgbClr val="00418E"/>
                </a:solidFill>
                <a:latin typeface="Arial"/>
              </a:rPr>
              <a:t>&lt; 10 µm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070847" y="4453128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 u="none">
                <a:solidFill>
                  <a:srgbClr val="595959"/>
                </a:solidFill>
                <a:latin typeface="Arial"/>
              </a:rPr>
              <a:t>Cu–Cu bonded directly, no bumps. Density jumps an order of magnitude.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070847" y="52760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262626"/>
                </a:solidFill>
                <a:latin typeface="Arial"/>
              </a:rPr>
              <a:t>AMD 3D V-Cache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7200" y="1389888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 u="none">
                <a:solidFill>
                  <a:srgbClr val="00418E"/>
                </a:solidFill>
                <a:latin typeface="Arial"/>
              </a:rPr>
              <a:t>Blue marks the layer that actually carries die-to-die signals in each option.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" y="6217920"/>
            <a:ext cx="112772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 u="none">
                <a:solidFill>
                  <a:srgbClr val="A6A6A6"/>
                </a:solidFill>
                <a:latin typeface="Arial"/>
              </a:rPr>
              <a:t>Pitch ranges from public vendor disclosures (TSMC CoWoS / SoIC, Intel EMIB / Foveros). Cross-sections: simplified view, not to scale.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 i="0" u="none">
                <a:solidFill>
                  <a:srgbClr val="000000"/>
                </a:solidFill>
                <a:latin typeface="Arial"/>
              </a:rPr>
              <a:t>Die-to-Die Interface: UCIe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636000" y="6553200"/>
            <a:ext cx="3251200" cy="24447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4CAF89B4-DB56-47DB-B257-53A4B5264947}" type="slidenum">
              <a:rPr lang="en-US" altLang="zh-TW"/>
              <a:pPr/>
              <a:t>‹#›</a:t>
            </a:fld>
            <a:endParaRPr lang="en-US" altLang="zh-TW"/>
          </a:p>
        </p:txBody>
      </p:sp>
      <p:sp>
        <p:nvSpPr>
          <p:cNvPr id="5" name="TextBox 4"/>
          <p:cNvSpPr txBox="1"/>
          <p:nvPr/>
        </p:nvSpPr>
        <p:spPr>
          <a:xfrm>
            <a:off x="457200" y="896112"/>
            <a:ext cx="1127729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 u="none">
                <a:solidFill>
                  <a:srgbClr val="000000"/>
                </a:solidFill>
                <a:latin typeface="Arial"/>
              </a:rPr>
              <a:t>One open standard, two physical profiles — chosen by the package.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81328"/>
          <a:ext cx="7635239" cy="27980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1874519"/>
                <a:gridCol w="1965960"/>
                <a:gridCol w="178308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FFFFFF"/>
                          </a:solidFill>
                          <a:latin typeface="Arial"/>
                        </a:rPr>
                        <a:t>Parameter</a:t>
                      </a:r>
                    </a:p>
                  </a:txBody>
                  <a:tcPr marL="73152" marR="73152" marT="18288" marB="18288" anchor="ctr">
                    <a:solidFill>
                      <a:srgbClr val="0041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u="none">
                          <a:solidFill>
                            <a:srgbClr val="FFFFFF"/>
                          </a:solidFill>
                          <a:latin typeface="Arial"/>
                        </a:rPr>
                        <a:t>Standard package
(2D organic)</a:t>
                      </a:r>
                    </a:p>
                  </a:txBody>
                  <a:tcPr marL="73152" marR="73152" marT="18288" marB="18288" anchor="ctr">
                    <a:solidFill>
                      <a:srgbClr val="0041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u="none">
                          <a:solidFill>
                            <a:srgbClr val="FFFFFF"/>
                          </a:solidFill>
                          <a:latin typeface="Arial"/>
                        </a:rPr>
                        <a:t>Advanced package
(2.5D / bridge)</a:t>
                      </a:r>
                    </a:p>
                  </a:txBody>
                  <a:tcPr marL="73152" marR="73152" marT="18288" marB="18288" anchor="ctr">
                    <a:solidFill>
                      <a:srgbClr val="0041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u="none">
                          <a:solidFill>
                            <a:srgbClr val="FFFFFF"/>
                          </a:solidFill>
                          <a:latin typeface="Arial"/>
                        </a:rPr>
                        <a:t>UCIe-3D
(hybrid bonding)</a:t>
                      </a:r>
                    </a:p>
                  </a:txBody>
                  <a:tcPr marL="73152" marR="73152" marT="18288" marB="18288" anchor="ctr">
                    <a:solidFill>
                      <a:srgbClr val="00418E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262626"/>
                          </a:solidFill>
                          <a:latin typeface="Arial"/>
                        </a:rPr>
                        <a:t>Bump / bond pitch</a:t>
                      </a:r>
                    </a:p>
                  </a:txBody>
                  <a:tcPr marL="73152" marR="73152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100 – 130 µm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25 – 55 µm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00418E"/>
                          </a:solidFill>
                          <a:latin typeface="Arial"/>
                        </a:rPr>
                        <a:t>&lt; 10 µm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262626"/>
                          </a:solidFill>
                          <a:latin typeface="Arial"/>
                        </a:rPr>
                        <a:t>Bandwidth density</a:t>
                      </a:r>
                    </a:p>
                  </a:txBody>
                  <a:tcPr marL="73152" marR="73152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28 – 224 GB/s/mm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00418E"/>
                          </a:solidFill>
                          <a:latin typeface="Arial"/>
                        </a:rPr>
                        <a:t>165 – 1,317 GB/s/mm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&gt; 300 GB/s/mm²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262626"/>
                          </a:solidFill>
                          <a:latin typeface="Arial"/>
                        </a:rPr>
                        <a:t>Energy efficiency</a:t>
                      </a:r>
                    </a:p>
                  </a:txBody>
                  <a:tcPr marL="73152" marR="73152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≤ 0.5 pJ/bit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≤ 0.25 pJ/bit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00418E"/>
                          </a:solidFill>
                          <a:latin typeface="Arial"/>
                        </a:rPr>
                        <a:t>~ 0.05 pJ/bit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262626"/>
                          </a:solidFill>
                          <a:latin typeface="Arial"/>
                        </a:rPr>
                        <a:t>Latency (D2D)</a:t>
                      </a:r>
                    </a:p>
                  </a:txBody>
                  <a:tcPr marL="73152" marR="73152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&lt; 2 ns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&lt; 2 ns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&lt; 1 ns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262626"/>
                          </a:solidFill>
                          <a:latin typeface="Arial"/>
                        </a:rPr>
                        <a:t>Reach</a:t>
                      </a:r>
                    </a:p>
                  </a:txBody>
                  <a:tcPr marL="73152" marR="73152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≤ 25 mm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≤ 2 mm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vertical stack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262626"/>
                          </a:solidFill>
                          <a:latin typeface="Arial"/>
                        </a:rPr>
                        <a:t>Data rate per lane</a:t>
                      </a:r>
                    </a:p>
                  </a:txBody>
                  <a:tcPr marL="73152" marR="73152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4 – 32 GT/s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4 – 32 GT/s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— (parallel)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66760" y="1481328"/>
            <a:ext cx="3364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 u="none">
                <a:solidFill>
                  <a:srgbClr val="000000"/>
                </a:solidFill>
                <a:latin typeface="Arial"/>
              </a:rPr>
              <a:t>Protocol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847088"/>
            <a:ext cx="3364992" cy="502920"/>
          </a:xfrm>
          <a:prstGeom prst="rect">
            <a:avLst/>
          </a:prstGeom>
          <a:solidFill>
            <a:srgbClr val="00418E"/>
          </a:solidFill>
          <a:ln w="9525">
            <a:solidFill>
              <a:srgbClr val="00418E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85632" y="1901952"/>
            <a:ext cx="3108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 u="none">
                <a:solidFill>
                  <a:srgbClr val="FFFFFF"/>
                </a:solidFill>
                <a:latin typeface="Arial"/>
              </a:rPr>
              <a:t>Protocol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5632" y="2103120"/>
            <a:ext cx="3108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 u="none">
                <a:solidFill>
                  <a:srgbClr val="FFFFFF"/>
                </a:solidFill>
                <a:latin typeface="Arial"/>
              </a:rPr>
              <a:t>PCIe · CXL · streaming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2414016"/>
            <a:ext cx="3364992" cy="502920"/>
          </a:xfrm>
          <a:prstGeom prst="rect">
            <a:avLst/>
          </a:prstGeom>
          <a:solidFill>
            <a:srgbClr val="D9D9D9"/>
          </a:solidFill>
          <a:ln w="9525">
            <a:solidFill>
              <a:srgbClr val="262626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2468880"/>
            <a:ext cx="3108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 u="none">
                <a:solidFill>
                  <a:srgbClr val="262626"/>
                </a:solidFill>
                <a:latin typeface="Arial"/>
              </a:rPr>
              <a:t>D2D adapter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2670048"/>
            <a:ext cx="3108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 u="none">
                <a:solidFill>
                  <a:srgbClr val="262626"/>
                </a:solidFill>
                <a:latin typeface="Arial"/>
              </a:rPr>
              <a:t>CRC · retry · link mgmt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66760" y="2980944"/>
            <a:ext cx="3364992" cy="502920"/>
          </a:xfrm>
          <a:prstGeom prst="rect">
            <a:avLst/>
          </a:prstGeom>
          <a:solidFill>
            <a:srgbClr val="D9D9D9"/>
          </a:solidFill>
          <a:ln w="9525">
            <a:solidFill>
              <a:srgbClr val="262626"/>
            </a:solidFill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85632" y="3035808"/>
            <a:ext cx="3108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 u="none">
                <a:solidFill>
                  <a:srgbClr val="262626"/>
                </a:solidFill>
                <a:latin typeface="Arial"/>
              </a:rPr>
              <a:t>Physical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85632" y="3236976"/>
            <a:ext cx="3108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 u="none">
                <a:solidFill>
                  <a:srgbClr val="262626"/>
                </a:solidFill>
                <a:latin typeface="Arial"/>
              </a:rPr>
              <a:t>electricals · bump 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630168"/>
            <a:ext cx="336499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50" b="0" i="0" u="none">
                <a:solidFill>
                  <a:srgbClr val="595959"/>
                </a:solidFill>
                <a:latin typeface="Arial"/>
              </a:rPr>
              <a:t>Same protocol layer on both profiles — only the physical layer changes with the package.</a:t>
            </a:r>
          </a:p>
          <a:p>
            <a:pPr algn="l">
              <a:spcAft>
                <a:spcPts val="800"/>
              </a:spcAft>
            </a:pPr>
            <a:r>
              <a:rPr sz="1150" b="0" i="0" u="none">
                <a:solidFill>
                  <a:srgbClr val="595959"/>
                </a:solidFill>
                <a:latin typeface="Arial"/>
              </a:rPr>
              <a:t>Alternatives: BoW (OCP), OpenHBI, AIB, XSR/USR SerDes.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20640"/>
            <a:ext cx="112772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 u="none">
                <a:solidFill>
                  <a:srgbClr val="00418E"/>
                </a:solidFill>
                <a:latin typeface="Arial"/>
              </a:rPr>
              <a:t>The 6–8× jump in bandwidth density between the two profiles is bought entirely by bump pitch, not by circuit cleverness.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17920"/>
            <a:ext cx="112772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 u="none">
                <a:solidFill>
                  <a:srgbClr val="A6A6A6"/>
                </a:solidFill>
                <a:latin typeface="Arial"/>
              </a:rPr>
              <a:t>UCIe 1.1 / 2.0 specification values. Implementations vary with module configuration and process.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 i="0" u="none">
                <a:solidFill>
                  <a:srgbClr val="000000"/>
                </a:solidFill>
                <a:latin typeface="Arial"/>
              </a:rPr>
              <a:t>Evidence: Chiplets in Volume Production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636000" y="6553200"/>
            <a:ext cx="3251200" cy="24447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4CAF89B4-DB56-47DB-B257-53A4B5264947}" type="slidenum">
              <a:rPr lang="en-US" altLang="zh-TW"/>
              <a:pPr/>
              <a:t>‹#›</a:t>
            </a:fld>
            <a:endParaRPr lang="en-US" altLang="zh-TW"/>
          </a:p>
        </p:txBody>
      </p:sp>
      <p:sp>
        <p:nvSpPr>
          <p:cNvPr id="5" name="TextBox 4"/>
          <p:cNvSpPr txBox="1"/>
          <p:nvPr/>
        </p:nvSpPr>
        <p:spPr>
          <a:xfrm>
            <a:off x="457200" y="896112"/>
            <a:ext cx="1127729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 u="none">
                <a:solidFill>
                  <a:srgbClr val="000000"/>
                </a:solidFill>
                <a:latin typeface="Arial"/>
              </a:rPr>
              <a:t>Four vendors, four different motives — and therefore four packages.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81328"/>
          <a:ext cx="11277295" cy="32369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14600"/>
                <a:gridCol w="4937760"/>
                <a:gridCol w="2148840"/>
                <a:gridCol w="1676095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FFFFFF"/>
                          </a:solidFill>
                          <a:latin typeface="Arial"/>
                        </a:rPr>
                        <a:t>Product</a:t>
                      </a:r>
                    </a:p>
                  </a:txBody>
                  <a:tcPr marL="73152" marR="73152" marT="18288" marB="18288" anchor="ctr">
                    <a:solidFill>
                      <a:srgbClr val="0041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u="none">
                          <a:solidFill>
                            <a:srgbClr val="FFFFFF"/>
                          </a:solidFill>
                          <a:latin typeface="Arial"/>
                        </a:rPr>
                        <a:t>How it is disaggregated</a:t>
                      </a:r>
                    </a:p>
                  </a:txBody>
                  <a:tcPr marL="73152" marR="73152" marT="18288" marB="18288" anchor="ctr">
                    <a:solidFill>
                      <a:srgbClr val="0041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u="none">
                          <a:solidFill>
                            <a:srgbClr val="FFFFFF"/>
                          </a:solidFill>
                          <a:latin typeface="Arial"/>
                        </a:rPr>
                        <a:t>Package / link</a:t>
                      </a:r>
                    </a:p>
                  </a:txBody>
                  <a:tcPr marL="73152" marR="73152" marT="18288" marB="18288" anchor="ctr">
                    <a:solidFill>
                      <a:srgbClr val="0041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u="none">
                          <a:solidFill>
                            <a:srgbClr val="FFFFFF"/>
                          </a:solidFill>
                          <a:latin typeface="Arial"/>
                        </a:rPr>
                        <a:t>Motive</a:t>
                      </a:r>
                    </a:p>
                  </a:txBody>
                  <a:tcPr marL="73152" marR="73152" marT="18288" marB="18288" anchor="ctr">
                    <a:solidFill>
                      <a:srgbClr val="00418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262626"/>
                          </a:solidFill>
                          <a:latin typeface="Arial"/>
                        </a:rPr>
                        <a:t>AMD EPYC (Zen 4)</a:t>
                      </a:r>
                    </a:p>
                  </a:txBody>
                  <a:tcPr marL="73152" marR="73152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Up to 12 × CCD 66 mm² (N5) + one IOD 122 mm² (N6)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2D organic, Infinity Fabric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Cost, SKU range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262626"/>
                          </a:solidFill>
                          <a:latin typeface="Arial"/>
                        </a:rPr>
                        <a:t>AMD Instinct MI300X</a:t>
                      </a:r>
                    </a:p>
                  </a:txBody>
                  <a:tcPr marL="73152" marR="73152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8 × XCD (N5) hybrid-bonded onto 4 × IOD (N6), 8 HBM3 stacks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2.5D + 3D bonding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Density, bandwidth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262626"/>
                          </a:solidFill>
                          <a:latin typeface="Arial"/>
                        </a:rPr>
                        <a:t>Intel Meteor Lake</a:t>
                      </a:r>
                    </a:p>
                  </a:txBody>
                  <a:tcPr marL="73152" marR="73152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4 tiles: compute (Intel 4), graphics (N5), SoC and IO (N6)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Foveros, 36 µm pitch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Mixing process sources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262626"/>
                          </a:solidFill>
                          <a:latin typeface="Arial"/>
                        </a:rPr>
                        <a:t>NVIDIA Blackwell B200</a:t>
                      </a:r>
                    </a:p>
                  </a:txBody>
                  <a:tcPr marL="73152" marR="73152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2 reticle-limit dies presented to software as one GPU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CoWoS-L, NV-HBI 10 TB/s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Beat the reticle limit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u="none">
                          <a:solidFill>
                            <a:srgbClr val="262626"/>
                          </a:solidFill>
                          <a:latin typeface="Arial"/>
                        </a:rPr>
                        <a:t>Apple M1 / M2 Ultra</a:t>
                      </a:r>
                    </a:p>
                  </a:txBody>
                  <a:tcPr marL="73152" marR="73152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2 identical Max dies mirrored across a silicon interposer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UltraFusion, 2.5 TB/s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 u="none">
                          <a:solidFill>
                            <a:srgbClr val="262626"/>
                          </a:solidFill>
                          <a:latin typeface="Arial"/>
                        </a:rPr>
                        <a:t>Top SKU from one die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029200"/>
            <a:ext cx="112772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 u="none">
                <a:solidFill>
                  <a:srgbClr val="00418E"/>
                </a:solidFill>
                <a:latin typeface="Arial"/>
              </a:rPr>
              <a:t>Read the last two columns together: the motive picks the package. Cost-driven designs stay on cheap organic substrates; reticle-driven designs have no choice but advanced packaging.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112772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 u="none">
                <a:solidFill>
                  <a:srgbClr val="A6A6A6"/>
                </a:solidFill>
                <a:latin typeface="Arial"/>
              </a:rPr>
              <a:t>Vendor public disclosures (AMD, Intel, NVIDIA, Apple). Grouping and the motive column are the presenter's interpretation.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 i="0" u="none">
                <a:solidFill>
                  <a:srgbClr val="000000"/>
                </a:solidFill>
                <a:latin typeface="Arial"/>
              </a:rPr>
              <a:t>Open Challenges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636000" y="6553200"/>
            <a:ext cx="3251200" cy="24447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4CAF89B4-DB56-47DB-B257-53A4B5264947}" type="slidenum">
              <a:rPr lang="en-US" altLang="zh-TW"/>
              <a:pPr/>
              <a:t>‹#›</a:t>
            </a:fld>
            <a:endParaRPr lang="en-US" altLang="zh-TW"/>
          </a:p>
        </p:txBody>
      </p:sp>
      <p:sp>
        <p:nvSpPr>
          <p:cNvPr id="5" name="TextBox 4"/>
          <p:cNvSpPr txBox="1"/>
          <p:nvPr/>
        </p:nvSpPr>
        <p:spPr>
          <a:xfrm>
            <a:off x="457200" y="896112"/>
            <a:ext cx="1127729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 u="none">
                <a:solidFill>
                  <a:srgbClr val="000000"/>
                </a:solidFill>
                <a:latin typeface="Arial"/>
              </a:rPr>
              <a:t>The standard is necessary but nowhere near sufficient.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99616"/>
            <a:ext cx="402336" cy="402336"/>
          </a:xfrm>
          <a:prstGeom prst="rect">
            <a:avLst/>
          </a:prstGeom>
          <a:solidFill>
            <a:srgbClr val="00418E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81328"/>
            <a:ext cx="283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 u="none">
                <a:solidFill>
                  <a:srgbClr val="000000"/>
                </a:solidFill>
                <a:latin typeface="Arial"/>
              </a:rPr>
              <a:t>Interoperability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463040"/>
            <a:ext cx="8028431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 u="none">
                <a:solidFill>
                  <a:srgbClr val="595959"/>
                </a:solidFill>
                <a:latin typeface="Arial"/>
              </a:rPr>
              <a:t>UCIe fixes the electricals and the protocol. Mixing a third-party die still requires agreement on bump maps, power sequencing, test access and firmware. Today almost every shipping chiplet product is one company splitting its own die.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23744"/>
            <a:ext cx="402336" cy="402336"/>
          </a:xfrm>
          <a:prstGeom prst="rect">
            <a:avLst/>
          </a:prstGeom>
          <a:solidFill>
            <a:srgbClr val="00418E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505456"/>
            <a:ext cx="283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 u="none">
                <a:solidFill>
                  <a:srgbClr val="000000"/>
                </a:solidFill>
                <a:latin typeface="Arial"/>
              </a:rPr>
              <a:t>Thermal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487168"/>
            <a:ext cx="8028431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 u="none">
                <a:solidFill>
                  <a:srgbClr val="595959"/>
                </a:solidFill>
                <a:latin typeface="Arial"/>
              </a:rPr>
              <a:t>3D stacking puts heat sources on top of each other, and hybrid bonding leaves no room for a thermal interface between them. Heat extraction and backside power delivery have to be solved together.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47872"/>
            <a:ext cx="402336" cy="402336"/>
          </a:xfrm>
          <a:prstGeom prst="rect">
            <a:avLst/>
          </a:prstGeom>
          <a:solidFill>
            <a:srgbClr val="00418E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529584"/>
            <a:ext cx="283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 u="none">
                <a:solidFill>
                  <a:srgbClr val="000000"/>
                </a:solidFill>
                <a:latin typeface="Arial"/>
              </a:rPr>
              <a:t>Test and liability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511296"/>
            <a:ext cx="8028431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 u="none">
                <a:solidFill>
                  <a:srgbClr val="595959"/>
                </a:solidFill>
                <a:latin typeface="Arial"/>
              </a:rPr>
              <a:t>When a package fails after assembly, attributing it to a die or to the assembly step is hard. Per-die DFT, in-package test access (IEEE 1838) and repair policy must be standardised.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572000"/>
            <a:ext cx="402336" cy="402336"/>
          </a:xfrm>
          <a:prstGeom prst="rect">
            <a:avLst/>
          </a:prstGeom>
          <a:solidFill>
            <a:srgbClr val="00418E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553712"/>
            <a:ext cx="283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 u="none">
                <a:solidFill>
                  <a:srgbClr val="000000"/>
                </a:solidFill>
                <a:latin typeface="Arial"/>
              </a:rPr>
              <a:t>Design and EDA 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4535424"/>
            <a:ext cx="8028431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 u="none">
                <a:solidFill>
                  <a:srgbClr val="595959"/>
                </a:solidFill>
                <a:latin typeface="Arial"/>
              </a:rPr>
              <a:t>Partitioning, die–package co-design, and joint SI/PI and thermal analysis are steps that the monolithic SoC flow never had. 3DIC-capable flows are still maturing.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596128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 u="none">
                <a:solidFill>
                  <a:srgbClr val="00418E"/>
                </a:solidFill>
                <a:latin typeface="Arial"/>
              </a:rPr>
              <a:t>Interoperability is the slowest of the four — it is a contractual problem as much as a technical one.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17920"/>
            <a:ext cx="112772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 u="none">
                <a:solidFill>
                  <a:srgbClr val="A6A6A6"/>
                </a:solidFill>
                <a:latin typeface="Arial"/>
              </a:rPr>
              <a:t>Presenter's synthesis of publicly discussed industry issues (UCIe consortium materials, IEEE 1838).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 i="0" u="none">
                <a:solidFill>
                  <a:srgbClr val="000000"/>
                </a:solidFill>
                <a:latin typeface="Arial"/>
              </a:rPr>
              <a:t>Summary and Outlook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636000" y="6553200"/>
            <a:ext cx="3251200" cy="24447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4CAF89B4-DB56-47DB-B257-53A4B5264947}" type="slidenum">
              <a:rPr lang="en-US" altLang="zh-TW"/>
              <a:pPr/>
              <a:t>‹#›</a:t>
            </a:fld>
            <a:endParaRPr lang="en-US" altLang="zh-TW"/>
          </a:p>
        </p:txBody>
      </p:sp>
      <p:sp>
        <p:nvSpPr>
          <p:cNvPr id="5" name="TextBox 4"/>
          <p:cNvSpPr txBox="1"/>
          <p:nvPr/>
        </p:nvSpPr>
        <p:spPr>
          <a:xfrm>
            <a:off x="457200" y="896112"/>
            <a:ext cx="1127729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 u="none">
                <a:solidFill>
                  <a:srgbClr val="000000"/>
                </a:solidFill>
                <a:latin typeface="Arial"/>
              </a:rPr>
              <a:t>Chiplets do not replace scaling — they buy back what scaling stopped giving.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36192"/>
            <a:ext cx="109728" cy="219456"/>
          </a:xfrm>
          <a:prstGeom prst="rect">
            <a:avLst/>
          </a:prstGeom>
          <a:solidFill>
            <a:srgbClr val="00418E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481328"/>
            <a:ext cx="6766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 u="none">
                <a:solidFill>
                  <a:srgbClr val="000000"/>
                </a:solidFill>
                <a:latin typeface="Arial"/>
              </a:rPr>
              <a:t>Chiplets are a means, not an 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773936"/>
            <a:ext cx="6766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 u="none">
                <a:solidFill>
                  <a:srgbClr val="595959"/>
                </a:solidFill>
                <a:latin typeface="Arial"/>
              </a:rPr>
              <a:t>They exist to route around three constraints: the reticle field, area-driven yield, and node cost.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96312"/>
            <a:ext cx="109728" cy="219456"/>
          </a:xfrm>
          <a:prstGeom prst="rect">
            <a:avLst/>
          </a:prstGeom>
          <a:solidFill>
            <a:srgbClr val="00418E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441448"/>
            <a:ext cx="6766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 u="none">
                <a:solidFill>
                  <a:srgbClr val="000000"/>
                </a:solidFill>
                <a:latin typeface="Arial"/>
              </a:rPr>
              <a:t>The cut point decides the design.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734056"/>
            <a:ext cx="6766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 u="none">
                <a:solidFill>
                  <a:srgbClr val="595959"/>
                </a:solidFill>
                <a:latin typeface="Arial"/>
              </a:rPr>
              <a:t>A boundary is viable only where BW × E</a:t>
            </a:r>
            <a:r>
              <a:rPr sz="1100" b="0" i="0" u="none" baseline="-25000">
                <a:solidFill>
                  <a:srgbClr val="595959"/>
                </a:solidFill>
                <a:latin typeface="Arial"/>
              </a:rPr>
              <a:t>bit</a:t>
            </a:r>
            <a:r>
              <a:rPr sz="1500" b="0" i="0" u="none">
                <a:solidFill>
                  <a:srgbClr val="595959"/>
                </a:solidFill>
                <a:latin typeface="Arial"/>
              </a:rPr>
              <a:t> fits the power budget. Everything else follows from that.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56432"/>
            <a:ext cx="109728" cy="219456"/>
          </a:xfrm>
          <a:prstGeom prst="rect">
            <a:avLst/>
          </a:prstGeom>
          <a:solidFill>
            <a:srgbClr val="00418E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401568"/>
            <a:ext cx="6766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 u="none">
                <a:solidFill>
                  <a:srgbClr val="000000"/>
                </a:solidFill>
                <a:latin typeface="Arial"/>
              </a:rPr>
              <a:t>Packaging became part of performance.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694176"/>
            <a:ext cx="6766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 u="none">
                <a:solidFill>
                  <a:srgbClr val="595959"/>
                </a:solidFill>
                <a:latin typeface="Arial"/>
              </a:rPr>
              <a:t>Bump pitch sets bandwidth density. Choosing a package is now an architectural decision.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416551"/>
            <a:ext cx="109728" cy="219456"/>
          </a:xfrm>
          <a:prstGeom prst="rect">
            <a:avLst/>
          </a:prstGeom>
          <a:solidFill>
            <a:srgbClr val="00418E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4361688"/>
            <a:ext cx="6766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 u="none">
                <a:solidFill>
                  <a:srgbClr val="000000"/>
                </a:solidFill>
                <a:latin typeface="Arial"/>
              </a:rPr>
              <a:t>A standard is necessary, not sufficient.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654296"/>
            <a:ext cx="6766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 u="none">
                <a:solidFill>
                  <a:srgbClr val="595959"/>
                </a:solidFill>
                <a:latin typeface="Arial"/>
              </a:rPr>
              <a:t>UCIe unified the electricals; heterogeneous-vendor assembly remains a business and validation problem.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1481328"/>
            <a:ext cx="3959352" cy="3611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166420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 u="none">
                <a:solidFill>
                  <a:srgbClr val="000000"/>
                </a:solidFill>
                <a:latin typeface="Arial"/>
              </a:rPr>
              <a:t>Where it is heading</a:t>
            </a:r>
          </a:p>
        </p:txBody>
      </p:sp>
      <p:sp>
        <p:nvSpPr>
          <p:cNvPr id="20" name="Oval 19"/>
          <p:cNvSpPr/>
          <p:nvPr/>
        </p:nvSpPr>
        <p:spPr>
          <a:xfrm>
            <a:off x="8028431" y="2093976"/>
            <a:ext cx="118872" cy="118872"/>
          </a:xfrm>
          <a:prstGeom prst="ellipse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2029968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 u="none">
                <a:solidFill>
                  <a:srgbClr val="00418E"/>
                </a:solidFill>
                <a:latin typeface="Arial"/>
              </a:rPr>
              <a:t>~2020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249424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 u="none">
                <a:solidFill>
                  <a:srgbClr val="595959"/>
                </a:solidFill>
                <a:latin typeface="Arial"/>
              </a:rPr>
              <a:t>2D organic disaggregation settles into server CPUs</a:t>
            </a:r>
          </a:p>
        </p:txBody>
      </p:sp>
      <p:sp>
        <p:nvSpPr>
          <p:cNvPr id="23" name="Oval 22"/>
          <p:cNvSpPr/>
          <p:nvPr/>
        </p:nvSpPr>
        <p:spPr>
          <a:xfrm>
            <a:off x="8028431" y="2843784"/>
            <a:ext cx="118872" cy="118872"/>
          </a:xfrm>
          <a:prstGeom prst="ellipse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779776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 u="none">
                <a:solidFill>
                  <a:srgbClr val="00418E"/>
                </a:solidFill>
                <a:latin typeface="Arial"/>
              </a:rPr>
              <a:t>2022 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999232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 u="none">
                <a:solidFill>
                  <a:srgbClr val="595959"/>
                </a:solidFill>
                <a:latin typeface="Arial"/>
              </a:rPr>
              <a:t>2.5D interposer + HBM becomes the default for AI accelerators</a:t>
            </a:r>
          </a:p>
        </p:txBody>
      </p:sp>
      <p:sp>
        <p:nvSpPr>
          <p:cNvPr id="26" name="Oval 25"/>
          <p:cNvSpPr/>
          <p:nvPr/>
        </p:nvSpPr>
        <p:spPr>
          <a:xfrm>
            <a:off x="8028431" y="3593591"/>
            <a:ext cx="118872" cy="118872"/>
          </a:xfrm>
          <a:prstGeom prst="ellipse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529584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 u="none">
                <a:solidFill>
                  <a:srgbClr val="00418E"/>
                </a:solidFill>
                <a:latin typeface="Arial"/>
              </a:rPr>
              <a:t>2024 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3749039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 u="none">
                <a:solidFill>
                  <a:srgbClr val="595959"/>
                </a:solidFill>
                <a:latin typeface="Arial"/>
              </a:rPr>
              <a:t>Hybrid bonding enters volume; package capacity gates supply</a:t>
            </a:r>
          </a:p>
        </p:txBody>
      </p:sp>
      <p:sp>
        <p:nvSpPr>
          <p:cNvPr id="29" name="Oval 28"/>
          <p:cNvSpPr/>
          <p:nvPr/>
        </p:nvSpPr>
        <p:spPr>
          <a:xfrm>
            <a:off x="8028431" y="4343400"/>
            <a:ext cx="118872" cy="118872"/>
          </a:xfrm>
          <a:prstGeom prst="ellipse">
            <a:avLst/>
          </a:prstGeom>
          <a:solidFill>
            <a:srgbClr val="00418E"/>
          </a:solidFill>
          <a:ln>
            <a:noFill/>
          </a:ln>
          <a:effectLst/>
        </p:spPr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4279392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 u="none">
                <a:solidFill>
                  <a:srgbClr val="00418E"/>
                </a:solidFill>
                <a:latin typeface="Arial"/>
              </a:rPr>
              <a:t>2026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4498848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 u="none">
                <a:solidFill>
                  <a:srgbClr val="595959"/>
                </a:solidFill>
                <a:latin typeface="Arial"/>
              </a:rPr>
              <a:t>UCIe-based multi-vendor assembly and co-packaged optics attempted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217920"/>
            <a:ext cx="112772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 u="none">
                <a:solidFill>
                  <a:srgbClr val="A6A6A6"/>
                </a:solidFill>
                <a:latin typeface="Arial"/>
              </a:rPr>
              <a:t>Synthesis of the material presented above. Timeline reflects publicly announced product milestones.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NEXTUNIQUEID" val="10009"/>
  <p:tag name="MMPROD_UIDATA" val="&lt;database version=&quot;7.0&quot;&gt;&lt;object type=&quot;1&quot; unique_id=&quot;10001&quot;&gt;&lt;object type=&quot;8&quot; unique_id=&quot;10002&quot;&gt;&lt;/object&gt;&lt;object type=&quot;2&quot; unique_id=&quot;10003&quot;&gt;&lt;object type=&quot;3&quot; unique_id=&quot;10005&quot;&gt;&lt;property id=&quot;20148&quot; value=&quot;5&quot;/&gt;&lt;property id=&quot;20300&quot; value=&quot;Slide 3 - &amp;quot;Abstract&amp;quot;&quot;/&gt;&lt;property id=&quot;20307&quot; value=&quot;260&quot;/&gt;&lt;/object&gt;&lt;object type=&quot;3&quot; unique_id=&quot;10006&quot;&gt;&lt;property id=&quot;20148&quot; value=&quot;5&quot;/&gt;&lt;property id=&quot;20300&quot; value=&quot;Slide 4 - &amp;quot;Research Overview&amp;quot;&quot;/&gt;&lt;property id=&quot;20307&quot; value=&quot;257&quot;/&gt;&lt;/object&gt;&lt;object type=&quot;3&quot; unique_id=&quot;10007&quot;&gt;&lt;property id=&quot;20148&quot; value=&quot;5&quot;/&gt;&lt;property id=&quot;20300&quot; value=&quot;Slide 5 - &amp;quot;RESEARCH DETAILS (1)&amp;quot;&quot;/&gt;&lt;property id=&quot;20307&quot; value=&quot;258&quot;/&gt;&lt;/object&gt;&lt;object type=&quot;3&quot; unique_id=&quot;10008&quot;&gt;&lt;property id=&quot;20148&quot; value=&quot;5&quot;/&gt;&lt;property id=&quot;20300&quot; value=&quot;Slide 6 - &amp;quot;RESEARCH DETAILS (2)&amp;quot;&quot;/&gt;&lt;property id=&quot;20307&quot; value=&quot;259&quot;/&gt;&lt;/object&gt;&lt;object type=&quot;3&quot; unique_id=&quot;11116&quot;&gt;&lt;property id=&quot;20148&quot; value=&quot;5&quot;/&gt;&lt;property id=&quot;20300&quot; value=&quot;Slide 2 - &amp;quot;[Title of research]&amp;quot;&quot;/&gt;&lt;property id=&quot;20307&quot; value=&quot;265&quot;/&gt;&lt;/object&gt;&lt;object type=&quot;3&quot; unique_id=&quot;11359&quot;&gt;&lt;property id=&quot;20148&quot; value=&quot;5&quot;/&gt;&lt;property id=&quot;20300&quot; value=&quot;Slide 1 - &amp;quot;Submission Instruction&amp;quot;&quot;/&gt;&lt;property id=&quot;20307&quot; value=&quot;270&quot;/&gt;&lt;/object&gt;&lt;object type=&quot;3&quot; unique_id=&quot;11360&quot;&gt;&lt;property id=&quot;20148&quot; value=&quot;5&quot;/&gt;&lt;property id=&quot;20300&quot; value=&quot;Slide 7 - &amp;quot;RESEARCH DETAILS (3)&amp;quot;&quot;/&gt;&lt;property id=&quot;20307&quot; value=&quot;271&quot;/&gt;&lt;/object&gt;&lt;object type=&quot;3&quot; unique_id=&quot;11361&quot;&gt;&lt;property id=&quot;20148&quot; value=&quot;5&quot;/&gt;&lt;property id=&quot;20300&quot; value=&quot;Slide 8 - &amp;quot;RESEARCH DETAILS (4)&amp;quot;&quot;/&gt;&lt;property id=&quot;20307&quot; value=&quot;272&quot;/&gt;&lt;/object&gt;&lt;/object&gt;&lt;/object&gt;&lt;/database&gt;"/>
  <p:tag name="SECTOMILLISECCONVERTED" val="1"/>
</p:tagLst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-Eng">
      <a:majorFont>
        <a:latin typeface="Arial"/>
        <a:ea typeface="맑은 고딕"/>
        <a:cs typeface=""/>
      </a:majorFont>
      <a:minorFont>
        <a:latin typeface="Arial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2161XXX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66FF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5CE7"/>
      </a:accent6>
      <a:hlink>
        <a:srgbClr val="EF9100"/>
      </a:hlink>
      <a:folHlink>
        <a:srgbClr val="FFFF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604</TotalTime>
  <Words>5005</Words>
  <Application>Microsoft Office PowerPoint</Application>
  <PresentationFormat>와이드스크린</PresentationFormat>
  <Paragraphs>1029</Paragraphs>
  <Slides>75</Slides>
  <Notes>65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3</vt:i4>
      </vt:variant>
      <vt:variant>
        <vt:lpstr>슬라이드 제목</vt:lpstr>
      </vt:variant>
      <vt:variant>
        <vt:i4>75</vt:i4>
      </vt:variant>
    </vt:vector>
  </HeadingPairs>
  <TitlesOfParts>
    <vt:vector size="89" baseType="lpstr">
      <vt:lpstr>HY헤드라인M</vt:lpstr>
      <vt:lpstr>ＭＳ Ｐゴシック</vt:lpstr>
      <vt:lpstr>Noto Sans Symbols</vt:lpstr>
      <vt:lpstr>PMingLiU</vt:lpstr>
      <vt:lpstr>맑은 고딕</vt:lpstr>
      <vt:lpstr>Arial</vt:lpstr>
      <vt:lpstr>Arial Narrow</vt:lpstr>
      <vt:lpstr>Calibri</vt:lpstr>
      <vt:lpstr>Cambria Math</vt:lpstr>
      <vt:lpstr>Times</vt:lpstr>
      <vt:lpstr>Times New Roman</vt:lpstr>
      <vt:lpstr>Default Design</vt:lpstr>
      <vt:lpstr>Office 테마</vt:lpstr>
      <vt:lpstr>22161XXX</vt:lpstr>
      <vt:lpstr>CTLE Design Methodology for High-Speed Wireline Systems</vt:lpstr>
      <vt:lpstr>Outline</vt:lpstr>
      <vt:lpstr>Equalization is Distributed Across the Link</vt:lpstr>
      <vt:lpstr>Role of CTLE in Different RX Architectures</vt:lpstr>
      <vt:lpstr>Why CTLE Is Still Necessary in ADC-DSP-Based RX?</vt:lpstr>
      <vt:lpstr>Simplified CTLE Response</vt:lpstr>
      <vt:lpstr>Partitioned Equalization</vt:lpstr>
      <vt:lpstr>Partitioned Equalization</vt:lpstr>
      <vt:lpstr>Partitioned Equalization</vt:lpstr>
      <vt:lpstr>CTLE in a Long Datapath Equalizer Chain</vt:lpstr>
      <vt:lpstr>Scope of This Lecture</vt:lpstr>
      <vt:lpstr>Example: Simple Analog Equalizer Chain</vt:lpstr>
      <vt:lpstr>Outline</vt:lpstr>
      <vt:lpstr>Frequency-Domain Loss &amp; Pulse Response</vt:lpstr>
      <vt:lpstr>ISI and Worst-Case Eye Opening (5dB @ Nyquist)</vt:lpstr>
      <vt:lpstr>ISI and Worst-Case Eye Opening (12dB @ Nyquist)</vt:lpstr>
      <vt:lpstr>ISI and Worst-Case Eye Opening (16dB @ Nyquist)</vt:lpstr>
      <vt:lpstr>CTLE Basic Concept</vt:lpstr>
      <vt:lpstr>Flat Frequency Response vs. Minimum ISI-to-Main Ratio</vt:lpstr>
      <vt:lpstr>Flat Frequency Response vs. Minimum ISI-to-Main Ratio</vt:lpstr>
      <vt:lpstr>Outline</vt:lpstr>
      <vt:lpstr>Basic CTLE Model &amp; Circuit</vt:lpstr>
      <vt:lpstr>Considering Finite ro</vt:lpstr>
      <vt:lpstr>Practical CTLE With Finite ro and Inductive (L) Peaking</vt:lpstr>
      <vt:lpstr>12dB-Loss Channel Compensation With Optimized CTLE</vt:lpstr>
      <vt:lpstr>16dB-Loss Channel Compensation – 2-Stage CTLE</vt:lpstr>
      <vt:lpstr>CTLE Circuit Design</vt:lpstr>
      <vt:lpstr>System Specification</vt:lpstr>
      <vt:lpstr>Topology</vt:lpstr>
      <vt:lpstr>Topology</vt:lpstr>
      <vt:lpstr>Topology</vt:lpstr>
      <vt:lpstr>Boost Factor Target</vt:lpstr>
      <vt:lpstr>Boost Factor Target</vt:lpstr>
      <vt:lpstr>Boost Factor Target</vt:lpstr>
      <vt:lpstr>Boost Factor Target</vt:lpstr>
      <vt:lpstr>Outline</vt:lpstr>
      <vt:lpstr>CTLE Design Procedure</vt:lpstr>
      <vt:lpstr>CTLE Design Procedure</vt:lpstr>
      <vt:lpstr>Starting Point</vt:lpstr>
      <vt:lpstr>Target High-Frequency Gain</vt:lpstr>
      <vt:lpstr>Cs from Zero Frequency</vt:lpstr>
      <vt:lpstr>Load RL</vt:lpstr>
      <vt:lpstr>Load RL</vt:lpstr>
      <vt:lpstr>Input Device Sizing?</vt:lpstr>
      <vt:lpstr>Current Source</vt:lpstr>
      <vt:lpstr>Current Source</vt:lpstr>
      <vt:lpstr>Headroom – Area/Parasitics – ro Trade-Off (Vov vs gm/ID)</vt:lpstr>
      <vt:lpstr>Headroom – Area/Parasitics – ro Trade-Off (Vd,sat vs gm/ID)</vt:lpstr>
      <vt:lpstr>Current Source Sizing</vt:lpstr>
      <vt:lpstr>Find Current Density, and Final Total Width</vt:lpstr>
      <vt:lpstr>Simulate For Verification</vt:lpstr>
      <vt:lpstr>Input Devices</vt:lpstr>
      <vt:lpstr>Input Devices</vt:lpstr>
      <vt:lpstr>Input Devices</vt:lpstr>
      <vt:lpstr>Calculated Parameters</vt:lpstr>
      <vt:lpstr>Inductive Peaking</vt:lpstr>
      <vt:lpstr>Inductive Peaking</vt:lpstr>
      <vt:lpstr>With 2-tap TX FFE</vt:lpstr>
      <vt:lpstr>With 2-tap TX FFE</vt:lpstr>
      <vt:lpstr>With 2-tap TX FFE</vt:lpstr>
      <vt:lpstr>Outline</vt:lpstr>
      <vt:lpstr>Find Better Cs, Rs Settings</vt:lpstr>
      <vt:lpstr>Pulse Response Observation (Rs, Cs)</vt:lpstr>
      <vt:lpstr>Pulse Response Observation (LL)</vt:lpstr>
      <vt:lpstr>Eye Diagrams (vs. Rs)</vt:lpstr>
      <vt:lpstr>Eye Diagrams (vs. Cs)</vt:lpstr>
      <vt:lpstr>Eye Diagrams (vs. LL)</vt:lpstr>
      <vt:lpstr>Sweep Rs, Cs, LL</vt:lpstr>
      <vt:lpstr>Outline</vt:lpstr>
      <vt:lpstr>Basic Closed-Form Model</vt:lpstr>
      <vt:lpstr>Basic Closed-Form Model + ro,M1 </vt:lpstr>
      <vt:lpstr>Basic Closed-Form Model + ro,M1 + ro,M3 </vt:lpstr>
      <vt:lpstr>Basic Closed-Form Model + ro,M1 + ro,M3 + gmbs,M1 </vt:lpstr>
      <vt:lpstr>Basic Closed-Form Model + ro,M1 + ro,M3 + gmbs,M1 + Cp</vt:lpstr>
      <vt:lpstr>Wrap-Up</vt:lpstr>
    </vt:vector>
  </TitlesOfParts>
  <Company>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Name</dc:title>
  <dc:creator>i</dc:creator>
  <cp:lastModifiedBy>user</cp:lastModifiedBy>
  <cp:revision>41</cp:revision>
  <dcterms:created xsi:type="dcterms:W3CDTF">2011-08-16T23:24:29Z</dcterms:created>
  <dcterms:modified xsi:type="dcterms:W3CDTF">2026-08-18T15:39:31Z</dcterms:modified>
</cp:coreProperties>
</file>